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61" r:id="rId5"/>
  </p:sldIdLst>
  <p:sldSz cx="38576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DF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5106"/>
  </p:normalViewPr>
  <p:slideViewPr>
    <p:cSldViewPr snapToGrid="0" snapToObjects="1">
      <p:cViewPr varScale="1">
        <p:scale>
          <a:sx n="86" d="100"/>
          <a:sy n="86" d="100"/>
        </p:scale>
        <p:origin x="374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03CC9E-18D0-6049-A960-5576013E3E48}" type="datetimeFigureOut">
              <a:rPr kumimoji="1" lang="ja-JP" altLang="en-US" smtClean="0"/>
              <a:t>2026/4/1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6F5F5A-D7C8-114A-A3E4-3E59A3916F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4561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A car moves at constant 60 km/h around a circle. Zero acceleration?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F5F5A-D7C8-114A-A3E4-3E59A3916FE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75402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1" dirty="0">
                <a:solidFill>
                  <a:srgbClr val="F0F0F0"/>
                </a:solidFill>
                <a:latin typeface="Helvetica Neue"/>
              </a:rPr>
              <a:t>Direction keeps changing. Then, </a:t>
            </a:r>
            <a:r>
              <a:rPr lang="en-US" altLang="ja-JP" sz="1200" b="1" dirty="0">
                <a:solidFill>
                  <a:srgbClr val="DFDFB6"/>
                </a:solidFill>
                <a:latin typeface="Helvetica Neue"/>
              </a:rPr>
              <a:t>velocity vector is changing.</a:t>
            </a:r>
            <a:r>
              <a:rPr lang="en-US" altLang="ja-JP" dirty="0"/>
              <a:t> It means acceleration does not equal 0!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  <a:p>
            <a:pPr algn="l"/>
            <a:endParaRPr lang="en-US" altLang="ja-JP" sz="1200" b="1" dirty="0">
              <a:solidFill>
                <a:srgbClr val="DFDFB6"/>
              </a:solidFill>
              <a:latin typeface="Helvetica Neue"/>
            </a:endParaRPr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F5F5A-D7C8-114A-A3E4-3E59A3916FE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9716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ja-JP" dirty="0"/>
              <a:t>aₜ changes speed; aₙ changes direction. Constant speed means aₜ = 0, not aₙ = 0.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F5F5A-D7C8-114A-A3E4-3E59A3916FEA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331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/>
              <a:t>Constant speed on a curve still has centripetal acceleration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6F5F5A-D7C8-114A-A3E4-3E59A3916FEA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1540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57625" cy="6858000"/>
          </a:xfrm>
          <a:prstGeom prst="rect">
            <a:avLst/>
          </a:prstGeom>
          <a:solidFill>
            <a:srgbClr val="467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308985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dirty="0">
                <a:solidFill>
                  <a:srgbClr val="F0F0F0"/>
                </a:solidFill>
                <a:latin typeface="Helvetica Neue"/>
              </a:rPr>
              <a:t>Constant speed </a:t>
            </a:r>
            <a:endParaRPr lang="en-US" sz="2600" b="1" dirty="0">
              <a:solidFill>
                <a:srgbClr val="F0F0F0"/>
              </a:solidFill>
              <a:latin typeface="Helvetica Neue"/>
            </a:endParaRPr>
          </a:p>
          <a:p>
            <a:pPr algn="ctr"/>
            <a:endParaRPr lang="en-US" sz="2600" b="1" dirty="0">
              <a:solidFill>
                <a:srgbClr val="F0F0F0"/>
              </a:solidFill>
              <a:latin typeface="Helvetica Neue"/>
            </a:endParaRPr>
          </a:p>
          <a:p>
            <a:pPr algn="ctr"/>
            <a:r>
              <a:rPr sz="2600" b="1" dirty="0">
                <a:solidFill>
                  <a:srgbClr val="F0F0F0"/>
                </a:solidFill>
                <a:latin typeface="Helvetica Neue"/>
              </a:rPr>
              <a:t> </a:t>
            </a:r>
            <a:r>
              <a:rPr lang="en-US" sz="2600" b="1" dirty="0">
                <a:solidFill>
                  <a:srgbClr val="F0F0F0"/>
                </a:solidFill>
                <a:latin typeface="Helvetica Neue"/>
              </a:rPr>
              <a:t>A</a:t>
            </a:r>
            <a:r>
              <a:rPr sz="2600" b="1" dirty="0">
                <a:solidFill>
                  <a:srgbClr val="F0F0F0"/>
                </a:solidFill>
                <a:latin typeface="Helvetica Neue"/>
              </a:rPr>
              <a:t>cceleration = 0?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73952"/>
            <a:ext cx="33089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C8C8"/>
                </a:solidFill>
                <a:latin typeface="Helvetica Neue"/>
              </a:rPr>
              <a:t>Supplementary Video 2-1</a:t>
            </a:r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C876DAAE-BFDF-91C9-648C-EE42D10046BF}"/>
              </a:ext>
            </a:extLst>
          </p:cNvPr>
          <p:cNvSpPr/>
          <p:nvPr/>
        </p:nvSpPr>
        <p:spPr>
          <a:xfrm>
            <a:off x="1200150" y="3709697"/>
            <a:ext cx="443345" cy="4165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フリーフォーム 13">
            <a:extLst>
              <a:ext uri="{FF2B5EF4-FFF2-40B4-BE49-F238E27FC236}">
                <a16:creationId xmlns:a16="http://schemas.microsoft.com/office/drawing/2014/main" id="{D1414BB1-3DA2-9DA2-092B-208B93F8B364}"/>
              </a:ext>
            </a:extLst>
          </p:cNvPr>
          <p:cNvSpPr/>
          <p:nvPr/>
        </p:nvSpPr>
        <p:spPr>
          <a:xfrm>
            <a:off x="665992" y="3012359"/>
            <a:ext cx="787521" cy="2227741"/>
          </a:xfrm>
          <a:custGeom>
            <a:avLst/>
            <a:gdLst>
              <a:gd name="csX0" fmla="*/ 0 w 1055215"/>
              <a:gd name="csY0" fmla="*/ 0 h 3629891"/>
              <a:gd name="csX1" fmla="*/ 955963 w 1055215"/>
              <a:gd name="csY1" fmla="*/ 1427018 h 3629891"/>
              <a:gd name="csX2" fmla="*/ 1025236 w 1055215"/>
              <a:gd name="csY2" fmla="*/ 3629891 h 3629891"/>
              <a:gd name="csX3" fmla="*/ 1025236 w 1055215"/>
              <a:gd name="csY3" fmla="*/ 3629891 h 3629891"/>
              <a:gd name="csX0" fmla="*/ 0 w 1025237"/>
              <a:gd name="csY0" fmla="*/ 0 h 3629891"/>
              <a:gd name="csX1" fmla="*/ 1025236 w 1025237"/>
              <a:gd name="csY1" fmla="*/ 3629891 h 3629891"/>
              <a:gd name="csX2" fmla="*/ 1025236 w 1025237"/>
              <a:gd name="csY2" fmla="*/ 3629891 h 3629891"/>
              <a:gd name="csX0" fmla="*/ 0 w 1025235"/>
              <a:gd name="csY0" fmla="*/ 0 h 3629891"/>
              <a:gd name="csX1" fmla="*/ 1025236 w 1025235"/>
              <a:gd name="csY1" fmla="*/ 3629891 h 3629891"/>
              <a:gd name="csX2" fmla="*/ 1025236 w 1025235"/>
              <a:gd name="csY2" fmla="*/ 3629891 h 3629891"/>
              <a:gd name="csX0" fmla="*/ 0 w 1251452"/>
              <a:gd name="csY0" fmla="*/ 0 h 3629891"/>
              <a:gd name="csX1" fmla="*/ 1025236 w 1251452"/>
              <a:gd name="csY1" fmla="*/ 3629891 h 3629891"/>
              <a:gd name="csX2" fmla="*/ 1025236 w 1251452"/>
              <a:gd name="csY2" fmla="*/ 3629891 h 36298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51452" h="3629891">
                <a:moveTo>
                  <a:pt x="0" y="0"/>
                </a:moveTo>
                <a:cubicBezTo>
                  <a:pt x="1522369" y="674521"/>
                  <a:pt x="1364620" y="2396649"/>
                  <a:pt x="1025236" y="3629891"/>
                </a:cubicBezTo>
                <a:lnTo>
                  <a:pt x="1025236" y="3629891"/>
                </a:lnTo>
              </a:path>
            </a:pathLst>
          </a:custGeom>
          <a:noFill/>
          <a:ln>
            <a:solidFill>
              <a:srgbClr val="DFDF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右矢印 14">
            <a:extLst>
              <a:ext uri="{FF2B5EF4-FFF2-40B4-BE49-F238E27FC236}">
                <a16:creationId xmlns:a16="http://schemas.microsoft.com/office/drawing/2014/main" id="{0275FC9A-CF13-2FDC-8955-B190590E41B3}"/>
              </a:ext>
            </a:extLst>
          </p:cNvPr>
          <p:cNvSpPr/>
          <p:nvPr/>
        </p:nvSpPr>
        <p:spPr>
          <a:xfrm rot="14342416">
            <a:off x="1241495" y="3021719"/>
            <a:ext cx="530400" cy="397438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EA8DA4B-F709-BE43-4AF1-105816D5203A}"/>
              </a:ext>
            </a:extLst>
          </p:cNvPr>
          <p:cNvSpPr/>
          <p:nvPr/>
        </p:nvSpPr>
        <p:spPr>
          <a:xfrm rot="14279854">
            <a:off x="1433357" y="3722381"/>
            <a:ext cx="95821" cy="12551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6725B8A2-82AA-2211-6E90-E0B86EA18C96}"/>
              </a:ext>
            </a:extLst>
          </p:cNvPr>
          <p:cNvSpPr/>
          <p:nvPr/>
        </p:nvSpPr>
        <p:spPr>
          <a:xfrm>
            <a:off x="1643495" y="3859027"/>
            <a:ext cx="3286280" cy="8370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24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Car</a:t>
            </a:r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CD323C37-FBFA-0965-7E43-F77D771B4678}"/>
              </a:ext>
            </a:extLst>
          </p:cNvPr>
          <p:cNvSpPr/>
          <p:nvPr/>
        </p:nvSpPr>
        <p:spPr>
          <a:xfrm>
            <a:off x="1643495" y="2674270"/>
            <a:ext cx="3286280" cy="8370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2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Constant speed</a:t>
            </a:r>
          </a:p>
        </p:txBody>
      </p:sp>
      <p:pic>
        <p:nvPicPr>
          <p:cNvPr id="19" name="Class Voice (27)">
            <a:hlinkClick r:id="" action="ppaction://media"/>
            <a:extLst>
              <a:ext uri="{FF2B5EF4-FFF2-40B4-BE49-F238E27FC236}">
                <a16:creationId xmlns:a16="http://schemas.microsoft.com/office/drawing/2014/main" id="{1C3C9EEE-FBD6-0301-74B8-B5D6994310C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198328" y="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84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57625" cy="6858000"/>
          </a:xfrm>
          <a:prstGeom prst="rect">
            <a:avLst/>
          </a:prstGeom>
          <a:solidFill>
            <a:srgbClr val="467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円/楕円 15">
            <a:extLst>
              <a:ext uri="{FF2B5EF4-FFF2-40B4-BE49-F238E27FC236}">
                <a16:creationId xmlns:a16="http://schemas.microsoft.com/office/drawing/2014/main" id="{118118AD-4DEA-EF0F-69DE-374104306BEC}"/>
              </a:ext>
            </a:extLst>
          </p:cNvPr>
          <p:cNvSpPr/>
          <p:nvPr/>
        </p:nvSpPr>
        <p:spPr>
          <a:xfrm>
            <a:off x="1579804" y="4834136"/>
            <a:ext cx="443345" cy="4165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TextBox 2"/>
          <p:cNvSpPr txBox="1"/>
          <p:nvPr/>
        </p:nvSpPr>
        <p:spPr>
          <a:xfrm>
            <a:off x="274319" y="375458"/>
            <a:ext cx="330898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F0F0F0"/>
                </a:solidFill>
                <a:latin typeface="Helvetica Neue"/>
              </a:rPr>
              <a:t>Direction keeps changing</a:t>
            </a:r>
            <a:endParaRPr lang="en-US" sz="2800" b="1" dirty="0">
              <a:solidFill>
                <a:srgbClr val="F0F0F0"/>
              </a:solidFill>
              <a:latin typeface="Helvetica Neue"/>
            </a:endParaRPr>
          </a:p>
          <a:p>
            <a:pPr algn="ctr"/>
            <a:r>
              <a:rPr lang="en-US" altLang="ja-JP" sz="2800" b="1" dirty="0">
                <a:solidFill>
                  <a:schemeClr val="bg1"/>
                </a:solidFill>
                <a:latin typeface="Helvetica Neue"/>
              </a:rPr>
              <a:t>↓</a:t>
            </a:r>
            <a:endParaRPr lang="en-US" sz="2800" b="1" dirty="0">
              <a:solidFill>
                <a:srgbClr val="F0F0F0"/>
              </a:solidFill>
              <a:latin typeface="Helvetica Neue"/>
            </a:endParaRP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Helvetica Neue"/>
              </a:rPr>
              <a:t>V</a:t>
            </a:r>
            <a:r>
              <a:rPr sz="2800" b="1" dirty="0">
                <a:solidFill>
                  <a:schemeClr val="bg1"/>
                </a:solidFill>
                <a:latin typeface="Helvetica Neue"/>
              </a:rPr>
              <a:t>elocity vector is changing</a:t>
            </a:r>
            <a:endParaRPr lang="en-US" sz="2800" b="1" dirty="0">
              <a:solidFill>
                <a:schemeClr val="bg1"/>
              </a:solidFill>
              <a:latin typeface="Helvetica Neue"/>
            </a:endParaRPr>
          </a:p>
          <a:p>
            <a:pPr algn="ctr"/>
            <a:r>
              <a:rPr lang="en-US" altLang="ja-JP" sz="2800" b="1" dirty="0">
                <a:solidFill>
                  <a:schemeClr val="bg1"/>
                </a:solidFill>
                <a:latin typeface="Helvetica Neue"/>
              </a:rPr>
              <a:t>↓</a:t>
            </a:r>
            <a:endParaRPr lang="en-US" sz="2800" b="1" dirty="0">
              <a:solidFill>
                <a:schemeClr val="bg1"/>
              </a:solidFill>
              <a:latin typeface="Helvetica Neue"/>
            </a:endParaRPr>
          </a:p>
          <a:p>
            <a:pPr algn="ctr"/>
            <a:r>
              <a:rPr lang="en-US" altLang="ja-JP" sz="2800" b="1" dirty="0">
                <a:solidFill>
                  <a:srgbClr val="DFDFB6"/>
                </a:solidFill>
                <a:latin typeface="Helvetica Neue"/>
              </a:rPr>
              <a:t>acceleration ≠0</a:t>
            </a:r>
          </a:p>
          <a:p>
            <a:pPr algn="ctr"/>
            <a:endParaRPr lang="en-US" sz="2800" b="1" dirty="0">
              <a:solidFill>
                <a:schemeClr val="bg1"/>
              </a:solidFill>
              <a:latin typeface="Helvetica Neue"/>
            </a:endParaRPr>
          </a:p>
          <a:p>
            <a:pPr algn="ctr"/>
            <a:endParaRPr sz="2800" b="1" dirty="0">
              <a:solidFill>
                <a:srgbClr val="DFDFB6"/>
              </a:solidFill>
              <a:latin typeface="Helvetica Neue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320" y="6473952"/>
            <a:ext cx="33089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C8C8"/>
                </a:solidFill>
                <a:latin typeface="Helvetica Neue"/>
              </a:rPr>
              <a:t>Supplementary Video 2-1</a:t>
            </a:r>
          </a:p>
        </p:txBody>
      </p:sp>
      <p:sp>
        <p:nvSpPr>
          <p:cNvPr id="6" name="円/楕円 5">
            <a:extLst>
              <a:ext uri="{FF2B5EF4-FFF2-40B4-BE49-F238E27FC236}">
                <a16:creationId xmlns:a16="http://schemas.microsoft.com/office/drawing/2014/main" id="{8C218844-4998-6206-0E07-CD6AD3AD66C4}"/>
              </a:ext>
            </a:extLst>
          </p:cNvPr>
          <p:cNvSpPr/>
          <p:nvPr/>
        </p:nvSpPr>
        <p:spPr>
          <a:xfrm>
            <a:off x="1873596" y="5409274"/>
            <a:ext cx="443345" cy="41653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フリーフォーム 6">
            <a:extLst>
              <a:ext uri="{FF2B5EF4-FFF2-40B4-BE49-F238E27FC236}">
                <a16:creationId xmlns:a16="http://schemas.microsoft.com/office/drawing/2014/main" id="{15B84500-8CD8-3B04-325C-15BCAE24109D}"/>
              </a:ext>
            </a:extLst>
          </p:cNvPr>
          <p:cNvSpPr/>
          <p:nvPr/>
        </p:nvSpPr>
        <p:spPr>
          <a:xfrm rot="20218346">
            <a:off x="1666310" y="4546939"/>
            <a:ext cx="390332" cy="1532373"/>
          </a:xfrm>
          <a:custGeom>
            <a:avLst/>
            <a:gdLst>
              <a:gd name="csX0" fmla="*/ 0 w 1055215"/>
              <a:gd name="csY0" fmla="*/ 0 h 3629891"/>
              <a:gd name="csX1" fmla="*/ 955963 w 1055215"/>
              <a:gd name="csY1" fmla="*/ 1427018 h 3629891"/>
              <a:gd name="csX2" fmla="*/ 1025236 w 1055215"/>
              <a:gd name="csY2" fmla="*/ 3629891 h 3629891"/>
              <a:gd name="csX3" fmla="*/ 1025236 w 1055215"/>
              <a:gd name="csY3" fmla="*/ 3629891 h 3629891"/>
              <a:gd name="csX0" fmla="*/ 0 w 1025237"/>
              <a:gd name="csY0" fmla="*/ 0 h 3629891"/>
              <a:gd name="csX1" fmla="*/ 1025236 w 1025237"/>
              <a:gd name="csY1" fmla="*/ 3629891 h 3629891"/>
              <a:gd name="csX2" fmla="*/ 1025236 w 1025237"/>
              <a:gd name="csY2" fmla="*/ 3629891 h 3629891"/>
              <a:gd name="csX0" fmla="*/ 0 w 1025235"/>
              <a:gd name="csY0" fmla="*/ 0 h 3629891"/>
              <a:gd name="csX1" fmla="*/ 1025236 w 1025235"/>
              <a:gd name="csY1" fmla="*/ 3629891 h 3629891"/>
              <a:gd name="csX2" fmla="*/ 1025236 w 1025235"/>
              <a:gd name="csY2" fmla="*/ 3629891 h 3629891"/>
              <a:gd name="csX0" fmla="*/ 0 w 1251452"/>
              <a:gd name="csY0" fmla="*/ 0 h 3629891"/>
              <a:gd name="csX1" fmla="*/ 1025236 w 1251452"/>
              <a:gd name="csY1" fmla="*/ 3629891 h 3629891"/>
              <a:gd name="csX2" fmla="*/ 1025236 w 1251452"/>
              <a:gd name="csY2" fmla="*/ 3629891 h 36298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51452" h="3629891">
                <a:moveTo>
                  <a:pt x="0" y="0"/>
                </a:moveTo>
                <a:cubicBezTo>
                  <a:pt x="1522369" y="674521"/>
                  <a:pt x="1364620" y="2396649"/>
                  <a:pt x="1025236" y="3629891"/>
                </a:cubicBezTo>
                <a:lnTo>
                  <a:pt x="1025236" y="3629891"/>
                </a:lnTo>
              </a:path>
            </a:pathLst>
          </a:custGeom>
          <a:noFill/>
          <a:ln>
            <a:solidFill>
              <a:srgbClr val="DFDF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31821A18-E724-C5DE-26CC-89EEDDFEA24B}"/>
              </a:ext>
            </a:extLst>
          </p:cNvPr>
          <p:cNvSpPr/>
          <p:nvPr/>
        </p:nvSpPr>
        <p:spPr>
          <a:xfrm rot="14279854">
            <a:off x="2106803" y="5421958"/>
            <a:ext cx="95821" cy="12551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右矢印 11">
            <a:extLst>
              <a:ext uri="{FF2B5EF4-FFF2-40B4-BE49-F238E27FC236}">
                <a16:creationId xmlns:a16="http://schemas.microsoft.com/office/drawing/2014/main" id="{89E2265F-3475-8A7D-7C42-CDEF9A1B5903}"/>
              </a:ext>
            </a:extLst>
          </p:cNvPr>
          <p:cNvSpPr/>
          <p:nvPr/>
        </p:nvSpPr>
        <p:spPr>
          <a:xfrm rot="16200000">
            <a:off x="1607346" y="5030749"/>
            <a:ext cx="974968" cy="272076"/>
          </a:xfrm>
          <a:prstGeom prst="rightArrow">
            <a:avLst/>
          </a:prstGeom>
          <a:solidFill>
            <a:srgbClr val="DFDF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右矢印 12">
            <a:extLst>
              <a:ext uri="{FF2B5EF4-FFF2-40B4-BE49-F238E27FC236}">
                <a16:creationId xmlns:a16="http://schemas.microsoft.com/office/drawing/2014/main" id="{18664115-50B4-A0E1-77F1-BC9BB57C59CF}"/>
              </a:ext>
            </a:extLst>
          </p:cNvPr>
          <p:cNvSpPr/>
          <p:nvPr/>
        </p:nvSpPr>
        <p:spPr>
          <a:xfrm rot="15049342">
            <a:off x="1182682" y="4489281"/>
            <a:ext cx="974968" cy="272076"/>
          </a:xfrm>
          <a:prstGeom prst="rightArrow">
            <a:avLst/>
          </a:prstGeom>
          <a:solidFill>
            <a:srgbClr val="DFDFB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B7CD4D29-5D6D-FCB7-F809-924444628D1C}"/>
              </a:ext>
            </a:extLst>
          </p:cNvPr>
          <p:cNvSpPr/>
          <p:nvPr/>
        </p:nvSpPr>
        <p:spPr>
          <a:xfrm>
            <a:off x="2191315" y="4721234"/>
            <a:ext cx="488541" cy="427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2000" i="1" dirty="0" err="1">
                <a:solidFill>
                  <a:srgbClr val="DFDFB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</a:t>
            </a:r>
            <a:r>
              <a:rPr lang="en-US" sz="2000" i="1" baseline="-25000" dirty="0" err="1">
                <a:solidFill>
                  <a:srgbClr val="DFDFB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  <a:endParaRPr lang="en-US" sz="2000" i="1" baseline="-25000" dirty="0">
              <a:solidFill>
                <a:srgbClr val="DFDFB6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D8712DD2-E37C-E2BE-5599-1CA42299EA2F}"/>
              </a:ext>
            </a:extLst>
          </p:cNvPr>
          <p:cNvSpPr/>
          <p:nvPr/>
        </p:nvSpPr>
        <p:spPr>
          <a:xfrm>
            <a:off x="1648836" y="3919036"/>
            <a:ext cx="679192" cy="4270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sz="2000" i="1" dirty="0">
                <a:solidFill>
                  <a:srgbClr val="DFDFB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V</a:t>
            </a:r>
            <a:r>
              <a:rPr lang="en-US" sz="2000" i="1" baseline="-25000" dirty="0">
                <a:solidFill>
                  <a:srgbClr val="DFDFB6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t+1</a:t>
            </a:r>
          </a:p>
        </p:txBody>
      </p:sp>
      <p:pic>
        <p:nvPicPr>
          <p:cNvPr id="17" name="Class Voice (28)">
            <a:hlinkClick r:id="" action="ppaction://media"/>
            <a:extLst>
              <a:ext uri="{FF2B5EF4-FFF2-40B4-BE49-F238E27FC236}">
                <a16:creationId xmlns:a16="http://schemas.microsoft.com/office/drawing/2014/main" id="{864EDC38-58C2-40A7-4E05-CF05F27773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356359" y="60665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32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57625" cy="6858000"/>
          </a:xfrm>
          <a:prstGeom prst="rect">
            <a:avLst/>
          </a:prstGeom>
          <a:solidFill>
            <a:srgbClr val="467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/>
          </a:p>
        </p:txBody>
      </p:sp>
      <p:sp>
        <p:nvSpPr>
          <p:cNvPr id="3" name="TextBox 2"/>
          <p:cNvSpPr txBox="1"/>
          <p:nvPr/>
        </p:nvSpPr>
        <p:spPr>
          <a:xfrm>
            <a:off x="-68580" y="1085850"/>
            <a:ext cx="398907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chemeClr val="bg1"/>
                </a:solidFill>
                <a:latin typeface="Helvetica Neue"/>
              </a:rPr>
              <a:t>Tangential vs. Normal Acceleration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" y="2743200"/>
            <a:ext cx="348043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latin typeface="Helvetica Neue"/>
              </a:rPr>
              <a:t>Tangential </a:t>
            </a:r>
            <a:r>
              <a:rPr sz="2600" b="1" dirty="0">
                <a:solidFill>
                  <a:schemeClr val="bg1"/>
                </a:solidFill>
                <a:latin typeface="Helvetica Neue"/>
              </a:rPr>
              <a:t>aₜ </a:t>
            </a:r>
            <a:r>
              <a:rPr lang="en-US" altLang="ja-JP" sz="2800" b="1" dirty="0">
                <a:solidFill>
                  <a:schemeClr val="bg1"/>
                </a:solidFill>
                <a:latin typeface="Helvetica Neue"/>
              </a:rPr>
              <a:t>= dv/dt</a:t>
            </a:r>
          </a:p>
          <a:p>
            <a:pPr algn="ctr"/>
            <a:r>
              <a:rPr sz="2600" b="1" dirty="0">
                <a:solidFill>
                  <a:srgbClr val="DFDFB6"/>
                </a:solidFill>
                <a:latin typeface="Helvetica Neue"/>
              </a:rPr>
              <a:t>changes speed</a:t>
            </a:r>
            <a:endParaRPr lang="en-US" sz="2600" b="1" dirty="0">
              <a:solidFill>
                <a:srgbClr val="DFDFB6"/>
              </a:solidFill>
              <a:latin typeface="Helvetica Neue"/>
            </a:endParaRPr>
          </a:p>
          <a:p>
            <a:pPr algn="ctr"/>
            <a:endParaRPr lang="en-US" sz="2600" b="1" dirty="0">
              <a:solidFill>
                <a:srgbClr val="DFDFB6"/>
              </a:solidFill>
              <a:latin typeface="Helvetica Neue"/>
            </a:endParaRPr>
          </a:p>
          <a:p>
            <a:pPr algn="ctr"/>
            <a:r>
              <a:rPr lang="en-US" sz="2600" b="1" dirty="0">
                <a:solidFill>
                  <a:schemeClr val="bg1"/>
                </a:solidFill>
                <a:latin typeface="Helvetica Neue"/>
              </a:rPr>
              <a:t>Normal </a:t>
            </a:r>
            <a:r>
              <a:rPr sz="2600" b="1" dirty="0">
                <a:solidFill>
                  <a:schemeClr val="bg1"/>
                </a:solidFill>
                <a:latin typeface="Helvetica Neue"/>
              </a:rPr>
              <a:t>aₙ</a:t>
            </a:r>
            <a:r>
              <a:rPr sz="2600" b="1" dirty="0">
                <a:solidFill>
                  <a:srgbClr val="DFDFB6"/>
                </a:solidFill>
                <a:latin typeface="Helvetica Neue"/>
              </a:rPr>
              <a:t> </a:t>
            </a:r>
            <a:r>
              <a:rPr lang="en-US" altLang="ja-JP" sz="2800" b="1" dirty="0">
                <a:solidFill>
                  <a:srgbClr val="F0F0F0"/>
                </a:solidFill>
                <a:latin typeface="Helvetica Neue"/>
              </a:rPr>
              <a:t>= v²/</a:t>
            </a:r>
            <a:r>
              <a:rPr lang="el-GR" altLang="ja-JP" sz="2800" b="1" dirty="0">
                <a:solidFill>
                  <a:srgbClr val="F0F0F0"/>
                </a:solidFill>
                <a:latin typeface="Helvetica Neue"/>
              </a:rPr>
              <a:t>ρ  </a:t>
            </a:r>
            <a:endParaRPr lang="en-US" sz="2600" b="1" dirty="0">
              <a:solidFill>
                <a:srgbClr val="DFDFB6"/>
              </a:solidFill>
              <a:latin typeface="Helvetica Neue"/>
            </a:endParaRPr>
          </a:p>
          <a:p>
            <a:pPr algn="ctr"/>
            <a:r>
              <a:rPr sz="2600" b="1" dirty="0">
                <a:solidFill>
                  <a:srgbClr val="DFDFB6"/>
                </a:solidFill>
                <a:latin typeface="Helvetica Neue"/>
              </a:rPr>
              <a:t>changes direction</a:t>
            </a:r>
            <a:endParaRPr lang="en-US" sz="2600" b="1" dirty="0">
              <a:solidFill>
                <a:srgbClr val="DFDFB6"/>
              </a:solidFill>
              <a:latin typeface="Helvetica Neue"/>
            </a:endParaRPr>
          </a:p>
          <a:p>
            <a:pPr algn="ctr"/>
            <a:endParaRPr lang="en-US" sz="2600" b="1" dirty="0">
              <a:solidFill>
                <a:srgbClr val="DFDFB6"/>
              </a:solidFill>
              <a:latin typeface="Helvetica Neue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4320" y="6473952"/>
            <a:ext cx="33089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C8C8"/>
                </a:solidFill>
                <a:latin typeface="Helvetica Neue"/>
              </a:rPr>
              <a:t>Supplementary Video 2-1</a:t>
            </a:r>
          </a:p>
        </p:txBody>
      </p:sp>
      <p:pic>
        <p:nvPicPr>
          <p:cNvPr id="7" name="Class Voice (29)">
            <a:hlinkClick r:id="" action="ppaction://media"/>
            <a:extLst>
              <a:ext uri="{FF2B5EF4-FFF2-40B4-BE49-F238E27FC236}">
                <a16:creationId xmlns:a16="http://schemas.microsoft.com/office/drawing/2014/main" id="{51D3C65E-DAEF-04D9-E9E5-6C942A1C35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573083" y="27305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692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57625" cy="6858000"/>
          </a:xfrm>
          <a:prstGeom prst="rect">
            <a:avLst/>
          </a:prstGeom>
          <a:solidFill>
            <a:srgbClr val="4678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2286000"/>
            <a:ext cx="330898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dirty="0">
                <a:solidFill>
                  <a:srgbClr val="F0F0F0"/>
                </a:solidFill>
                <a:latin typeface="Helvetica Neue"/>
              </a:rPr>
              <a:t>Constant speed still has centripetal acceleration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73952"/>
            <a:ext cx="330898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C8C8"/>
                </a:solidFill>
                <a:latin typeface="Helvetica Neue"/>
              </a:rPr>
              <a:t>Supplementary Video 2-1</a:t>
            </a:r>
          </a:p>
        </p:txBody>
      </p:sp>
      <p:pic>
        <p:nvPicPr>
          <p:cNvPr id="5" name="Class Voice (30)">
            <a:hlinkClick r:id="" action="ppaction://media"/>
            <a:extLst>
              <a:ext uri="{FF2B5EF4-FFF2-40B4-BE49-F238E27FC236}">
                <a16:creationId xmlns:a16="http://schemas.microsoft.com/office/drawing/2014/main" id="{B25BF8B4-6973-E6C0-72A0-C381AFA8509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73475" y="0"/>
            <a:ext cx="812800" cy="812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4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135</Words>
  <Application>Microsoft Macintosh PowerPoint</Application>
  <PresentationFormat>ユーザー設定</PresentationFormat>
  <Paragraphs>32</Paragraphs>
  <Slides>4</Slides>
  <Notes>4</Notes>
  <HiddenSlides>0</HiddenSlides>
  <MMClips>4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游ゴシック</vt:lpstr>
      <vt:lpstr>Arial</vt:lpstr>
      <vt:lpstr>Calibri</vt:lpstr>
      <vt:lpstr>Helvetica Neue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鈴木　杏奈</cp:lastModifiedBy>
  <cp:revision>3</cp:revision>
  <dcterms:created xsi:type="dcterms:W3CDTF">2013-01-27T09:14:16Z</dcterms:created>
  <dcterms:modified xsi:type="dcterms:W3CDTF">2026-04-01T07:27:32Z</dcterms:modified>
  <cp:category/>
</cp:coreProperties>
</file>