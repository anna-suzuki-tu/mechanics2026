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38576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57625" cy="6858000"/>
          </a:xfrm>
          <a:prstGeom prst="rect">
            <a:avLst/>
          </a:prstGeom>
          <a:solidFill>
            <a:srgbClr val="467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30898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0F0F0"/>
                </a:solidFill>
                <a:latin typeface="Helvetica Neue"/>
              </a:rPr>
              <a:t>Tighter curve, same speed — more or less acceleration?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286000"/>
            <a:ext cx="3308985" cy="4069080"/>
          </a:xfrm>
          <a:prstGeom prst="rect">
            <a:avLst/>
          </a:prstGeom>
          <a:noFill/>
          <a:ln w="19050">
            <a:solidFill>
              <a:srgbClr val="C6A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423160"/>
            <a:ext cx="3126105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C8C8"/>
                </a:solidFill>
                <a:latin typeface="Helvetica Neue"/>
              </a:rPr>
              <a:t>Two circular arcs: gentle vs. sharp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73952"/>
            <a:ext cx="33089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C8C8"/>
                </a:solidFill>
                <a:latin typeface="Helvetica Neue"/>
              </a:rPr>
              <a:t>Supplementary Video 2-5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57625" cy="6858000"/>
          </a:xfrm>
          <a:prstGeom prst="rect">
            <a:avLst/>
          </a:prstGeom>
          <a:solidFill>
            <a:srgbClr val="467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330898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0F0F0"/>
                </a:solidFill>
                <a:latin typeface="Helvetica Neue"/>
              </a:rPr>
              <a:t>Think of turning sharply at speed — it feels more forceful, not less.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931920"/>
            <a:ext cx="330898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6A54A"/>
                </a:solidFill>
                <a:latin typeface="Helvetica Neue"/>
              </a:rPr>
              <a:t>aₙ = v²/ρ with small ρ highlighted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73952"/>
            <a:ext cx="33089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C8C8"/>
                </a:solidFill>
                <a:latin typeface="Helvetica Neue"/>
              </a:rPr>
              <a:t>Supplementary Video 2-5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57625" cy="6858000"/>
          </a:xfrm>
          <a:prstGeom prst="rect">
            <a:avLst/>
          </a:prstGeom>
          <a:solidFill>
            <a:srgbClr val="467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330898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6A54A"/>
                </a:solidFill>
                <a:latin typeface="Helvetica Neue"/>
              </a:rPr>
              <a:t>Smaller radius → MORE centripetal acceleration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828800"/>
            <a:ext cx="330898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0F0F0"/>
                </a:solidFill>
                <a:latin typeface="Helvetica Neue"/>
              </a:rPr>
              <a:t>aₙ = v²/ρ  — smaller ρ → larger aₙ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73952"/>
            <a:ext cx="33089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C8C8"/>
                </a:solidFill>
                <a:latin typeface="Helvetica Neue"/>
              </a:rPr>
              <a:t>Supplementary Video 2-5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57625" cy="6858000"/>
          </a:xfrm>
          <a:prstGeom prst="rect">
            <a:avLst/>
          </a:prstGeom>
          <a:solidFill>
            <a:srgbClr val="467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330898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8C8C8"/>
                </a:solidFill>
                <a:latin typeface="Helvetica Neue"/>
              </a:rPr>
              <a:t>Large ρ vs. Small 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103120"/>
            <a:ext cx="330898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C6A54A"/>
                </a:solidFill>
                <a:latin typeface="Helvetica Neue"/>
              </a:rPr>
              <a:t>||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0"/>
            <a:ext cx="330898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0F0F0"/>
                </a:solidFill>
                <a:latin typeface="Helvetica Neue"/>
              </a:rPr>
              <a:t>Large ρ (gentle curve): small aₙ. Small ρ (sharp curve): large aₙ. Speed is the same.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73952"/>
            <a:ext cx="33089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C8C8"/>
                </a:solidFill>
                <a:latin typeface="Helvetica Neue"/>
              </a:rPr>
              <a:t>Supplementary Video 2-5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57625" cy="6858000"/>
          </a:xfrm>
          <a:prstGeom prst="rect">
            <a:avLst/>
          </a:prstGeom>
          <a:solidFill>
            <a:srgbClr val="467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56032"/>
            <a:ext cx="330898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0F0F0"/>
                </a:solidFill>
                <a:latin typeface="Helvetica Neue"/>
              </a:rPr>
              <a:t>Large ρ vs. Small ρ</a:t>
            </a:r>
          </a:p>
        </p:txBody>
      </p:sp>
      <p:sp>
        <p:nvSpPr>
          <p:cNvPr id="4" name="Rectangle 3"/>
          <p:cNvSpPr/>
          <p:nvPr/>
        </p:nvSpPr>
        <p:spPr>
          <a:xfrm>
            <a:off x="1922462" y="1417320"/>
            <a:ext cx="12700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417320"/>
            <a:ext cx="15996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8C8C8"/>
                </a:solidFill>
                <a:latin typeface="Helvetica Neue"/>
              </a:rPr>
              <a:t>Large radius 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011680"/>
            <a:ext cx="159962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0F0F0"/>
                </a:solidFill>
                <a:latin typeface="Helvetica Neue"/>
              </a:rPr>
              <a:t>Gentle curve
aₙ = v²/ρ is small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3676" y="1417320"/>
            <a:ext cx="15996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6A54A"/>
                </a:solidFill>
                <a:latin typeface="Helvetica Neue"/>
              </a:rPr>
              <a:t>Small radius 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3676" y="2011680"/>
            <a:ext cx="159962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6A54A"/>
                </a:solidFill>
                <a:latin typeface="Helvetica Neue"/>
              </a:rPr>
              <a:t>Sharp curve
aₙ = v²/ρ is LARGE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33089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C8C8"/>
                </a:solidFill>
                <a:latin typeface="Helvetica Neue"/>
              </a:rPr>
              <a:t>Supplementary Video 2-5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57625" cy="6858000"/>
          </a:xfrm>
          <a:prstGeom prst="rect">
            <a:avLst/>
          </a:prstGeom>
          <a:solidFill>
            <a:srgbClr val="467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0"/>
            <a:ext cx="330898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0F0F0"/>
                </a:solidFill>
                <a:latin typeface="Helvetica Neue"/>
              </a:rPr>
              <a:t>Sharper curve (smaller ρ) → larger centripetal acceleration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33089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C8C8"/>
                </a:solidFill>
                <a:latin typeface="Helvetica Neue"/>
              </a:rPr>
              <a:t>Supplementary Video 2-5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