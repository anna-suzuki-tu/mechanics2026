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38576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478"/>
  </p:normalViewPr>
  <p:slideViewPr>
    <p:cSldViewPr snapToGrid="0" snapToObjects="1">
      <p:cViewPr varScale="1">
        <p:scale>
          <a:sx n="92" d="100"/>
          <a:sy n="92" d="100"/>
        </p:scale>
        <p:origin x="3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5902B-7FC8-C048-9422-40E540B4572F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E621A-3238-364C-9AF8-08731F49E2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16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In projectile motion without air resistance, does gravity affect the horizontal velocity?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E621A-3238-364C-9AF8-08731F49E20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691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Gravity acts purely downward. There is no horizontal force.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E621A-3238-364C-9AF8-08731F49E20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4386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Horizontal: aₓ = 0, so vₓ never changes. Vertical: a</a:t>
            </a:r>
            <a:r>
              <a:rPr lang="el-GR" altLang="ja-JP" dirty="0"/>
              <a:t>ᵧ = −</a:t>
            </a:r>
            <a:r>
              <a:rPr lang="en-US" altLang="ja-JP" dirty="0"/>
              <a:t>g, so v</a:t>
            </a:r>
            <a:r>
              <a:rPr lang="el-GR" altLang="ja-JP" dirty="0"/>
              <a:t>ᵧ </a:t>
            </a:r>
            <a:r>
              <a:rPr lang="en-US" altLang="ja-JP" dirty="0"/>
              <a:t>changes. They are independent.</a:t>
            </a: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E621A-3238-364C-9AF8-08731F49E20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2929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Horizontal velocity in projectile motion is constant.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E621A-3238-364C-9AF8-08731F49E20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9784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23066" y="760858"/>
            <a:ext cx="3857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F0F0F0"/>
                </a:solidFill>
                <a:latin typeface="Helvetica Neue"/>
              </a:rPr>
              <a:t>Does gravity change horizontal velocity?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2-2</a:t>
            </a:r>
          </a:p>
        </p:txBody>
      </p:sp>
      <p:sp>
        <p:nvSpPr>
          <p:cNvPr id="7" name="フリーフォーム 6">
            <a:extLst>
              <a:ext uri="{FF2B5EF4-FFF2-40B4-BE49-F238E27FC236}">
                <a16:creationId xmlns:a16="http://schemas.microsoft.com/office/drawing/2014/main" id="{746A1F63-7C15-93EF-989C-2BBAAFC768CD}"/>
              </a:ext>
            </a:extLst>
          </p:cNvPr>
          <p:cNvSpPr/>
          <p:nvPr/>
        </p:nvSpPr>
        <p:spPr>
          <a:xfrm>
            <a:off x="-238492" y="3781250"/>
            <a:ext cx="4334607" cy="1531062"/>
          </a:xfrm>
          <a:custGeom>
            <a:avLst/>
            <a:gdLst>
              <a:gd name="csX0" fmla="*/ 0 w 7652824"/>
              <a:gd name="csY0" fmla="*/ 2504130 h 2574468"/>
              <a:gd name="csX1" fmla="*/ 3981157 w 7652824"/>
              <a:gd name="csY1" fmla="*/ 81 h 2574468"/>
              <a:gd name="csX2" fmla="*/ 7652824 w 7652824"/>
              <a:gd name="csY2" fmla="*/ 2574468 h 2574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52824" h="2574468">
                <a:moveTo>
                  <a:pt x="0" y="2504130"/>
                </a:moveTo>
                <a:cubicBezTo>
                  <a:pt x="1352843" y="1246244"/>
                  <a:pt x="2705686" y="-11642"/>
                  <a:pt x="3981157" y="81"/>
                </a:cubicBezTo>
                <a:cubicBezTo>
                  <a:pt x="5256628" y="11804"/>
                  <a:pt x="6454726" y="1293136"/>
                  <a:pt x="7652824" y="2574468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6664A9A7-DFA8-11F2-0D9A-7810D6CC7228}"/>
              </a:ext>
            </a:extLst>
          </p:cNvPr>
          <p:cNvSpPr/>
          <p:nvPr/>
        </p:nvSpPr>
        <p:spPr>
          <a:xfrm>
            <a:off x="729624" y="4184053"/>
            <a:ext cx="251113" cy="247716"/>
          </a:xfrm>
          <a:prstGeom prst="ellipse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8833DC55-5B23-2525-33E2-7FF715AD9C64}"/>
              </a:ext>
            </a:extLst>
          </p:cNvPr>
          <p:cNvSpPr/>
          <p:nvPr/>
        </p:nvSpPr>
        <p:spPr>
          <a:xfrm rot="16200000" flipH="1">
            <a:off x="1603504" y="4388410"/>
            <a:ext cx="410489" cy="193997"/>
          </a:xfrm>
          <a:prstGeom prst="rightArrow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A88378F-DD25-40EB-3566-0CF0A0061940}"/>
              </a:ext>
            </a:extLst>
          </p:cNvPr>
          <p:cNvSpPr/>
          <p:nvPr/>
        </p:nvSpPr>
        <p:spPr>
          <a:xfrm rot="14279854">
            <a:off x="1380178" y="4247011"/>
            <a:ext cx="56986" cy="7109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0003D4C-C76F-2B86-D0F5-21D3BDB2080C}"/>
              </a:ext>
            </a:extLst>
          </p:cNvPr>
          <p:cNvSpPr txBox="1"/>
          <p:nvPr/>
        </p:nvSpPr>
        <p:spPr>
          <a:xfrm>
            <a:off x="1928812" y="4280163"/>
            <a:ext cx="573098" cy="237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kumimoji="1" lang="en-US" altLang="ja-JP" sz="2000" i="1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</a:t>
            </a:r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= - g</a:t>
            </a:r>
            <a:endParaRPr kumimoji="1" lang="ja-JP" altLang="en-US" i="1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0935FA1-B17B-9512-9623-45FBEBE76C89}"/>
              </a:ext>
            </a:extLst>
          </p:cNvPr>
          <p:cNvSpPr txBox="1"/>
          <p:nvPr/>
        </p:nvSpPr>
        <p:spPr>
          <a:xfrm>
            <a:off x="739323" y="3517187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endParaRPr kumimoji="1" lang="ja-JP" altLang="en-US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2CB15156-566E-4878-76D5-ED0B219E459D}"/>
              </a:ext>
            </a:extLst>
          </p:cNvPr>
          <p:cNvSpPr/>
          <p:nvPr/>
        </p:nvSpPr>
        <p:spPr>
          <a:xfrm rot="19100287">
            <a:off x="880254" y="3834102"/>
            <a:ext cx="530400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Class Voice (31)">
            <a:hlinkClick r:id="" action="ppaction://media"/>
            <a:extLst>
              <a:ext uri="{FF2B5EF4-FFF2-40B4-BE49-F238E27FC236}">
                <a16:creationId xmlns:a16="http://schemas.microsoft.com/office/drawing/2014/main" id="{DD0E5369-3E99-128A-8464-538E5CDFFA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275068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44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33089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F0F0F0"/>
                </a:solidFill>
                <a:latin typeface="Helvetica Neue"/>
              </a:rPr>
              <a:t>Gravity acts downward only </a:t>
            </a:r>
            <a:r>
              <a:rPr lang="en-US" sz="3200" b="1" dirty="0">
                <a:solidFill>
                  <a:srgbClr val="F0F0F0"/>
                </a:solidFill>
                <a:latin typeface="Helvetica Neue"/>
              </a:rPr>
              <a:t>- </a:t>
            </a:r>
            <a:r>
              <a:rPr sz="2400" b="1" dirty="0">
                <a:solidFill>
                  <a:srgbClr val="F0F0F0"/>
                </a:solidFill>
                <a:latin typeface="Helvetica Neue"/>
              </a:rPr>
              <a:t>why would it affect horizontal motion?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2-2</a:t>
            </a:r>
          </a:p>
        </p:txBody>
      </p:sp>
      <p:sp>
        <p:nvSpPr>
          <p:cNvPr id="6" name="フリーフォーム 5">
            <a:extLst>
              <a:ext uri="{FF2B5EF4-FFF2-40B4-BE49-F238E27FC236}">
                <a16:creationId xmlns:a16="http://schemas.microsoft.com/office/drawing/2014/main" id="{4380D133-D781-9EB8-9BB8-C662BA36C1F0}"/>
              </a:ext>
            </a:extLst>
          </p:cNvPr>
          <p:cNvSpPr/>
          <p:nvPr/>
        </p:nvSpPr>
        <p:spPr>
          <a:xfrm>
            <a:off x="-238492" y="3781250"/>
            <a:ext cx="4334607" cy="1531062"/>
          </a:xfrm>
          <a:custGeom>
            <a:avLst/>
            <a:gdLst>
              <a:gd name="csX0" fmla="*/ 0 w 7652824"/>
              <a:gd name="csY0" fmla="*/ 2504130 h 2574468"/>
              <a:gd name="csX1" fmla="*/ 3981157 w 7652824"/>
              <a:gd name="csY1" fmla="*/ 81 h 2574468"/>
              <a:gd name="csX2" fmla="*/ 7652824 w 7652824"/>
              <a:gd name="csY2" fmla="*/ 2574468 h 2574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52824" h="2574468">
                <a:moveTo>
                  <a:pt x="0" y="2504130"/>
                </a:moveTo>
                <a:cubicBezTo>
                  <a:pt x="1352843" y="1246244"/>
                  <a:pt x="2705686" y="-11642"/>
                  <a:pt x="3981157" y="81"/>
                </a:cubicBezTo>
                <a:cubicBezTo>
                  <a:pt x="5256628" y="11804"/>
                  <a:pt x="6454726" y="1293136"/>
                  <a:pt x="7652824" y="2574468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690146C5-513B-D11B-3A84-870F76D70B38}"/>
              </a:ext>
            </a:extLst>
          </p:cNvPr>
          <p:cNvSpPr/>
          <p:nvPr/>
        </p:nvSpPr>
        <p:spPr>
          <a:xfrm>
            <a:off x="729624" y="4184053"/>
            <a:ext cx="251113" cy="247716"/>
          </a:xfrm>
          <a:prstGeom prst="ellipse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5F1B13D9-F7F4-AC46-E438-E0D8A55469A0}"/>
              </a:ext>
            </a:extLst>
          </p:cNvPr>
          <p:cNvSpPr/>
          <p:nvPr/>
        </p:nvSpPr>
        <p:spPr>
          <a:xfrm rot="16200000" flipH="1">
            <a:off x="1603504" y="4388410"/>
            <a:ext cx="410489" cy="193997"/>
          </a:xfrm>
          <a:prstGeom prst="rightArrow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BB33AC1-077E-0A7C-775C-7515DC4070DD}"/>
              </a:ext>
            </a:extLst>
          </p:cNvPr>
          <p:cNvSpPr/>
          <p:nvPr/>
        </p:nvSpPr>
        <p:spPr>
          <a:xfrm rot="14279854">
            <a:off x="1380178" y="4247011"/>
            <a:ext cx="56986" cy="7109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5070318-025F-751F-1BC5-D5506FDE1DF7}"/>
              </a:ext>
            </a:extLst>
          </p:cNvPr>
          <p:cNvSpPr txBox="1"/>
          <p:nvPr/>
        </p:nvSpPr>
        <p:spPr>
          <a:xfrm>
            <a:off x="1928812" y="4280163"/>
            <a:ext cx="573098" cy="237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kumimoji="1" lang="en-US" altLang="ja-JP" sz="2000" i="1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</a:t>
            </a:r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= - g</a:t>
            </a:r>
            <a:endParaRPr kumimoji="1" lang="ja-JP" altLang="en-US" i="1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B2B1F8-3BD8-858C-2FC5-8DA456371D49}"/>
              </a:ext>
            </a:extLst>
          </p:cNvPr>
          <p:cNvSpPr txBox="1"/>
          <p:nvPr/>
        </p:nvSpPr>
        <p:spPr>
          <a:xfrm>
            <a:off x="739323" y="3517187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endParaRPr kumimoji="1" lang="ja-JP" altLang="en-US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982F2263-CADF-C4DA-EB2B-E5BA8910B033}"/>
              </a:ext>
            </a:extLst>
          </p:cNvPr>
          <p:cNvSpPr/>
          <p:nvPr/>
        </p:nvSpPr>
        <p:spPr>
          <a:xfrm rot="19100287">
            <a:off x="880254" y="3834102"/>
            <a:ext cx="530400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Class Voice (32)">
            <a:hlinkClick r:id="" action="ppaction://media"/>
            <a:extLst>
              <a:ext uri="{FF2B5EF4-FFF2-40B4-BE49-F238E27FC236}">
                <a16:creationId xmlns:a16="http://schemas.microsoft.com/office/drawing/2014/main" id="{048FE864-9994-E727-22F1-128732A468A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338446" y="1016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5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38576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DFDFB6"/>
                </a:solidFill>
                <a:latin typeface="Helvetica Neue"/>
              </a:rPr>
              <a:t>Horizontal and vertical motions are independent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59" y="2387441"/>
            <a:ext cx="35833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i="1" dirty="0">
                <a:solidFill>
                  <a:srgbClr val="F0F0F0"/>
                </a:solidFill>
                <a:latin typeface="Helvetica Neue"/>
              </a:rPr>
              <a:t>aₓ</a:t>
            </a:r>
            <a:r>
              <a:rPr sz="2800" dirty="0">
                <a:solidFill>
                  <a:srgbClr val="F0F0F0"/>
                </a:solidFill>
                <a:latin typeface="Helvetica Neue"/>
              </a:rPr>
              <a:t> = 0 </a:t>
            </a:r>
            <a:r>
              <a:rPr lang="en-US" sz="2400" dirty="0">
                <a:solidFill>
                  <a:srgbClr val="F0F0F0"/>
                </a:solidFill>
                <a:latin typeface="Helvetica Neue"/>
              </a:rPr>
              <a:t> →  </a:t>
            </a:r>
            <a:r>
              <a:rPr lang="en-US" sz="2400" i="1" dirty="0">
                <a:solidFill>
                  <a:srgbClr val="F0F0F0"/>
                </a:solidFill>
                <a:latin typeface="Helvetica Neue"/>
              </a:rPr>
              <a:t>vₓ</a:t>
            </a:r>
            <a:r>
              <a:rPr lang="en-US" sz="2400" dirty="0">
                <a:solidFill>
                  <a:srgbClr val="F0F0F0"/>
                </a:solidFill>
                <a:latin typeface="Helvetica Neue"/>
              </a:rPr>
              <a:t> = constant</a:t>
            </a:r>
          </a:p>
          <a:p>
            <a:pPr algn="ctr"/>
            <a:endParaRPr lang="en-US" altLang="ja-JP" sz="2800" i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lang="en-US" altLang="ja-JP" sz="2800" i="1" dirty="0">
                <a:solidFill>
                  <a:srgbClr val="F0F0F0"/>
                </a:solidFill>
                <a:latin typeface="Helvetica Neue"/>
              </a:rPr>
              <a:t>a</a:t>
            </a:r>
            <a:r>
              <a:rPr lang="en-US" altLang="ja-JP" sz="2800" i="1" baseline="-25000" dirty="0">
                <a:solidFill>
                  <a:srgbClr val="F0F0F0"/>
                </a:solidFill>
                <a:latin typeface="Helvetica Neue"/>
              </a:rPr>
              <a:t>y</a:t>
            </a:r>
            <a:r>
              <a:rPr lang="en-US" altLang="ja-JP" sz="2800" dirty="0">
                <a:solidFill>
                  <a:srgbClr val="F0F0F0"/>
                </a:solidFill>
                <a:latin typeface="Helvetica Neue"/>
              </a:rPr>
              <a:t> = -</a:t>
            </a:r>
            <a:r>
              <a:rPr lang="en-US" altLang="ja-JP" sz="2800" i="1" dirty="0">
                <a:solidFill>
                  <a:srgbClr val="F0F0F0"/>
                </a:solidFill>
                <a:latin typeface="Helvetica Neue"/>
              </a:rPr>
              <a:t>g</a:t>
            </a:r>
            <a:r>
              <a:rPr lang="en-US" altLang="ja-JP" sz="2800" dirty="0">
                <a:solidFill>
                  <a:srgbClr val="F0F0F0"/>
                </a:solidFill>
                <a:latin typeface="Helvetica Neue"/>
              </a:rPr>
              <a:t> </a:t>
            </a:r>
            <a:r>
              <a:rPr lang="en-US" altLang="ja-JP" sz="2400" dirty="0">
                <a:solidFill>
                  <a:srgbClr val="F0F0F0"/>
                </a:solidFill>
                <a:latin typeface="Helvetica Neue"/>
              </a:rPr>
              <a:t> →  </a:t>
            </a:r>
            <a:r>
              <a:rPr lang="en-US" altLang="ja-JP" sz="2400" i="1" dirty="0" err="1">
                <a:solidFill>
                  <a:srgbClr val="F0F0F0"/>
                </a:solidFill>
                <a:latin typeface="Helvetica Neue"/>
              </a:rPr>
              <a:t>v</a:t>
            </a:r>
            <a:r>
              <a:rPr lang="en-US" altLang="ja-JP" sz="2400" i="1" baseline="-25000" dirty="0" err="1">
                <a:solidFill>
                  <a:srgbClr val="F0F0F0"/>
                </a:solidFill>
                <a:latin typeface="Helvetica Neue"/>
              </a:rPr>
              <a:t>y</a:t>
            </a:r>
            <a:r>
              <a:rPr lang="en-US" altLang="ja-JP" sz="2400" dirty="0">
                <a:solidFill>
                  <a:srgbClr val="F0F0F0"/>
                </a:solidFill>
                <a:latin typeface="Helvetica Neue"/>
              </a:rPr>
              <a:t> changes</a:t>
            </a:r>
            <a:endParaRPr lang="en-US" sz="2400" dirty="0">
              <a:solidFill>
                <a:srgbClr val="F0F0F0"/>
              </a:solidFill>
              <a:latin typeface="Helvetica Neue"/>
            </a:endParaRPr>
          </a:p>
          <a:p>
            <a:pPr algn="ctr"/>
            <a:endParaRPr sz="2400" dirty="0">
              <a:solidFill>
                <a:srgbClr val="F0F0F0"/>
              </a:solidFill>
              <a:latin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2-2</a:t>
            </a:r>
          </a:p>
        </p:txBody>
      </p:sp>
      <p:sp>
        <p:nvSpPr>
          <p:cNvPr id="6" name="フリーフォーム 5">
            <a:extLst>
              <a:ext uri="{FF2B5EF4-FFF2-40B4-BE49-F238E27FC236}">
                <a16:creationId xmlns:a16="http://schemas.microsoft.com/office/drawing/2014/main" id="{32F400F6-7701-75AB-8348-70A97B8E4DB2}"/>
              </a:ext>
            </a:extLst>
          </p:cNvPr>
          <p:cNvSpPr/>
          <p:nvPr/>
        </p:nvSpPr>
        <p:spPr>
          <a:xfrm>
            <a:off x="-318502" y="5095204"/>
            <a:ext cx="4334607" cy="1531062"/>
          </a:xfrm>
          <a:custGeom>
            <a:avLst/>
            <a:gdLst>
              <a:gd name="csX0" fmla="*/ 0 w 7652824"/>
              <a:gd name="csY0" fmla="*/ 2504130 h 2574468"/>
              <a:gd name="csX1" fmla="*/ 3981157 w 7652824"/>
              <a:gd name="csY1" fmla="*/ 81 h 2574468"/>
              <a:gd name="csX2" fmla="*/ 7652824 w 7652824"/>
              <a:gd name="csY2" fmla="*/ 2574468 h 2574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652824" h="2574468">
                <a:moveTo>
                  <a:pt x="0" y="2504130"/>
                </a:moveTo>
                <a:cubicBezTo>
                  <a:pt x="1352843" y="1246244"/>
                  <a:pt x="2705686" y="-11642"/>
                  <a:pt x="3981157" y="81"/>
                </a:cubicBezTo>
                <a:cubicBezTo>
                  <a:pt x="5256628" y="11804"/>
                  <a:pt x="6454726" y="1293136"/>
                  <a:pt x="7652824" y="2574468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EFDBF0B7-FF81-440A-B8FB-F79D142D2C18}"/>
              </a:ext>
            </a:extLst>
          </p:cNvPr>
          <p:cNvSpPr/>
          <p:nvPr/>
        </p:nvSpPr>
        <p:spPr>
          <a:xfrm>
            <a:off x="649614" y="5498007"/>
            <a:ext cx="251113" cy="247716"/>
          </a:xfrm>
          <a:prstGeom prst="ellipse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95ECBF26-CE25-FD3A-DD9B-5FB2090E7699}"/>
              </a:ext>
            </a:extLst>
          </p:cNvPr>
          <p:cNvSpPr/>
          <p:nvPr/>
        </p:nvSpPr>
        <p:spPr>
          <a:xfrm rot="16200000" flipH="1">
            <a:off x="1523494" y="5702364"/>
            <a:ext cx="410489" cy="193997"/>
          </a:xfrm>
          <a:prstGeom prst="rightArrow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3AA2E4D-ABD2-D9CF-B1B3-DD1BF6712592}"/>
              </a:ext>
            </a:extLst>
          </p:cNvPr>
          <p:cNvSpPr/>
          <p:nvPr/>
        </p:nvSpPr>
        <p:spPr>
          <a:xfrm rot="14279854">
            <a:off x="1300168" y="5560965"/>
            <a:ext cx="56986" cy="71092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9F6BD2-8C70-08C8-3CDB-8F0549FE3567}"/>
              </a:ext>
            </a:extLst>
          </p:cNvPr>
          <p:cNvSpPr txBox="1"/>
          <p:nvPr/>
        </p:nvSpPr>
        <p:spPr>
          <a:xfrm>
            <a:off x="1848802" y="5594117"/>
            <a:ext cx="573098" cy="2379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</a:t>
            </a:r>
            <a:r>
              <a:rPr kumimoji="1" lang="en-US" altLang="ja-JP" sz="2000" i="1" baseline="-25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</a:t>
            </a:r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= - g</a:t>
            </a:r>
            <a:endParaRPr kumimoji="1" lang="ja-JP" altLang="en-US" i="1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BFA4EDC-A0F8-1172-C926-2740488F8260}"/>
              </a:ext>
            </a:extLst>
          </p:cNvPr>
          <p:cNvSpPr txBox="1"/>
          <p:nvPr/>
        </p:nvSpPr>
        <p:spPr>
          <a:xfrm>
            <a:off x="659313" y="4831141"/>
            <a:ext cx="308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endParaRPr kumimoji="1" lang="ja-JP" altLang="en-US">
              <a:solidFill>
                <a:schemeClr val="bg1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B26BB07E-A3E5-8225-3C54-5FB4BDA6579F}"/>
              </a:ext>
            </a:extLst>
          </p:cNvPr>
          <p:cNvSpPr/>
          <p:nvPr/>
        </p:nvSpPr>
        <p:spPr>
          <a:xfrm rot="19100287">
            <a:off x="800244" y="5148056"/>
            <a:ext cx="530400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Class Voice (33)">
            <a:hlinkClick r:id="" action="ppaction://media"/>
            <a:extLst>
              <a:ext uri="{FF2B5EF4-FFF2-40B4-BE49-F238E27FC236}">
                <a16:creationId xmlns:a16="http://schemas.microsoft.com/office/drawing/2014/main" id="{1DA9E478-DC53-8FA2-2ECB-11CDA11F280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72051" y="5080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6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330898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0F0F0"/>
                </a:solidFill>
                <a:latin typeface="Helvetica Neue"/>
              </a:rPr>
              <a:t>Horizontal velocity in projectile motion is constant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2-2</a:t>
            </a:r>
          </a:p>
        </p:txBody>
      </p:sp>
      <p:pic>
        <p:nvPicPr>
          <p:cNvPr id="5" name="Class Voice (34)">
            <a:hlinkClick r:id="" action="ppaction://media"/>
            <a:extLst>
              <a:ext uri="{FF2B5EF4-FFF2-40B4-BE49-F238E27FC236}">
                <a16:creationId xmlns:a16="http://schemas.microsoft.com/office/drawing/2014/main" id="{F78BAD12-D217-9284-77F3-81254230E5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83239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6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137</Words>
  <Application>Microsoft Macintosh PowerPoint</Application>
  <PresentationFormat>ユーザー設定</PresentationFormat>
  <Paragraphs>25</Paragraphs>
  <Slides>4</Slides>
  <Notes>4</Notes>
  <HiddenSlides>0</HiddenSlides>
  <MMClips>4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Arial</vt:lpstr>
      <vt:lpstr>Calibri</vt:lpstr>
      <vt:lpstr>Helvetica Neue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鈴木　杏奈</cp:lastModifiedBy>
  <cp:revision>3</cp:revision>
  <dcterms:created xsi:type="dcterms:W3CDTF">2013-01-27T09:14:16Z</dcterms:created>
  <dcterms:modified xsi:type="dcterms:W3CDTF">2026-04-01T07:29:23Z</dcterms:modified>
  <cp:category/>
</cp:coreProperties>
</file>