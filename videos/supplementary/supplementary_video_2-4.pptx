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38576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30898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F0F0"/>
                </a:solidFill>
                <a:latin typeface="Helvetica Neue"/>
              </a:rPr>
              <a:t>aₜ &lt; 0 — is the object turning?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286000"/>
            <a:ext cx="3308985" cy="4069080"/>
          </a:xfrm>
          <a:prstGeom prst="rect">
            <a:avLst/>
          </a:prstGeom>
          <a:noFill/>
          <a:ln w="19050">
            <a:solidFill>
              <a:srgbClr val="C6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23160"/>
            <a:ext cx="312610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C8C8"/>
                </a:solidFill>
                <a:latin typeface="Helvetica Neue"/>
              </a:rPr>
              <a:t>Curved path with aₜ and aₙ components labeled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30898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0F0F0"/>
                </a:solidFill>
                <a:latin typeface="Helvetica Neue"/>
              </a:rPr>
              <a:t>Tangential means along the path — not sideways. Turning requires a normal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931920"/>
            <a:ext cx="330898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6A54A"/>
                </a:solidFill>
                <a:latin typeface="Helvetica Neue"/>
              </a:rPr>
              <a:t>aₙ vs. aₜ direction arrows 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330898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6A54A"/>
                </a:solidFill>
                <a:latin typeface="Helvetica Neue"/>
              </a:rPr>
              <a:t>aₜ &lt; 0 means speed is decreasing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330898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F0F0"/>
                </a:solidFill>
                <a:latin typeface="Helvetica Neue"/>
              </a:rPr>
              <a:t>aₜ = dv/dt  (along path),  aₙ = v²/ρ  (inward)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30898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C8C8"/>
                </a:solidFill>
                <a:latin typeface="Helvetica Neue"/>
              </a:rPr>
              <a:t>aₜ  vs.  aₙ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103120"/>
            <a:ext cx="33089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6A54A"/>
                </a:solidFill>
                <a:latin typeface="Helvetica Neue"/>
              </a:rPr>
              <a:t>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330898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0F0F0"/>
                </a:solidFill>
                <a:latin typeface="Helvetica Neue"/>
              </a:rPr>
              <a:t>aₜ &lt; 0 means the object is slowing down. Direction change comes from aₙ, not aₜ.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330898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0F0F0"/>
                </a:solidFill>
                <a:latin typeface="Helvetica Neue"/>
              </a:rPr>
              <a:t>aₜ  vs.  aₙ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2462" y="1417320"/>
            <a:ext cx="12700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5996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C8C8"/>
                </a:solidFill>
                <a:latin typeface="Helvetica Neue"/>
              </a:rPr>
              <a:t>aₜ = dv/dt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15996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Helvetica Neue"/>
              </a:rPr>
              <a:t>Changes speed
Negative = slowing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3676" y="1417320"/>
            <a:ext cx="15996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6A54A"/>
                </a:solidFill>
                <a:latin typeface="Helvetica Neue"/>
              </a:rPr>
              <a:t>aₙ = v²/ρ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3676" y="2011680"/>
            <a:ext cx="15996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6A54A"/>
                </a:solidFill>
                <a:latin typeface="Helvetica Neue"/>
              </a:rPr>
              <a:t>Changes direction
Always points inward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330898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F0F0"/>
                </a:solidFill>
                <a:latin typeface="Helvetica Neue"/>
              </a:rPr>
              <a:t>aₜ &lt; 0 = slowing down, not turning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