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38576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12" d="100"/>
          <a:sy n="112" d="100"/>
        </p:scale>
        <p:origin x="34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770AB-E04B-9049-9AA5-D27F7DEF612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8081C-57A2-5440-911A-CBF08B3628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38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What is the velocity of B as seen from A? You wrote </a:t>
            </a:r>
            <a:r>
              <a:rPr lang="en-US" altLang="ja-JP" dirty="0" err="1"/>
              <a:t>v_A</a:t>
            </a:r>
            <a:r>
              <a:rPr lang="en-US" altLang="ja-JP" dirty="0"/>
              <a:t> + </a:t>
            </a:r>
            <a:r>
              <a:rPr lang="en-US" altLang="ja-JP" dirty="0" err="1"/>
              <a:t>v_B</a:t>
            </a:r>
            <a:r>
              <a:rPr lang="en-US" altLang="ja-JP" dirty="0"/>
              <a:t>. Let's check.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8081C-57A2-5440-911A-CBF08B36288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258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If A and B both move at the same velocity, B shouldn't appear to move from A's view — relative velocity = 0. But </a:t>
            </a:r>
            <a:r>
              <a:rPr lang="en-US" altLang="ja-JP" dirty="0" err="1"/>
              <a:t>v_A</a:t>
            </a:r>
            <a:r>
              <a:rPr lang="en-US" altLang="ja-JP" dirty="0"/>
              <a:t> + </a:t>
            </a:r>
            <a:r>
              <a:rPr lang="en-US" altLang="ja-JP" dirty="0" err="1"/>
              <a:t>v_B</a:t>
            </a:r>
            <a:r>
              <a:rPr lang="en-US" altLang="ja-JP" dirty="0"/>
              <a:t> ≠ 0. The formula is wrong.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8081C-57A2-5440-911A-CBF08B36288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279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Relative velocity means how B moves in A's reference frame: </a:t>
            </a:r>
            <a:r>
              <a:rPr lang="en-US" altLang="ja-JP" dirty="0" err="1"/>
              <a:t>v_B</a:t>
            </a:r>
            <a:r>
              <a:rPr lang="en-US" altLang="ja-JP" dirty="0"/>
              <a:t>/A = </a:t>
            </a:r>
            <a:r>
              <a:rPr lang="en-US" altLang="ja-JP" dirty="0" err="1"/>
              <a:t>v_B</a:t>
            </a:r>
            <a:r>
              <a:rPr lang="en-US" altLang="ja-JP" dirty="0"/>
              <a:t> − </a:t>
            </a:r>
            <a:r>
              <a:rPr lang="en-US" altLang="ja-JP" dirty="0" err="1"/>
              <a:t>v_A</a:t>
            </a:r>
            <a:r>
              <a:rPr lang="en-US" altLang="ja-JP" dirty="0"/>
              <a:t>.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8081C-57A2-5440-911A-CBF08B36288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88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err="1"/>
              <a:t>v_B</a:t>
            </a:r>
            <a:r>
              <a:rPr lang="en-US" altLang="ja-JP" dirty="0"/>
              <a:t>/A = </a:t>
            </a:r>
            <a:r>
              <a:rPr lang="en-US" altLang="ja-JP" dirty="0" err="1"/>
              <a:t>v_B</a:t>
            </a:r>
            <a:r>
              <a:rPr lang="en-US" altLang="ja-JP" dirty="0"/>
              <a:t> − </a:t>
            </a:r>
            <a:r>
              <a:rPr lang="en-US" altLang="ja-JP" dirty="0" err="1"/>
              <a:t>v_A</a:t>
            </a:r>
            <a:r>
              <a:rPr lang="en-US" altLang="ja-JP" dirty="0"/>
              <a:t>. Subtract, don't add.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78081C-57A2-5440-911A-CBF08B36288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620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699" y="1414867"/>
            <a:ext cx="330898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26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2600" b="1" baseline="-25000" dirty="0">
                <a:solidFill>
                  <a:srgbClr val="F0F0F0"/>
                </a:solidFill>
                <a:latin typeface="Helvetica Neue"/>
              </a:rPr>
              <a:t>/A</a:t>
            </a:r>
            <a:r>
              <a:rPr sz="2600" b="1" dirty="0">
                <a:solidFill>
                  <a:srgbClr val="F0F0F0"/>
                </a:solidFill>
                <a:latin typeface="Helvetica Neue"/>
              </a:rPr>
              <a:t> = </a:t>
            </a:r>
            <a:r>
              <a:rPr sz="2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2600" b="1" baseline="-25000" dirty="0" err="1">
                <a:solidFill>
                  <a:srgbClr val="F0F0F0"/>
                </a:solidFill>
                <a:latin typeface="Helvetica Neue"/>
              </a:rPr>
              <a:t>A</a:t>
            </a:r>
            <a:r>
              <a:rPr sz="2600" b="1" dirty="0">
                <a:solidFill>
                  <a:srgbClr val="F0F0F0"/>
                </a:solidFill>
                <a:latin typeface="Helvetica Neue"/>
              </a:rPr>
              <a:t> + </a:t>
            </a:r>
            <a:r>
              <a:rPr sz="2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26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2600" b="1" dirty="0">
                <a:solidFill>
                  <a:srgbClr val="F0F0F0"/>
                </a:solidFill>
                <a:latin typeface="Helvetica Neue"/>
              </a:rPr>
              <a:t>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2-3</a:t>
            </a: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73AF86E3-43F2-D8BD-9E20-F44D959F61A3}"/>
              </a:ext>
            </a:extLst>
          </p:cNvPr>
          <p:cNvSpPr/>
          <p:nvPr/>
        </p:nvSpPr>
        <p:spPr>
          <a:xfrm>
            <a:off x="1182761" y="4095866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4842AE4-E2AA-8977-222B-A37BBFDB93FE}"/>
              </a:ext>
            </a:extLst>
          </p:cNvPr>
          <p:cNvSpPr txBox="1"/>
          <p:nvPr/>
        </p:nvSpPr>
        <p:spPr>
          <a:xfrm>
            <a:off x="1192460" y="3429000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r>
              <a:rPr kumimoji="1" lang="en-US" altLang="ja-JP" sz="2000" i="1" baseline="-25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kumimoji="1" lang="ja-JP" altLang="en-US" baseline="-2500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6D24EDDB-36A1-7129-4983-0F7E9FCA9413}"/>
              </a:ext>
            </a:extLst>
          </p:cNvPr>
          <p:cNvSpPr/>
          <p:nvPr/>
        </p:nvSpPr>
        <p:spPr>
          <a:xfrm rot="19100287">
            <a:off x="1333391" y="3745915"/>
            <a:ext cx="530400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4416EC08-7A06-CAFD-494D-DBED55693B37}"/>
              </a:ext>
            </a:extLst>
          </p:cNvPr>
          <p:cNvSpPr/>
          <p:nvPr/>
        </p:nvSpPr>
        <p:spPr>
          <a:xfrm>
            <a:off x="1870584" y="4819561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389F5D-7D52-5572-0705-5A6BD2AED5BC}"/>
              </a:ext>
            </a:extLst>
          </p:cNvPr>
          <p:cNvSpPr txBox="1"/>
          <p:nvPr/>
        </p:nvSpPr>
        <p:spPr>
          <a:xfrm>
            <a:off x="1880283" y="4152695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r>
              <a:rPr kumimoji="1" lang="en-US" altLang="ja-JP" sz="2000" i="1" baseline="-25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</a:t>
            </a:r>
            <a:endParaRPr kumimoji="1" lang="ja-JP" altLang="en-US" baseline="-2500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1E94505D-D8A0-05AC-296D-4A8D7211630E}"/>
              </a:ext>
            </a:extLst>
          </p:cNvPr>
          <p:cNvSpPr/>
          <p:nvPr/>
        </p:nvSpPr>
        <p:spPr>
          <a:xfrm rot="19100287">
            <a:off x="1920583" y="4205129"/>
            <a:ext cx="1326152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Class Voice (23)">
            <a:hlinkClick r:id="" action="ppaction://media"/>
            <a:extLst>
              <a:ext uri="{FF2B5EF4-FFF2-40B4-BE49-F238E27FC236}">
                <a16:creationId xmlns:a16="http://schemas.microsoft.com/office/drawing/2014/main" id="{652F4CAC-E150-A945-6C6F-2381A2D2D7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211897" y="83185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6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3089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0F0F0"/>
                </a:solidFill>
                <a:latin typeface="Helvetica Neue"/>
              </a:rPr>
              <a:t>If both move at the same velocity, </a:t>
            </a:r>
            <a:endParaRPr lang="en-US" sz="24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lang="en-US" altLang="ja-JP" sz="24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lang="en-US" altLang="ja-JP" sz="24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lang="en-US" altLang="ja-JP" sz="2400" b="1" baseline="-25000" dirty="0">
                <a:solidFill>
                  <a:srgbClr val="F0F0F0"/>
                </a:solidFill>
                <a:latin typeface="Helvetica Neue"/>
              </a:rPr>
              <a:t>/A </a:t>
            </a:r>
            <a:r>
              <a:rPr lang="en-US" altLang="ja-JP" sz="2400" b="1" dirty="0">
                <a:solidFill>
                  <a:srgbClr val="F0F0F0"/>
                </a:solidFill>
                <a:latin typeface="Helvetica Neue"/>
              </a:rPr>
              <a:t>= 0</a:t>
            </a:r>
          </a:p>
          <a:p>
            <a:pPr algn="ctr"/>
            <a:endParaRPr lang="en-US" sz="24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sz="2400" b="1" dirty="0">
                <a:solidFill>
                  <a:srgbClr val="F0F0F0"/>
                </a:solidFill>
                <a:latin typeface="Helvetica Neue"/>
              </a:rPr>
              <a:t>but </a:t>
            </a:r>
            <a:r>
              <a:rPr sz="24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2400" b="1" baseline="-25000" dirty="0" err="1">
                <a:solidFill>
                  <a:srgbClr val="F0F0F0"/>
                </a:solidFill>
                <a:latin typeface="Helvetica Neue"/>
              </a:rPr>
              <a:t>A</a:t>
            </a:r>
            <a:r>
              <a:rPr sz="2400" b="1" dirty="0">
                <a:solidFill>
                  <a:srgbClr val="F0F0F0"/>
                </a:solidFill>
                <a:latin typeface="Helvetica Neue"/>
              </a:rPr>
              <a:t> + </a:t>
            </a:r>
            <a:r>
              <a:rPr sz="24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24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2400" b="1" dirty="0">
                <a:solidFill>
                  <a:srgbClr val="F0F0F0"/>
                </a:solidFill>
                <a:latin typeface="Helvetica Neue"/>
              </a:rPr>
              <a:t> ≠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2-3</a:t>
            </a: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12B477BC-24E2-B072-DCF0-A1D1A5B32E13}"/>
              </a:ext>
            </a:extLst>
          </p:cNvPr>
          <p:cNvSpPr/>
          <p:nvPr/>
        </p:nvSpPr>
        <p:spPr>
          <a:xfrm>
            <a:off x="1182761" y="4095866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2A01C4-2A81-9FFF-E349-F3E3A192859F}"/>
              </a:ext>
            </a:extLst>
          </p:cNvPr>
          <p:cNvSpPr txBox="1"/>
          <p:nvPr/>
        </p:nvSpPr>
        <p:spPr>
          <a:xfrm>
            <a:off x="1192460" y="3429000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r>
              <a:rPr kumimoji="1" lang="en-US" altLang="ja-JP" sz="2000" i="1" baseline="-25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kumimoji="1" lang="ja-JP" altLang="en-US" baseline="-2500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FB38D38C-DB26-78A0-2DF5-72BA9D2CDE56}"/>
              </a:ext>
            </a:extLst>
          </p:cNvPr>
          <p:cNvSpPr/>
          <p:nvPr/>
        </p:nvSpPr>
        <p:spPr>
          <a:xfrm rot="19100287">
            <a:off x="1333391" y="3745915"/>
            <a:ext cx="530400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94C22652-FB95-B679-524F-2EA2C08483E8}"/>
              </a:ext>
            </a:extLst>
          </p:cNvPr>
          <p:cNvSpPr/>
          <p:nvPr/>
        </p:nvSpPr>
        <p:spPr>
          <a:xfrm>
            <a:off x="1870584" y="4819561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439D8C-E44F-A56F-101E-04D5E6DED3A1}"/>
              </a:ext>
            </a:extLst>
          </p:cNvPr>
          <p:cNvSpPr txBox="1"/>
          <p:nvPr/>
        </p:nvSpPr>
        <p:spPr>
          <a:xfrm>
            <a:off x="1880283" y="4152695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r>
              <a:rPr kumimoji="1" lang="en-US" altLang="ja-JP" sz="2000" i="1" baseline="-25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</a:t>
            </a:r>
            <a:endParaRPr kumimoji="1" lang="ja-JP" altLang="en-US" baseline="-2500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45038525-1C01-47B9-9D4E-73F3BE6B2FFE}"/>
              </a:ext>
            </a:extLst>
          </p:cNvPr>
          <p:cNvSpPr/>
          <p:nvPr/>
        </p:nvSpPr>
        <p:spPr>
          <a:xfrm rot="19100287">
            <a:off x="2006493" y="4430920"/>
            <a:ext cx="646808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Class Voice (24)">
            <a:hlinkClick r:id="" action="ppaction://media"/>
            <a:extLst>
              <a:ext uri="{FF2B5EF4-FFF2-40B4-BE49-F238E27FC236}">
                <a16:creationId xmlns:a16="http://schemas.microsoft.com/office/drawing/2014/main" id="{3837272E-18CA-7720-4ADD-BC440BE0A5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131887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2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7163" y="1131850"/>
            <a:ext cx="35032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DFDFB6"/>
                </a:solidFill>
                <a:latin typeface="Helvetica Neue"/>
              </a:rPr>
              <a:t>Relative velocity </a:t>
            </a:r>
            <a:endParaRPr lang="en-US" sz="3200" b="1" dirty="0">
              <a:solidFill>
                <a:srgbClr val="DFDFB6"/>
              </a:solidFill>
              <a:latin typeface="Helvetica Neue"/>
            </a:endParaRPr>
          </a:p>
          <a:p>
            <a:pPr algn="ctr"/>
            <a:r>
              <a:rPr sz="3200" b="1" dirty="0">
                <a:solidFill>
                  <a:srgbClr val="DFDFB6"/>
                </a:solidFill>
                <a:latin typeface="Helvetica Neue"/>
              </a:rPr>
              <a:t>=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19" y="3749040"/>
            <a:ext cx="3308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36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3600" b="1" baseline="-25000" dirty="0">
                <a:solidFill>
                  <a:srgbClr val="F0F0F0"/>
                </a:solidFill>
                <a:latin typeface="Helvetica Neue"/>
              </a:rPr>
              <a:t>/A</a:t>
            </a:r>
            <a:r>
              <a:rPr sz="3600" b="1" dirty="0">
                <a:solidFill>
                  <a:srgbClr val="F0F0F0"/>
                </a:solidFill>
                <a:latin typeface="Helvetica Neue"/>
              </a:rPr>
              <a:t> = </a:t>
            </a:r>
            <a:r>
              <a:rPr sz="3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36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3600" b="1" dirty="0">
                <a:solidFill>
                  <a:srgbClr val="F0F0F0"/>
                </a:solidFill>
                <a:latin typeface="Helvetica Neue"/>
              </a:rPr>
              <a:t> − </a:t>
            </a:r>
            <a:r>
              <a:rPr sz="3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3600" b="1" baseline="-25000" dirty="0" err="1">
                <a:solidFill>
                  <a:srgbClr val="F0F0F0"/>
                </a:solidFill>
                <a:latin typeface="Helvetica Neue"/>
              </a:rPr>
              <a:t>A</a:t>
            </a:r>
            <a:endParaRPr sz="3600" b="1" baseline="-25000" dirty="0">
              <a:solidFill>
                <a:srgbClr val="F0F0F0"/>
              </a:solidFill>
              <a:latin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2-3</a:t>
            </a:r>
          </a:p>
        </p:txBody>
      </p:sp>
      <p:pic>
        <p:nvPicPr>
          <p:cNvPr id="6" name="Class Voice (25)">
            <a:hlinkClick r:id="" action="ppaction://media"/>
            <a:extLst>
              <a:ext uri="{FF2B5EF4-FFF2-40B4-BE49-F238E27FC236}">
                <a16:creationId xmlns:a16="http://schemas.microsoft.com/office/drawing/2014/main" id="{A6F27220-E7CB-D121-1DDE-E03C73BBFA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96315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330898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3000" b="1" dirty="0">
              <a:solidFill>
                <a:srgbClr val="F0F0F0"/>
              </a:solidFill>
              <a:latin typeface="Helvetica Neue"/>
            </a:endParaRPr>
          </a:p>
          <a:p>
            <a:pPr algn="ctr"/>
            <a:endParaRPr lang="en-US" sz="3000" b="1" dirty="0">
              <a:solidFill>
                <a:srgbClr val="F0F0F0"/>
              </a:solidFill>
              <a:latin typeface="Helvetica Neue"/>
            </a:endParaRPr>
          </a:p>
          <a:p>
            <a:pPr algn="ctr"/>
            <a:endParaRPr lang="en-US" sz="30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sz="3000" b="1" dirty="0">
                <a:solidFill>
                  <a:srgbClr val="F0F0F0"/>
                </a:solidFill>
                <a:latin typeface="Helvetica Neue"/>
              </a:rPr>
              <a:t>subtract</a:t>
            </a:r>
            <a:endParaRPr lang="en-US" sz="30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sz="3000" b="1" dirty="0">
                <a:solidFill>
                  <a:srgbClr val="F0F0F0"/>
                </a:solidFill>
                <a:latin typeface="Helvetica Neue"/>
              </a:rPr>
              <a:t>don't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2-3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226CE2A-E53C-EE8B-15B9-22656BA6A8CC}"/>
              </a:ext>
            </a:extLst>
          </p:cNvPr>
          <p:cNvSpPr txBox="1"/>
          <p:nvPr/>
        </p:nvSpPr>
        <p:spPr>
          <a:xfrm>
            <a:off x="274320" y="1639669"/>
            <a:ext cx="3308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36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3600" b="1" baseline="-25000" dirty="0">
                <a:solidFill>
                  <a:srgbClr val="F0F0F0"/>
                </a:solidFill>
                <a:latin typeface="Helvetica Neue"/>
              </a:rPr>
              <a:t>/A</a:t>
            </a:r>
            <a:r>
              <a:rPr sz="3600" b="1" dirty="0">
                <a:solidFill>
                  <a:srgbClr val="F0F0F0"/>
                </a:solidFill>
                <a:latin typeface="Helvetica Neue"/>
              </a:rPr>
              <a:t> = </a:t>
            </a:r>
            <a:r>
              <a:rPr sz="3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3600" b="1" baseline="-25000" dirty="0" err="1">
                <a:solidFill>
                  <a:srgbClr val="F0F0F0"/>
                </a:solidFill>
                <a:latin typeface="Helvetica Neue"/>
              </a:rPr>
              <a:t>B</a:t>
            </a:r>
            <a:r>
              <a:rPr sz="3600" b="1" dirty="0">
                <a:solidFill>
                  <a:srgbClr val="F0F0F0"/>
                </a:solidFill>
                <a:latin typeface="Helvetica Neue"/>
              </a:rPr>
              <a:t> − </a:t>
            </a:r>
            <a:r>
              <a:rPr sz="3600" b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sz="3600" b="1" baseline="-25000" dirty="0" err="1">
                <a:solidFill>
                  <a:srgbClr val="F0F0F0"/>
                </a:solidFill>
                <a:latin typeface="Helvetica Neue"/>
              </a:rPr>
              <a:t>A</a:t>
            </a:r>
            <a:endParaRPr sz="3600" b="1" baseline="-25000" dirty="0">
              <a:solidFill>
                <a:srgbClr val="F0F0F0"/>
              </a:solidFill>
              <a:latin typeface="Helvetica Neue"/>
            </a:endParaRPr>
          </a:p>
        </p:txBody>
      </p:sp>
      <p:pic>
        <p:nvPicPr>
          <p:cNvPr id="6" name="Class Voice (26)">
            <a:hlinkClick r:id="" action="ppaction://media"/>
            <a:extLst>
              <a:ext uri="{FF2B5EF4-FFF2-40B4-BE49-F238E27FC236}">
                <a16:creationId xmlns:a16="http://schemas.microsoft.com/office/drawing/2014/main" id="{DCAE7193-AED5-C136-3988-667C282345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37577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177</Words>
  <Application>Microsoft Macintosh PowerPoint</Application>
  <PresentationFormat>ユーザー設定</PresentationFormat>
  <Paragraphs>30</Paragraphs>
  <Slides>4</Slides>
  <Notes>4</Notes>
  <HiddenSlides>0</HiddenSlides>
  <MMClips>4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Arial</vt:lpstr>
      <vt:lpstr>Calibri</vt:lpstr>
      <vt:lpstr>Helvetica Neue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鈴木　杏奈</cp:lastModifiedBy>
  <cp:revision>2</cp:revision>
  <dcterms:created xsi:type="dcterms:W3CDTF">2013-01-27T09:14:16Z</dcterms:created>
  <dcterms:modified xsi:type="dcterms:W3CDTF">2026-04-01T07:24:56Z</dcterms:modified>
  <cp:category/>
</cp:coreProperties>
</file>