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65" r:id="rId3"/>
    <p:sldId id="257" r:id="rId4"/>
    <p:sldId id="268" r:id="rId5"/>
    <p:sldId id="269" r:id="rId6"/>
    <p:sldId id="266" r:id="rId7"/>
    <p:sldId id="258" r:id="rId8"/>
    <p:sldId id="260" r:id="rId9"/>
    <p:sldId id="261" r:id="rId10"/>
    <p:sldId id="263"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6789B"/>
    <a:srgbClr val="B9BA99"/>
    <a:srgbClr val="9EB5D6"/>
    <a:srgbClr val="DFDFB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178"/>
    <p:restoredTop sz="76234"/>
  </p:normalViewPr>
  <p:slideViewPr>
    <p:cSldViewPr snapToGrid="0" snapToObjects="1">
      <p:cViewPr>
        <p:scale>
          <a:sx n="61" d="100"/>
          <a:sy n="61" d="100"/>
        </p:scale>
        <p:origin x="1552" y="7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6355446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ja-JP" dirty="0"/>
              <a:t>Welcome to Lecture 2. Today we move from straight-line motion to curved paths. By the end of this video, you will be able to split any curved motion into two clean components, solve projectile problems without confusion, and handle relative velocity as simple vector subtraction. Let's begin.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ノート プレースホルダー 2"/>
          <p:cNvSpPr>
            <a:spLocks noGrp="1"/>
          </p:cNvSpPr>
          <p:nvPr>
            <p:ph type="body" idx="1"/>
          </p:nvPr>
        </p:nvSpPr>
        <p:spPr>
          <a:xfrm>
            <a:off x="685800" y="5867400"/>
            <a:ext cx="5486400" cy="4800600"/>
          </a:xfrm>
          <a:prstGeom prst="rect">
            <a:avLst/>
          </a:prstGeom>
        </p:spPr>
        <p:txBody>
          <a:bodyPr/>
          <a:lstStyle/>
          <a:p>
            <a:r>
              <a:rPr lang="en-US" altLang="ja-JP" dirty="0"/>
              <a:t>A car drives around a roundabout at constant speed. Is it accelerating? The speed is not changing. So the magnitude of v is constant. But the direction of v is changing continuously. Remember: velocity is a vector. It has both magnitude and direction. If the direction changes, the velocity changes. Change in velocity equals acceleration. So yes — the car is accelerating, even at constant speed. This is the central insight of this entire lecture.</a:t>
            </a:r>
            <a:endParaRPr kumimoji="1" lang="ja-JP" altLang="en-US"/>
          </a:p>
        </p:txBody>
      </p:sp>
    </p:spTree>
    <p:extLst>
      <p:ext uri="{BB962C8B-B14F-4D97-AF65-F5344CB8AC3E}">
        <p14:creationId xmlns:p14="http://schemas.microsoft.com/office/powerpoint/2010/main" val="24163288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ja-JP" dirty="0"/>
              <a:t>At any point on a curve, we can ask: how sharply is it bending here? We answer that by imagining the best-fit circle at that point. The radius of that circle is rho — the radius of curvature. Sharp curve: small rho. Gentle curve: large rho. Straight line: rho equals infinity. Physical intuition: a tight curve with small rho means the direction is changing quickly. That means more acceleration is needed.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6DC7E-30B2-8B56-93A9-17B61DF856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430D86-7F50-8B60-A086-5B5719BE2E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DED87B-83A4-C000-63B3-4CD3995272A5}"/>
              </a:ext>
            </a:extLst>
          </p:cNvPr>
          <p:cNvSpPr>
            <a:spLocks noGrp="1"/>
          </p:cNvSpPr>
          <p:nvPr>
            <p:ph type="body" idx="1"/>
          </p:nvPr>
        </p:nvSpPr>
        <p:spPr/>
        <p:txBody>
          <a:bodyPr/>
          <a:lstStyle/>
          <a:p>
            <a:r>
              <a:rPr lang="en-US" altLang="ja-JP" dirty="0"/>
              <a:t>Curved motion has two completely independent acceleration components. The tangential component </a:t>
            </a:r>
            <a:r>
              <a:rPr lang="en-US" altLang="ja-JP" dirty="0" err="1"/>
              <a:t>a_t</a:t>
            </a:r>
            <a:r>
              <a:rPr lang="en-US" altLang="ja-JP" dirty="0"/>
              <a:t> equals dv/dt. It is along the velocity vector. It controls speed change. If </a:t>
            </a:r>
            <a:r>
              <a:rPr lang="en-US" altLang="ja-JP" dirty="0" err="1"/>
              <a:t>a_t</a:t>
            </a:r>
            <a:r>
              <a:rPr lang="en-US" altLang="ja-JP" dirty="0"/>
              <a:t> is positive, the particle is speeding up. If negative, slowing down. The normal component </a:t>
            </a:r>
            <a:r>
              <a:rPr lang="en-US" altLang="ja-JP" dirty="0" err="1"/>
              <a:t>a_n</a:t>
            </a:r>
            <a:r>
              <a:rPr lang="en-US" altLang="ja-JP" dirty="0"/>
              <a:t> equals v-squared over rho. It points toward the center of curvature. It controls direction change. It is always present when the path is curved — even at constant speed. These two are always perpendicular. They never mix.</a:t>
            </a:r>
          </a:p>
          <a:p>
            <a:r>
              <a:rPr lang="en-US" altLang="ja-JP" dirty="0"/>
              <a:t>By the way, if you want to know why this formula, please check the appendix.</a:t>
            </a:r>
          </a:p>
        </p:txBody>
      </p:sp>
      <p:sp>
        <p:nvSpPr>
          <p:cNvPr id="4" name="Slide Number Placeholder 3">
            <a:extLst>
              <a:ext uri="{FF2B5EF4-FFF2-40B4-BE49-F238E27FC236}">
                <a16:creationId xmlns:a16="http://schemas.microsoft.com/office/drawing/2014/main" id="{B838FB89-4686-D741-118A-175F8D936E4F}"/>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5308922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ノート プレースホルダー 2"/>
          <p:cNvSpPr>
            <a:spLocks noGrp="1"/>
          </p:cNvSpPr>
          <p:nvPr>
            <p:ph type="body" idx="1"/>
          </p:nvPr>
        </p:nvSpPr>
        <p:spPr>
          <a:xfrm>
            <a:off x="685800" y="5867400"/>
            <a:ext cx="5486400" cy="4800600"/>
          </a:xfrm>
          <a:prstGeom prst="rect">
            <a:avLst/>
          </a:prstGeom>
        </p:spPr>
        <p:txBody>
          <a:bodyPr/>
          <a:lstStyle/>
          <a:p>
            <a:r>
              <a:rPr lang="en-US" altLang="ja-JP" dirty="0"/>
              <a:t>Projectile motion is a special case of curvilinear motion where the only acceleration is gravity. Horizontal: </a:t>
            </a:r>
            <a:r>
              <a:rPr lang="en-US" altLang="ja-JP" dirty="0" err="1"/>
              <a:t>a_x</a:t>
            </a:r>
            <a:r>
              <a:rPr lang="en-US" altLang="ja-JP" dirty="0"/>
              <a:t> = 0 — </a:t>
            </a:r>
            <a:r>
              <a:rPr lang="en-US" altLang="ja-JP" dirty="0" err="1"/>
              <a:t>v_x</a:t>
            </a:r>
            <a:r>
              <a:rPr lang="en-US" altLang="ja-JP" dirty="0"/>
              <a:t> stays constant throughout the entire flight. Vertical: </a:t>
            </a:r>
            <a:r>
              <a:rPr lang="en-US" altLang="ja-JP" dirty="0" err="1"/>
              <a:t>a_y</a:t>
            </a:r>
            <a:r>
              <a:rPr lang="en-US" altLang="ja-JP" dirty="0"/>
              <a:t> = −g — free fall. The key insight: treat x and y as two completely independent problems. Solve each axis separately, then combine only at the end. Warning: at the peak, </a:t>
            </a:r>
            <a:r>
              <a:rPr lang="en-US" altLang="ja-JP" dirty="0" err="1"/>
              <a:t>v_y</a:t>
            </a:r>
            <a:r>
              <a:rPr lang="en-US" altLang="ja-JP" dirty="0"/>
              <a:t> = 0, but acceleration is still g downward. Always.</a:t>
            </a:r>
            <a:endParaRPr kumimoji="1" lang="ja-JP" altLang="en-US"/>
          </a:p>
        </p:txBody>
      </p:sp>
    </p:spTree>
    <p:extLst>
      <p:ext uri="{BB962C8B-B14F-4D97-AF65-F5344CB8AC3E}">
        <p14:creationId xmlns:p14="http://schemas.microsoft.com/office/powerpoint/2010/main" val="40053988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EBBBD-3F4F-AD8A-3046-CBB77E9159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E3FFA7-F173-367D-9693-F9244BC490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3D91F0-EE7A-A342-6464-F6DDD276F7DA}"/>
              </a:ext>
            </a:extLst>
          </p:cNvPr>
          <p:cNvSpPr>
            <a:spLocks noGrp="1"/>
          </p:cNvSpPr>
          <p:nvPr>
            <p:ph type="body" idx="1"/>
          </p:nvPr>
        </p:nvSpPr>
        <p:spPr/>
        <p:txBody>
          <a:bodyPr/>
          <a:lstStyle/>
          <a:p>
            <a:r>
              <a:rPr lang="en-US" altLang="ja-JP" dirty="0"/>
              <a:t>When two objects are both moving, we often need to know how one looks from the other's point of view. This is relative motion — and it reduces to simple vector subtraction. The rule is always the same: take the quantity of B, subtract the quantity of A.</a:t>
            </a:r>
          </a:p>
          <a:p>
            <a:r>
              <a:rPr lang="en-US" altLang="ja-JP" dirty="0"/>
              <a:t>Relative position</a:t>
            </a:r>
            <a:r>
              <a:rPr lang="ja-JP" altLang="en-US"/>
              <a:t>：</a:t>
            </a:r>
            <a:r>
              <a:rPr lang="en-US" altLang="ja-JP" dirty="0" err="1"/>
              <a:t>r_B</a:t>
            </a:r>
            <a:r>
              <a:rPr lang="en-US" altLang="ja-JP" dirty="0"/>
              <a:t>/A = </a:t>
            </a:r>
            <a:r>
              <a:rPr lang="en-US" altLang="ja-JP" dirty="0" err="1"/>
              <a:t>r_B</a:t>
            </a:r>
            <a:r>
              <a:rPr lang="en-US" altLang="ja-JP" dirty="0"/>
              <a:t> − </a:t>
            </a:r>
            <a:r>
              <a:rPr lang="en-US" altLang="ja-JP" dirty="0" err="1"/>
              <a:t>r_A</a:t>
            </a:r>
            <a:r>
              <a:rPr lang="en-US" altLang="ja-JP" dirty="0"/>
              <a:t> Relative velocity</a:t>
            </a:r>
            <a:r>
              <a:rPr lang="ja-JP" altLang="en-US"/>
              <a:t>：</a:t>
            </a:r>
            <a:r>
              <a:rPr lang="en-US" altLang="ja-JP" dirty="0" err="1"/>
              <a:t>v_B</a:t>
            </a:r>
            <a:r>
              <a:rPr lang="en-US" altLang="ja-JP" dirty="0"/>
              <a:t>/A = </a:t>
            </a:r>
            <a:r>
              <a:rPr lang="en-US" altLang="ja-JP" dirty="0" err="1"/>
              <a:t>v_B</a:t>
            </a:r>
            <a:r>
              <a:rPr lang="en-US" altLang="ja-JP" dirty="0"/>
              <a:t> − </a:t>
            </a:r>
            <a:r>
              <a:rPr lang="en-US" altLang="ja-JP" dirty="0" err="1"/>
              <a:t>v_A</a:t>
            </a:r>
            <a:r>
              <a:rPr lang="en-US" altLang="ja-JP" dirty="0"/>
              <a:t> Relative acceleration</a:t>
            </a:r>
            <a:r>
              <a:rPr lang="ja-JP" altLang="en-US"/>
              <a:t>：</a:t>
            </a:r>
            <a:r>
              <a:rPr lang="en-US" altLang="ja-JP" dirty="0" err="1"/>
              <a:t>a_B</a:t>
            </a:r>
            <a:r>
              <a:rPr lang="en-US" altLang="ja-JP" dirty="0"/>
              <a:t>/A = </a:t>
            </a:r>
            <a:r>
              <a:rPr lang="en-US" altLang="ja-JP" dirty="0" err="1"/>
              <a:t>a_B</a:t>
            </a:r>
            <a:r>
              <a:rPr lang="en-US" altLang="ja-JP" dirty="0"/>
              <a:t> − </a:t>
            </a:r>
            <a:r>
              <a:rPr lang="en-US" altLang="ja-JP" dirty="0" err="1"/>
              <a:t>a_A</a:t>
            </a:r>
            <a:endParaRPr lang="en-US" altLang="ja-JP" dirty="0"/>
          </a:p>
          <a:p>
            <a:r>
              <a:rPr lang="en-US" altLang="ja-JP" dirty="0"/>
              <a:t>One rule. Three quantities. Always subtraction.</a:t>
            </a:r>
          </a:p>
        </p:txBody>
      </p:sp>
      <p:sp>
        <p:nvSpPr>
          <p:cNvPr id="4" name="Slide Number Placeholder 3">
            <a:extLst>
              <a:ext uri="{FF2B5EF4-FFF2-40B4-BE49-F238E27FC236}">
                <a16:creationId xmlns:a16="http://schemas.microsoft.com/office/drawing/2014/main" id="{D71F5559-BFAF-CE8B-93C5-2822AFB6CF20}"/>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7069506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dirty="0"/>
              <a:t>Strategy: Before writing any equation, identify which situation you have. If you see a curved path with known speed: use T-N decomposition. </a:t>
            </a:r>
            <a:r>
              <a:rPr lang="en-US" altLang="ja-JP" dirty="0" err="1"/>
              <a:t>a_t</a:t>
            </a:r>
            <a:r>
              <a:rPr lang="en-US" altLang="ja-JP" dirty="0"/>
              <a:t> for speed change, </a:t>
            </a:r>
            <a:r>
              <a:rPr lang="en-US" altLang="ja-JP" dirty="0" err="1"/>
              <a:t>a_n</a:t>
            </a:r>
            <a:r>
              <a:rPr lang="en-US" altLang="ja-JP" dirty="0"/>
              <a:t> for direction change. If you see a launch angle and gravity: use projectile method. Decompose into x and y. Solve independently. If two observers are both moving: use relative velocity. Subtract vectors. The procedure is always: identify the path type, choose the right coordinate system, write equations per direction, apply initial conditions, 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dirty="0"/>
              <a:t>Let’s solve examples : Basic 1. A car moves along a curved path. Its speed is increasing. It is turning left. Find the directions of tangential and normal acceleration. For </a:t>
            </a:r>
            <a:r>
              <a:rPr lang="en-US" altLang="ja-JP" dirty="0" err="1"/>
              <a:t>a_t</a:t>
            </a:r>
            <a:r>
              <a:rPr lang="en-US" altLang="ja-JP" dirty="0"/>
              <a:t>: speed is increasing, so </a:t>
            </a:r>
            <a:r>
              <a:rPr lang="en-US" altLang="ja-JP" dirty="0" err="1"/>
              <a:t>a_t</a:t>
            </a:r>
            <a:r>
              <a:rPr lang="en-US" altLang="ja-JP" dirty="0"/>
              <a:t> points in the same direction as velocity — forward. For </a:t>
            </a:r>
            <a:r>
              <a:rPr lang="en-US" altLang="ja-JP" dirty="0" err="1"/>
              <a:t>a_n</a:t>
            </a:r>
            <a:r>
              <a:rPr lang="en-US" altLang="ja-JP" dirty="0"/>
              <a:t>: the car turns left, so the center of curvature is to the left. </a:t>
            </a:r>
            <a:r>
              <a:rPr lang="en-US" altLang="ja-JP" dirty="0" err="1"/>
              <a:t>a_n</a:t>
            </a:r>
            <a:r>
              <a:rPr lang="en-US" altLang="ja-JP" dirty="0"/>
              <a:t> always points toward the center — so it points left. These two are perpendicular. The total acceleration is the vector sum. Key insight: </a:t>
            </a:r>
            <a:r>
              <a:rPr lang="en-US" altLang="ja-JP" dirty="0" err="1"/>
              <a:t>a_t</a:t>
            </a:r>
            <a:r>
              <a:rPr lang="en-US" altLang="ja-JP" dirty="0"/>
              <a:t> and </a:t>
            </a:r>
            <a:r>
              <a:rPr lang="en-US" altLang="ja-JP" dirty="0" err="1"/>
              <a:t>a_n</a:t>
            </a:r>
            <a:r>
              <a:rPr lang="en-US" altLang="ja-JP" dirty="0"/>
              <a:t> each tell you something different. </a:t>
            </a:r>
            <a:r>
              <a:rPr lang="en-US" altLang="ja-JP" dirty="0" err="1"/>
              <a:t>a_t</a:t>
            </a:r>
            <a:r>
              <a:rPr lang="en-US" altLang="ja-JP" dirty="0"/>
              <a:t> tells you how fast the speed is changing. </a:t>
            </a:r>
            <a:r>
              <a:rPr lang="en-US" altLang="ja-JP" dirty="0" err="1"/>
              <a:t>a_n</a:t>
            </a:r>
            <a:r>
              <a:rPr lang="en-US" altLang="ja-JP" dirty="0"/>
              <a:t> tells you how fast the direction is changing. They are independent.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dirty="0"/>
              <a:t>Let’s solve next example. Basic 2. A particle moves in a circle of radius 5 meters at constant speed 10 meters per second. Find the normal acceleration. </a:t>
            </a:r>
            <a:r>
              <a:rPr lang="en-US" altLang="ja-JP" dirty="0" err="1"/>
              <a:t>a_n</a:t>
            </a:r>
            <a:r>
              <a:rPr lang="en-US" altLang="ja-JP" dirty="0"/>
              <a:t> = v-squared divided by r = 100 divided by 5 = 20 meters per second squared. Since speed is constant, </a:t>
            </a:r>
            <a:r>
              <a:rPr lang="en-US" altLang="ja-JP" dirty="0" err="1"/>
              <a:t>a_t</a:t>
            </a:r>
            <a:r>
              <a:rPr lang="en-US" altLang="ja-JP" dirty="0"/>
              <a:t> = dv/dt = 0. All of the acceleration is centripetal — pointing toward the center. Physical meaning: the particle is continuously changing direction. Even at constant speed, acceleration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dirty="0"/>
              <a:t>Key takeaway: </a:t>
            </a:r>
            <a:r>
              <a:rPr lang="en-US" altLang="ja-JP" dirty="0" err="1"/>
              <a:t>a_t</a:t>
            </a:r>
            <a:r>
              <a:rPr lang="en-US" altLang="ja-JP" dirty="0"/>
              <a:t> controls speed. </a:t>
            </a:r>
            <a:r>
              <a:rPr lang="en-US" altLang="ja-JP" dirty="0" err="1"/>
              <a:t>a_n</a:t>
            </a:r>
            <a:r>
              <a:rPr lang="en-US" altLang="ja-JP" dirty="0"/>
              <a:t> controls direction. They are always perpendicular. For relative motion: subtract vectors.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2.mp3"/><Relationship Id="rId1" Type="http://schemas.microsoft.com/office/2007/relationships/media" Target="../media/media2.mp3"/><Relationship Id="rId5" Type="http://schemas.openxmlformats.org/officeDocument/2006/relationships/image" Target="../media/image1.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3.mp3"/><Relationship Id="rId1" Type="http://schemas.microsoft.com/office/2007/relationships/media" Target="../media/media3.mp3"/><Relationship Id="rId5" Type="http://schemas.openxmlformats.org/officeDocument/2006/relationships/image" Target="../media/image1.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4.mp3"/><Relationship Id="rId1" Type="http://schemas.microsoft.com/office/2007/relationships/media" Target="../media/media4.mp3"/><Relationship Id="rId5" Type="http://schemas.openxmlformats.org/officeDocument/2006/relationships/image" Target="../media/image1.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5.mp3"/><Relationship Id="rId1" Type="http://schemas.microsoft.com/office/2007/relationships/media" Target="../media/media5.mp3"/><Relationship Id="rId5" Type="http://schemas.openxmlformats.org/officeDocument/2006/relationships/image" Target="../media/image1.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1.png"/><Relationship Id="rId5"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7.mp3"/><Relationship Id="rId1" Type="http://schemas.microsoft.com/office/2007/relationships/media" Target="../media/media7.mp3"/><Relationship Id="rId5" Type="http://schemas.openxmlformats.org/officeDocument/2006/relationships/image" Target="../media/image1.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1.png"/><Relationship Id="rId5" Type="http://schemas.openxmlformats.org/officeDocument/2006/relationships/image" Target="../media/image3.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9.mp3"/><Relationship Id="rId1" Type="http://schemas.microsoft.com/office/2007/relationships/media" Target="../media/media9.mp3"/><Relationship Id="rId5" Type="http://schemas.openxmlformats.org/officeDocument/2006/relationships/image" Target="../media/image1.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0.mp3"/><Relationship Id="rId1" Type="http://schemas.microsoft.com/office/2007/relationships/media" Target="../media/media10.mp3"/><Relationship Id="rId5" Type="http://schemas.openxmlformats.org/officeDocument/2006/relationships/image" Target="../media/image1.png"/><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12192000" cy="457200"/>
          </a:xfrm>
          <a:prstGeom prst="rect">
            <a:avLst/>
          </a:prstGeom>
          <a:solidFill>
            <a:srgbClr val="DFDFB6"/>
          </a:solidFill>
          <a:ln/>
        </p:spPr>
        <p:txBody>
          <a:bodyPr/>
          <a:lstStyle/>
          <a:p>
            <a:endParaRPr lang="ja-JP" altLang="en-US"/>
          </a:p>
        </p:txBody>
      </p:sp>
      <p:sp>
        <p:nvSpPr>
          <p:cNvPr id="3" name="Text 1"/>
          <p:cNvSpPr/>
          <p:nvPr/>
        </p:nvSpPr>
        <p:spPr>
          <a:xfrm>
            <a:off x="640080" y="182880"/>
            <a:ext cx="3657600" cy="274320"/>
          </a:xfrm>
          <a:prstGeom prst="rect">
            <a:avLst/>
          </a:prstGeom>
          <a:noFill/>
          <a:ln/>
        </p:spPr>
        <p:txBody>
          <a:bodyPr wrap="square" rtlCol="0" anchor="ctr"/>
          <a:lstStyle/>
          <a:p>
            <a:pPr marL="0" indent="0">
              <a:buNone/>
            </a:pPr>
            <a:r>
              <a:rPr lang="en-US" sz="1400" dirty="0">
                <a:solidFill>
                  <a:srgbClr val="46789B"/>
                </a:solidFill>
                <a:latin typeface="Helvetica Neue" pitchFamily="34" charset="0"/>
                <a:ea typeface="Helvetica Neue" pitchFamily="34" charset="-122"/>
                <a:cs typeface="Helvetica Neue" pitchFamily="34" charset="-120"/>
              </a:rPr>
              <a:t>Lecture 2 | Chapter 11</a:t>
            </a:r>
            <a:endParaRPr lang="en-US" sz="1400" dirty="0"/>
          </a:p>
        </p:txBody>
      </p:sp>
      <p:sp>
        <p:nvSpPr>
          <p:cNvPr id="4" name="Text 2"/>
          <p:cNvSpPr/>
          <p:nvPr/>
        </p:nvSpPr>
        <p:spPr>
          <a:xfrm>
            <a:off x="640080" y="3154680"/>
            <a:ext cx="8229600" cy="548640"/>
          </a:xfrm>
          <a:prstGeom prst="rect">
            <a:avLst/>
          </a:prstGeom>
          <a:noFill/>
          <a:ln/>
        </p:spPr>
        <p:txBody>
          <a:bodyPr wrap="square" rtlCol="0" anchor="ctr"/>
          <a:lstStyle/>
          <a:p>
            <a:pPr marL="0" indent="0">
              <a:buNone/>
            </a:pPr>
            <a:r>
              <a:rPr lang="en-US" sz="3600" b="1" dirty="0">
                <a:solidFill>
                  <a:srgbClr val="46789B"/>
                </a:solidFill>
                <a:latin typeface="Helvetica Neue" pitchFamily="34" charset="0"/>
                <a:ea typeface="Helvetica Neue" pitchFamily="34" charset="-122"/>
                <a:cs typeface="Helvetica Neue" pitchFamily="34" charset="-120"/>
              </a:rPr>
              <a:t>Curvilinear Motion &amp; Relative Motion</a:t>
            </a:r>
            <a:endParaRPr lang="en-US" sz="3600" dirty="0"/>
          </a:p>
        </p:txBody>
      </p:sp>
      <p:sp>
        <p:nvSpPr>
          <p:cNvPr id="5" name="Text 3"/>
          <p:cNvSpPr/>
          <p:nvPr/>
        </p:nvSpPr>
        <p:spPr>
          <a:xfrm>
            <a:off x="1371600" y="4004534"/>
            <a:ext cx="9144000" cy="1371600"/>
          </a:xfrm>
          <a:prstGeom prst="rect">
            <a:avLst/>
          </a:prstGeom>
          <a:noFill/>
          <a:ln/>
        </p:spPr>
        <p:txBody>
          <a:bodyPr wrap="square" rtlCol="0" anchor="ctr"/>
          <a:lstStyle/>
          <a:p>
            <a:pPr marL="0" indent="0" algn="ctr">
              <a:buNone/>
            </a:pPr>
            <a:r>
              <a:rPr lang="en-US" sz="2400" b="1" dirty="0">
                <a:solidFill>
                  <a:srgbClr val="B9BA99"/>
                </a:solidFill>
                <a:latin typeface="Helvetica Neue" pitchFamily="34" charset="0"/>
                <a:ea typeface="Helvetica Neue" pitchFamily="34" charset="-122"/>
                <a:cs typeface="Helvetica Neue" pitchFamily="34" charset="-120"/>
              </a:rPr>
              <a:t>T–N Coordinates · Projectile · Relative Velocity</a:t>
            </a:r>
            <a:endParaRPr lang="en-US" sz="2400" dirty="0">
              <a:solidFill>
                <a:srgbClr val="B9BA99"/>
              </a:solidFill>
            </a:endParaRPr>
          </a:p>
        </p:txBody>
      </p:sp>
      <p:sp>
        <p:nvSpPr>
          <p:cNvPr id="6" name="フリーフォーム 5">
            <a:extLst>
              <a:ext uri="{FF2B5EF4-FFF2-40B4-BE49-F238E27FC236}">
                <a16:creationId xmlns:a16="http://schemas.microsoft.com/office/drawing/2014/main" id="{66C16829-67DA-43ED-EFBD-8C71D32B3E8F}"/>
              </a:ext>
            </a:extLst>
          </p:cNvPr>
          <p:cNvSpPr/>
          <p:nvPr/>
        </p:nvSpPr>
        <p:spPr>
          <a:xfrm>
            <a:off x="6778171" y="4920343"/>
            <a:ext cx="4513943" cy="1586583"/>
          </a:xfrm>
          <a:custGeom>
            <a:avLst/>
            <a:gdLst>
              <a:gd name="csX0" fmla="*/ 0 w 4513943"/>
              <a:gd name="csY0" fmla="*/ 943428 h 1586583"/>
              <a:gd name="csX1" fmla="*/ 986972 w 4513943"/>
              <a:gd name="csY1" fmla="*/ 493486 h 1586583"/>
              <a:gd name="csX2" fmla="*/ 2554515 w 4513943"/>
              <a:gd name="csY2" fmla="*/ 1582057 h 1586583"/>
              <a:gd name="csX3" fmla="*/ 4513943 w 4513943"/>
              <a:gd name="csY3" fmla="*/ 0 h 1586583"/>
            </a:gdLst>
            <a:ahLst/>
            <a:cxnLst>
              <a:cxn ang="0">
                <a:pos x="csX0" y="csY0"/>
              </a:cxn>
              <a:cxn ang="0">
                <a:pos x="csX1" y="csY1"/>
              </a:cxn>
              <a:cxn ang="0">
                <a:pos x="csX2" y="csY2"/>
              </a:cxn>
              <a:cxn ang="0">
                <a:pos x="csX3" y="csY3"/>
              </a:cxn>
            </a:cxnLst>
            <a:rect l="l" t="t" r="r" b="b"/>
            <a:pathLst>
              <a:path w="4513943" h="1586583">
                <a:moveTo>
                  <a:pt x="0" y="943428"/>
                </a:moveTo>
                <a:cubicBezTo>
                  <a:pt x="280610" y="665238"/>
                  <a:pt x="561220" y="387048"/>
                  <a:pt x="986972" y="493486"/>
                </a:cubicBezTo>
                <a:cubicBezTo>
                  <a:pt x="1412724" y="599924"/>
                  <a:pt x="1966687" y="1664305"/>
                  <a:pt x="2554515" y="1582057"/>
                </a:cubicBezTo>
                <a:cubicBezTo>
                  <a:pt x="3142344" y="1499809"/>
                  <a:pt x="3828143" y="749904"/>
                  <a:pt x="4513943" y="0"/>
                </a:cubicBezTo>
              </a:path>
            </a:pathLst>
          </a:custGeom>
          <a:noFill/>
          <a:ln w="38100">
            <a:solidFill>
              <a:srgbClr val="B9BA99"/>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7" name="Class Voice (13)">
            <a:hlinkClick r:id="" action="ppaction://media"/>
            <a:extLst>
              <a:ext uri="{FF2B5EF4-FFF2-40B4-BE49-F238E27FC236}">
                <a16:creationId xmlns:a16="http://schemas.microsoft.com/office/drawing/2014/main" id="{BD5E2627-A473-B36F-7D0E-79FC8035F0F0}"/>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539240" y="0"/>
            <a:ext cx="812800" cy="812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8684"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7"/>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331A1DF-1989-0BDD-1A88-451A00EF3E43}"/>
              </a:ext>
            </a:extLst>
          </p:cNvPr>
          <p:cNvSpPr/>
          <p:nvPr/>
        </p:nvSpPr>
        <p:spPr>
          <a:xfrm>
            <a:off x="0" y="0"/>
            <a:ext cx="12192000" cy="457200"/>
          </a:xfrm>
          <a:prstGeom prst="rect">
            <a:avLst/>
          </a:prstGeom>
          <a:solidFill>
            <a:srgbClr val="DFDFB6"/>
          </a:solidFill>
          <a:ln/>
        </p:spPr>
        <p:txBody>
          <a:bodyPr/>
          <a:lstStyle/>
          <a:p>
            <a:endParaRPr lang="ja-JP" altLang="en-US"/>
          </a:p>
        </p:txBody>
      </p:sp>
      <p:sp>
        <p:nvSpPr>
          <p:cNvPr id="3" name="Text 1">
            <a:extLst>
              <a:ext uri="{FF2B5EF4-FFF2-40B4-BE49-F238E27FC236}">
                <a16:creationId xmlns:a16="http://schemas.microsoft.com/office/drawing/2014/main" id="{FA48ABD0-DD57-D4B4-8EDD-61792C7284BB}"/>
              </a:ext>
            </a:extLst>
          </p:cNvPr>
          <p:cNvSpPr/>
          <p:nvPr/>
        </p:nvSpPr>
        <p:spPr>
          <a:xfrm>
            <a:off x="640080" y="182880"/>
            <a:ext cx="3657600" cy="274320"/>
          </a:xfrm>
          <a:prstGeom prst="rect">
            <a:avLst/>
          </a:prstGeom>
          <a:noFill/>
          <a:ln/>
        </p:spPr>
        <p:txBody>
          <a:bodyPr wrap="square" rtlCol="0" anchor="ctr"/>
          <a:lstStyle/>
          <a:p>
            <a:pPr marL="0" indent="0">
              <a:buNone/>
            </a:pPr>
            <a:r>
              <a:rPr lang="en-US" sz="1400" dirty="0">
                <a:solidFill>
                  <a:srgbClr val="46789B"/>
                </a:solidFill>
                <a:latin typeface="Helvetica Neue" pitchFamily="34" charset="0"/>
                <a:ea typeface="Helvetica Neue" pitchFamily="34" charset="-122"/>
                <a:cs typeface="Helvetica Neue" pitchFamily="34" charset="-120"/>
              </a:rPr>
              <a:t>Lecture 2</a:t>
            </a:r>
            <a:endParaRPr lang="en-US" sz="1400" dirty="0"/>
          </a:p>
        </p:txBody>
      </p:sp>
      <p:sp>
        <p:nvSpPr>
          <p:cNvPr id="4" name="Text 2">
            <a:extLst>
              <a:ext uri="{FF2B5EF4-FFF2-40B4-BE49-F238E27FC236}">
                <a16:creationId xmlns:a16="http://schemas.microsoft.com/office/drawing/2014/main" id="{EC09C94A-C44B-06BC-A790-1D2382491E16}"/>
              </a:ext>
            </a:extLst>
          </p:cNvPr>
          <p:cNvSpPr/>
          <p:nvPr/>
        </p:nvSpPr>
        <p:spPr>
          <a:xfrm>
            <a:off x="640080" y="608079"/>
            <a:ext cx="11551920" cy="548640"/>
          </a:xfrm>
          <a:prstGeom prst="rect">
            <a:avLst/>
          </a:prstGeom>
          <a:noFill/>
          <a:ln/>
        </p:spPr>
        <p:txBody>
          <a:bodyPr wrap="square" rtlCol="0" anchor="ctr"/>
          <a:lstStyle/>
          <a:p>
            <a:r>
              <a:rPr lang="en-US" altLang="ja-JP" sz="3600" b="1" dirty="0">
                <a:solidFill>
                  <a:srgbClr val="46789B"/>
                </a:solidFill>
                <a:latin typeface="Helvetica Neue" pitchFamily="34" charset="0"/>
                <a:ea typeface="Helvetica Neue" pitchFamily="34" charset="-122"/>
                <a:cs typeface="Helvetica Neue" pitchFamily="34" charset="-120"/>
              </a:rPr>
              <a:t>KEY POINTS: </a:t>
            </a:r>
            <a:r>
              <a:rPr lang="en-US" altLang="ja-JP" sz="2800" b="1" dirty="0">
                <a:solidFill>
                  <a:srgbClr val="46789B"/>
                </a:solidFill>
                <a:latin typeface="Helvetica Neue" pitchFamily="34" charset="0"/>
                <a:ea typeface="Helvetica Neue" pitchFamily="34" charset="-122"/>
                <a:cs typeface="Helvetica Neue" pitchFamily="34" charset="-120"/>
              </a:rPr>
              <a:t>Curvilinear motion </a:t>
            </a:r>
            <a:r>
              <a:rPr lang="en-US" altLang="ja-JP" sz="2800" dirty="0">
                <a:solidFill>
                  <a:srgbClr val="46789B"/>
                </a:solidFill>
                <a:latin typeface="Helvetica Neue" panose="02000503000000020004" pitchFamily="2" charset="0"/>
                <a:ea typeface="Helvetica Neue" panose="02000503000000020004" pitchFamily="2" charset="0"/>
                <a:cs typeface="Helvetica Neue" panose="02000503000000020004" pitchFamily="2" charset="0"/>
              </a:rPr>
              <a:t>- Is a turning car accelerating? -</a:t>
            </a:r>
            <a:endParaRPr lang="en-US" sz="2800" dirty="0">
              <a:solidFill>
                <a:srgbClr val="46789B"/>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 name="円/楕円 4">
            <a:extLst>
              <a:ext uri="{FF2B5EF4-FFF2-40B4-BE49-F238E27FC236}">
                <a16:creationId xmlns:a16="http://schemas.microsoft.com/office/drawing/2014/main" id="{9E504B50-995E-668B-53CB-76793FDF3801}"/>
              </a:ext>
            </a:extLst>
          </p:cNvPr>
          <p:cNvSpPr/>
          <p:nvPr/>
        </p:nvSpPr>
        <p:spPr>
          <a:xfrm>
            <a:off x="2468880" y="3012467"/>
            <a:ext cx="443345" cy="416533"/>
          </a:xfrm>
          <a:prstGeom prst="ellipse">
            <a:avLst/>
          </a:prstGeom>
          <a:solidFill>
            <a:srgbClr val="467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フリーフォーム 5">
            <a:extLst>
              <a:ext uri="{FF2B5EF4-FFF2-40B4-BE49-F238E27FC236}">
                <a16:creationId xmlns:a16="http://schemas.microsoft.com/office/drawing/2014/main" id="{C8578C2D-EDC4-1A29-9526-C393EE5B23FA}"/>
              </a:ext>
            </a:extLst>
          </p:cNvPr>
          <p:cNvSpPr/>
          <p:nvPr/>
        </p:nvSpPr>
        <p:spPr>
          <a:xfrm>
            <a:off x="1934722" y="2315129"/>
            <a:ext cx="787521" cy="2227741"/>
          </a:xfrm>
          <a:custGeom>
            <a:avLst/>
            <a:gdLst>
              <a:gd name="csX0" fmla="*/ 0 w 1055215"/>
              <a:gd name="csY0" fmla="*/ 0 h 3629891"/>
              <a:gd name="csX1" fmla="*/ 955963 w 1055215"/>
              <a:gd name="csY1" fmla="*/ 1427018 h 3629891"/>
              <a:gd name="csX2" fmla="*/ 1025236 w 1055215"/>
              <a:gd name="csY2" fmla="*/ 3629891 h 3629891"/>
              <a:gd name="csX3" fmla="*/ 1025236 w 1055215"/>
              <a:gd name="csY3" fmla="*/ 3629891 h 3629891"/>
              <a:gd name="csX0" fmla="*/ 0 w 1025237"/>
              <a:gd name="csY0" fmla="*/ 0 h 3629891"/>
              <a:gd name="csX1" fmla="*/ 1025236 w 1025237"/>
              <a:gd name="csY1" fmla="*/ 3629891 h 3629891"/>
              <a:gd name="csX2" fmla="*/ 1025236 w 1025237"/>
              <a:gd name="csY2" fmla="*/ 3629891 h 3629891"/>
              <a:gd name="csX0" fmla="*/ 0 w 1025235"/>
              <a:gd name="csY0" fmla="*/ 0 h 3629891"/>
              <a:gd name="csX1" fmla="*/ 1025236 w 1025235"/>
              <a:gd name="csY1" fmla="*/ 3629891 h 3629891"/>
              <a:gd name="csX2" fmla="*/ 1025236 w 1025235"/>
              <a:gd name="csY2" fmla="*/ 3629891 h 3629891"/>
              <a:gd name="csX0" fmla="*/ 0 w 1251452"/>
              <a:gd name="csY0" fmla="*/ 0 h 3629891"/>
              <a:gd name="csX1" fmla="*/ 1025236 w 1251452"/>
              <a:gd name="csY1" fmla="*/ 3629891 h 3629891"/>
              <a:gd name="csX2" fmla="*/ 1025236 w 1251452"/>
              <a:gd name="csY2" fmla="*/ 3629891 h 3629891"/>
            </a:gdLst>
            <a:ahLst/>
            <a:cxnLst>
              <a:cxn ang="0">
                <a:pos x="csX0" y="csY0"/>
              </a:cxn>
              <a:cxn ang="0">
                <a:pos x="csX1" y="csY1"/>
              </a:cxn>
              <a:cxn ang="0">
                <a:pos x="csX2" y="csY2"/>
              </a:cxn>
            </a:cxnLst>
            <a:rect l="l" t="t" r="r" b="b"/>
            <a:pathLst>
              <a:path w="1251452" h="3629891">
                <a:moveTo>
                  <a:pt x="0" y="0"/>
                </a:moveTo>
                <a:cubicBezTo>
                  <a:pt x="1522369" y="674521"/>
                  <a:pt x="1364620" y="2396649"/>
                  <a:pt x="1025236" y="3629891"/>
                </a:cubicBezTo>
                <a:lnTo>
                  <a:pt x="1025236" y="3629891"/>
                </a:lnTo>
              </a:path>
            </a:pathLst>
          </a:custGeom>
          <a:noFill/>
          <a:ln>
            <a:solidFill>
              <a:srgbClr val="46789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右矢印 6">
            <a:extLst>
              <a:ext uri="{FF2B5EF4-FFF2-40B4-BE49-F238E27FC236}">
                <a16:creationId xmlns:a16="http://schemas.microsoft.com/office/drawing/2014/main" id="{6A58B709-71E6-D9D7-3223-0C794FA84FA7}"/>
              </a:ext>
            </a:extLst>
          </p:cNvPr>
          <p:cNvSpPr/>
          <p:nvPr/>
        </p:nvSpPr>
        <p:spPr>
          <a:xfrm rot="14342416">
            <a:off x="3165690" y="2702304"/>
            <a:ext cx="530400" cy="397438"/>
          </a:xfrm>
          <a:prstGeom prst="rightArrow">
            <a:avLst/>
          </a:prstGeom>
          <a:solidFill>
            <a:srgbClr val="9EB5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84D45D6A-1FB5-FA0C-6F3F-59012DC5D6CA}"/>
              </a:ext>
            </a:extLst>
          </p:cNvPr>
          <p:cNvSpPr/>
          <p:nvPr/>
        </p:nvSpPr>
        <p:spPr>
          <a:xfrm rot="14279854">
            <a:off x="2702087" y="3025151"/>
            <a:ext cx="95821" cy="125515"/>
          </a:xfrm>
          <a:prstGeom prst="rect">
            <a:avLst/>
          </a:prstGeom>
          <a:noFill/>
          <a:ln w="6350">
            <a:solidFill>
              <a:schemeClr val="bg1">
                <a:lumMod val="6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Text 3">
            <a:extLst>
              <a:ext uri="{FF2B5EF4-FFF2-40B4-BE49-F238E27FC236}">
                <a16:creationId xmlns:a16="http://schemas.microsoft.com/office/drawing/2014/main" id="{B13CF480-C185-675F-6C84-AA2A8EC0C6B7}"/>
              </a:ext>
            </a:extLst>
          </p:cNvPr>
          <p:cNvSpPr/>
          <p:nvPr/>
        </p:nvSpPr>
        <p:spPr>
          <a:xfrm>
            <a:off x="2912225" y="3161797"/>
            <a:ext cx="3286280" cy="837003"/>
          </a:xfrm>
          <a:prstGeom prst="rect">
            <a:avLst/>
          </a:prstGeom>
          <a:noFill/>
          <a:ln/>
        </p:spPr>
        <p:txBody>
          <a:bodyPr wrap="square" rtlCol="0" anchor="ctr"/>
          <a:lstStyle/>
          <a:p>
            <a:pPr>
              <a:buSzPct val="100000"/>
            </a:pPr>
            <a:r>
              <a:rPr lang="en-US" sz="2400" dirty="0">
                <a:solidFill>
                  <a:srgbClr val="46789B"/>
                </a:solidFill>
                <a:latin typeface="Helvetica Neue" panose="02000503000000020004" pitchFamily="2" charset="0"/>
                <a:ea typeface="Helvetica Neue" panose="02000503000000020004" pitchFamily="2" charset="0"/>
                <a:cs typeface="Helvetica Neue" panose="02000503000000020004" pitchFamily="2" charset="0"/>
              </a:rPr>
              <a:t>Car</a:t>
            </a:r>
          </a:p>
        </p:txBody>
      </p:sp>
      <p:sp>
        <p:nvSpPr>
          <p:cNvPr id="18" name="Text 3">
            <a:extLst>
              <a:ext uri="{FF2B5EF4-FFF2-40B4-BE49-F238E27FC236}">
                <a16:creationId xmlns:a16="http://schemas.microsoft.com/office/drawing/2014/main" id="{E82AF09E-EA01-BA73-7630-A726D42D8E22}"/>
              </a:ext>
            </a:extLst>
          </p:cNvPr>
          <p:cNvSpPr/>
          <p:nvPr/>
        </p:nvSpPr>
        <p:spPr>
          <a:xfrm>
            <a:off x="3737726" y="2434352"/>
            <a:ext cx="3286280" cy="837003"/>
          </a:xfrm>
          <a:prstGeom prst="rect">
            <a:avLst/>
          </a:prstGeom>
          <a:noFill/>
          <a:ln/>
        </p:spPr>
        <p:txBody>
          <a:bodyPr wrap="square" rtlCol="0" anchor="ctr"/>
          <a:lstStyle/>
          <a:p>
            <a:pPr>
              <a:buSzPct val="100000"/>
            </a:pPr>
            <a:r>
              <a:rPr lang="en-US" sz="2400" dirty="0">
                <a:solidFill>
                  <a:srgbClr val="9EB5D6"/>
                </a:solidFill>
                <a:latin typeface="Helvetica Neue" panose="02000503000000020004" pitchFamily="2" charset="0"/>
                <a:ea typeface="Helvetica Neue" panose="02000503000000020004" pitchFamily="2" charset="0"/>
                <a:cs typeface="Helvetica Neue" panose="02000503000000020004" pitchFamily="2" charset="0"/>
              </a:rPr>
              <a:t>Constant speed</a:t>
            </a:r>
          </a:p>
        </p:txBody>
      </p:sp>
      <p:sp>
        <p:nvSpPr>
          <p:cNvPr id="19" name="Shape 3">
            <a:extLst>
              <a:ext uri="{FF2B5EF4-FFF2-40B4-BE49-F238E27FC236}">
                <a16:creationId xmlns:a16="http://schemas.microsoft.com/office/drawing/2014/main" id="{B0012878-93EA-FAD4-3A7C-5525B4D96D03}"/>
              </a:ext>
            </a:extLst>
          </p:cNvPr>
          <p:cNvSpPr/>
          <p:nvPr/>
        </p:nvSpPr>
        <p:spPr>
          <a:xfrm>
            <a:off x="842963" y="5591888"/>
            <a:ext cx="10058400" cy="837004"/>
          </a:xfrm>
          <a:prstGeom prst="rect">
            <a:avLst/>
          </a:prstGeom>
          <a:solidFill>
            <a:srgbClr val="DFDFB6"/>
          </a:solidFill>
          <a:ln/>
        </p:spPr>
        <p:txBody>
          <a:bodyPr/>
          <a:lstStyle/>
          <a:p>
            <a:endParaRPr lang="ja-JP" altLang="en-US"/>
          </a:p>
        </p:txBody>
      </p:sp>
      <p:sp>
        <p:nvSpPr>
          <p:cNvPr id="20" name="Text 4">
            <a:extLst>
              <a:ext uri="{FF2B5EF4-FFF2-40B4-BE49-F238E27FC236}">
                <a16:creationId xmlns:a16="http://schemas.microsoft.com/office/drawing/2014/main" id="{BD39D756-9D36-42BF-E911-756F142F3BA3}"/>
              </a:ext>
            </a:extLst>
          </p:cNvPr>
          <p:cNvSpPr/>
          <p:nvPr/>
        </p:nvSpPr>
        <p:spPr>
          <a:xfrm>
            <a:off x="1071563" y="5742648"/>
            <a:ext cx="9601200" cy="548640"/>
          </a:xfrm>
          <a:prstGeom prst="rect">
            <a:avLst/>
          </a:prstGeom>
          <a:noFill/>
          <a:ln/>
        </p:spPr>
        <p:txBody>
          <a:bodyPr wrap="square" rtlCol="0" anchor="ctr"/>
          <a:lstStyle/>
          <a:p>
            <a:pPr marL="0" indent="0" algn="ctr">
              <a:buNone/>
            </a:pPr>
            <a:r>
              <a:rPr lang="en-US" sz="2400" b="1" dirty="0">
                <a:solidFill>
                  <a:srgbClr val="46789B"/>
                </a:solidFill>
                <a:latin typeface="Helvetica Neue" pitchFamily="34" charset="0"/>
                <a:ea typeface="Helvetica Neue" pitchFamily="34" charset="-122"/>
                <a:cs typeface="Helvetica Neue" pitchFamily="34" charset="-120"/>
              </a:rPr>
              <a:t>Curved motion has acceleration even at constant speed.</a:t>
            </a:r>
          </a:p>
        </p:txBody>
      </p:sp>
      <p:sp>
        <p:nvSpPr>
          <p:cNvPr id="22" name="テキスト ボックス 21">
            <a:extLst>
              <a:ext uri="{FF2B5EF4-FFF2-40B4-BE49-F238E27FC236}">
                <a16:creationId xmlns:a16="http://schemas.microsoft.com/office/drawing/2014/main" id="{F8F01837-23D4-1286-9AB1-A52623C5F097}"/>
              </a:ext>
            </a:extLst>
          </p:cNvPr>
          <p:cNvSpPr txBox="1"/>
          <p:nvPr/>
        </p:nvSpPr>
        <p:spPr>
          <a:xfrm>
            <a:off x="1688646" y="5067103"/>
            <a:ext cx="6098720" cy="400110"/>
          </a:xfrm>
          <a:prstGeom prst="rect">
            <a:avLst/>
          </a:prstGeom>
          <a:noFill/>
        </p:spPr>
        <p:txBody>
          <a:bodyPr wrap="square">
            <a:spAutoFit/>
          </a:bodyPr>
          <a:lstStyle/>
          <a:p>
            <a:r>
              <a:rPr lang="en-US" altLang="ja-JP" sz="2000" dirty="0">
                <a:latin typeface="Helvetica Neue" panose="02000503000000020004" pitchFamily="2" charset="0"/>
                <a:ea typeface="Helvetica Neue" panose="02000503000000020004" pitchFamily="2" charset="0"/>
                <a:cs typeface="Helvetica Neue" panose="02000503000000020004" pitchFamily="2" charset="0"/>
              </a:rPr>
              <a:t>Velocity = magnitude + direction</a:t>
            </a:r>
          </a:p>
        </p:txBody>
      </p:sp>
      <p:pic>
        <p:nvPicPr>
          <p:cNvPr id="23" name="Class Voice (14)">
            <a:hlinkClick r:id="" action="ppaction://media"/>
            <a:extLst>
              <a:ext uri="{FF2B5EF4-FFF2-40B4-BE49-F238E27FC236}">
                <a16:creationId xmlns:a16="http://schemas.microsoft.com/office/drawing/2014/main" id="{D8737C6C-C127-D5FC-AD0A-DFCFC849B472}"/>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32840" y="31898"/>
            <a:ext cx="812800" cy="812800"/>
          </a:xfrm>
          <a:prstGeom prst="rect">
            <a:avLst/>
          </a:prstGeom>
        </p:spPr>
      </p:pic>
    </p:spTree>
    <p:extLst>
      <p:ext uri="{BB962C8B-B14F-4D97-AF65-F5344CB8AC3E}">
        <p14:creationId xmlns:p14="http://schemas.microsoft.com/office/powerpoint/2010/main" val="2624237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9196"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3"/>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12192000" cy="457200"/>
          </a:xfrm>
          <a:prstGeom prst="rect">
            <a:avLst/>
          </a:prstGeom>
          <a:solidFill>
            <a:srgbClr val="DFDFB6"/>
          </a:solidFill>
          <a:ln/>
        </p:spPr>
        <p:txBody>
          <a:bodyPr/>
          <a:lstStyle/>
          <a:p>
            <a:endParaRPr lang="ja-JP" altLang="en-US"/>
          </a:p>
        </p:txBody>
      </p:sp>
      <p:sp>
        <p:nvSpPr>
          <p:cNvPr id="3" name="Text 1"/>
          <p:cNvSpPr/>
          <p:nvPr/>
        </p:nvSpPr>
        <p:spPr>
          <a:xfrm>
            <a:off x="640080" y="182880"/>
            <a:ext cx="3657600" cy="274320"/>
          </a:xfrm>
          <a:prstGeom prst="rect">
            <a:avLst/>
          </a:prstGeom>
          <a:noFill/>
          <a:ln/>
        </p:spPr>
        <p:txBody>
          <a:bodyPr wrap="square" rtlCol="0" anchor="ctr"/>
          <a:lstStyle/>
          <a:p>
            <a:pPr marL="0" indent="0">
              <a:buNone/>
            </a:pPr>
            <a:r>
              <a:rPr lang="en-US" sz="1400" dirty="0">
                <a:solidFill>
                  <a:srgbClr val="46789B"/>
                </a:solidFill>
                <a:latin typeface="Helvetica Neue" pitchFamily="34" charset="0"/>
                <a:ea typeface="Helvetica Neue" pitchFamily="34" charset="-122"/>
                <a:cs typeface="Helvetica Neue" pitchFamily="34" charset="-120"/>
              </a:rPr>
              <a:t>Lecture 2</a:t>
            </a:r>
            <a:endParaRPr lang="en-US" sz="1400" dirty="0"/>
          </a:p>
        </p:txBody>
      </p:sp>
      <p:sp>
        <p:nvSpPr>
          <p:cNvPr id="16" name="円/楕円 15">
            <a:extLst>
              <a:ext uri="{FF2B5EF4-FFF2-40B4-BE49-F238E27FC236}">
                <a16:creationId xmlns:a16="http://schemas.microsoft.com/office/drawing/2014/main" id="{4CC568DF-74BF-B0AE-62BC-BB718CDDFF3B}"/>
              </a:ext>
            </a:extLst>
          </p:cNvPr>
          <p:cNvSpPr/>
          <p:nvPr/>
        </p:nvSpPr>
        <p:spPr>
          <a:xfrm>
            <a:off x="6464482" y="4318886"/>
            <a:ext cx="443345" cy="416533"/>
          </a:xfrm>
          <a:prstGeom prst="ellipse">
            <a:avLst/>
          </a:prstGeom>
          <a:solidFill>
            <a:srgbClr val="467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右矢印 17">
            <a:extLst>
              <a:ext uri="{FF2B5EF4-FFF2-40B4-BE49-F238E27FC236}">
                <a16:creationId xmlns:a16="http://schemas.microsoft.com/office/drawing/2014/main" id="{F7C6B189-7F57-1E29-A394-4C32302C1A73}"/>
              </a:ext>
            </a:extLst>
          </p:cNvPr>
          <p:cNvSpPr/>
          <p:nvPr/>
        </p:nvSpPr>
        <p:spPr>
          <a:xfrm rot="14124927">
            <a:off x="6041918" y="3924171"/>
            <a:ext cx="845127" cy="290945"/>
          </a:xfrm>
          <a:prstGeom prst="rightArrow">
            <a:avLst/>
          </a:prstGeom>
          <a:solidFill>
            <a:srgbClr val="9EB5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1" name="直線コネクタ 20">
            <a:extLst>
              <a:ext uri="{FF2B5EF4-FFF2-40B4-BE49-F238E27FC236}">
                <a16:creationId xmlns:a16="http://schemas.microsoft.com/office/drawing/2014/main" id="{FBD24821-480D-BCE3-DAEE-DB821F2F7CA2}"/>
              </a:ext>
            </a:extLst>
          </p:cNvPr>
          <p:cNvCxnSpPr>
            <a:cxnSpLocks/>
            <a:stCxn id="39" idx="3"/>
          </p:cNvCxnSpPr>
          <p:nvPr/>
        </p:nvCxnSpPr>
        <p:spPr>
          <a:xfrm flipV="1">
            <a:off x="4255066" y="3460931"/>
            <a:ext cx="4095726" cy="2573169"/>
          </a:xfrm>
          <a:prstGeom prst="line">
            <a:avLst/>
          </a:prstGeom>
          <a:ln>
            <a:prstDash val="dash"/>
          </a:ln>
        </p:spPr>
        <p:style>
          <a:lnRef idx="1">
            <a:schemeClr val="accent3"/>
          </a:lnRef>
          <a:fillRef idx="0">
            <a:schemeClr val="accent3"/>
          </a:fillRef>
          <a:effectRef idx="0">
            <a:schemeClr val="accent3"/>
          </a:effectRef>
          <a:fontRef idx="minor">
            <a:schemeClr val="tx1"/>
          </a:fontRef>
        </p:style>
      </p:cxnSp>
      <p:cxnSp>
        <p:nvCxnSpPr>
          <p:cNvPr id="22" name="直線コネクタ 21">
            <a:extLst>
              <a:ext uri="{FF2B5EF4-FFF2-40B4-BE49-F238E27FC236}">
                <a16:creationId xmlns:a16="http://schemas.microsoft.com/office/drawing/2014/main" id="{3024D751-CB31-E461-8A6C-1F735EEAC33B}"/>
              </a:ext>
            </a:extLst>
          </p:cNvPr>
          <p:cNvCxnSpPr>
            <a:cxnSpLocks/>
          </p:cNvCxnSpPr>
          <p:nvPr/>
        </p:nvCxnSpPr>
        <p:spPr>
          <a:xfrm flipH="1" flipV="1">
            <a:off x="5870410" y="3195339"/>
            <a:ext cx="850840" cy="1270418"/>
          </a:xfrm>
          <a:prstGeom prst="line">
            <a:avLst/>
          </a:prstGeom>
          <a:ln>
            <a:prstDash val="dash"/>
          </a:ln>
        </p:spPr>
        <p:style>
          <a:lnRef idx="1">
            <a:schemeClr val="accent3"/>
          </a:lnRef>
          <a:fillRef idx="0">
            <a:schemeClr val="accent3"/>
          </a:fillRef>
          <a:effectRef idx="0">
            <a:schemeClr val="accent3"/>
          </a:effectRef>
          <a:fontRef idx="minor">
            <a:schemeClr val="tx1"/>
          </a:fontRef>
        </p:style>
      </p:cxnSp>
      <p:sp>
        <p:nvSpPr>
          <p:cNvPr id="27" name="正方形/長方形 26">
            <a:extLst>
              <a:ext uri="{FF2B5EF4-FFF2-40B4-BE49-F238E27FC236}">
                <a16:creationId xmlns:a16="http://schemas.microsoft.com/office/drawing/2014/main" id="{5D6BFE47-9065-142C-FCBA-217C824E77E8}"/>
              </a:ext>
            </a:extLst>
          </p:cNvPr>
          <p:cNvSpPr/>
          <p:nvPr/>
        </p:nvSpPr>
        <p:spPr>
          <a:xfrm rot="14279854">
            <a:off x="6697689" y="4331570"/>
            <a:ext cx="95821" cy="125515"/>
          </a:xfrm>
          <a:prstGeom prst="rect">
            <a:avLst/>
          </a:prstGeom>
          <a:noFill/>
          <a:ln w="6350">
            <a:solidFill>
              <a:schemeClr val="bg1">
                <a:lumMod val="6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フリーフォーム 32">
            <a:extLst>
              <a:ext uri="{FF2B5EF4-FFF2-40B4-BE49-F238E27FC236}">
                <a16:creationId xmlns:a16="http://schemas.microsoft.com/office/drawing/2014/main" id="{557EFA12-747F-9210-7FCF-FDD086FD9E13}"/>
              </a:ext>
            </a:extLst>
          </p:cNvPr>
          <p:cNvSpPr/>
          <p:nvPr/>
        </p:nvSpPr>
        <p:spPr>
          <a:xfrm>
            <a:off x="5750729" y="3205473"/>
            <a:ext cx="1194301" cy="3011512"/>
          </a:xfrm>
          <a:custGeom>
            <a:avLst/>
            <a:gdLst>
              <a:gd name="csX0" fmla="*/ 0 w 1055215"/>
              <a:gd name="csY0" fmla="*/ 0 h 3629891"/>
              <a:gd name="csX1" fmla="*/ 955963 w 1055215"/>
              <a:gd name="csY1" fmla="*/ 1427018 h 3629891"/>
              <a:gd name="csX2" fmla="*/ 1025236 w 1055215"/>
              <a:gd name="csY2" fmla="*/ 3629891 h 3629891"/>
              <a:gd name="csX3" fmla="*/ 1025236 w 1055215"/>
              <a:gd name="csY3" fmla="*/ 3629891 h 3629891"/>
              <a:gd name="csX0" fmla="*/ 0 w 1025237"/>
              <a:gd name="csY0" fmla="*/ 0 h 3629891"/>
              <a:gd name="csX1" fmla="*/ 1025236 w 1025237"/>
              <a:gd name="csY1" fmla="*/ 3629891 h 3629891"/>
              <a:gd name="csX2" fmla="*/ 1025236 w 1025237"/>
              <a:gd name="csY2" fmla="*/ 3629891 h 3629891"/>
              <a:gd name="csX0" fmla="*/ 0 w 1025235"/>
              <a:gd name="csY0" fmla="*/ 0 h 3629891"/>
              <a:gd name="csX1" fmla="*/ 1025236 w 1025235"/>
              <a:gd name="csY1" fmla="*/ 3629891 h 3629891"/>
              <a:gd name="csX2" fmla="*/ 1025236 w 1025235"/>
              <a:gd name="csY2" fmla="*/ 3629891 h 3629891"/>
              <a:gd name="csX0" fmla="*/ 0 w 1251452"/>
              <a:gd name="csY0" fmla="*/ 0 h 3629891"/>
              <a:gd name="csX1" fmla="*/ 1025236 w 1251452"/>
              <a:gd name="csY1" fmla="*/ 3629891 h 3629891"/>
              <a:gd name="csX2" fmla="*/ 1025236 w 1251452"/>
              <a:gd name="csY2" fmla="*/ 3629891 h 3629891"/>
              <a:gd name="csX0" fmla="*/ 0 w 1136380"/>
              <a:gd name="csY0" fmla="*/ 0 h 3629891"/>
              <a:gd name="csX1" fmla="*/ 1025236 w 1136380"/>
              <a:gd name="csY1" fmla="*/ 3629891 h 3629891"/>
              <a:gd name="csX2" fmla="*/ 1025236 w 1136380"/>
              <a:gd name="csY2" fmla="*/ 3629891 h 3629891"/>
              <a:gd name="csX0" fmla="*/ 0 w 1860888"/>
              <a:gd name="csY0" fmla="*/ 0 h 4295037"/>
              <a:gd name="csX1" fmla="*/ 1803669 w 1860888"/>
              <a:gd name="csY1" fmla="*/ 4295037 h 4295037"/>
              <a:gd name="csX2" fmla="*/ 1803669 w 1860888"/>
              <a:gd name="csY2" fmla="*/ 4295037 h 4295037"/>
              <a:gd name="csX0" fmla="*/ 0 w 1865827"/>
              <a:gd name="csY0" fmla="*/ 0 h 4295037"/>
              <a:gd name="csX1" fmla="*/ 1803669 w 1865827"/>
              <a:gd name="csY1" fmla="*/ 4295037 h 4295037"/>
              <a:gd name="csX2" fmla="*/ 1803669 w 1865827"/>
              <a:gd name="csY2" fmla="*/ 4295037 h 4295037"/>
              <a:gd name="csX0" fmla="*/ 0 w 1881513"/>
              <a:gd name="csY0" fmla="*/ 0 h 4933578"/>
              <a:gd name="csX1" fmla="*/ 1803669 w 1881513"/>
              <a:gd name="csY1" fmla="*/ 4295037 h 4933578"/>
              <a:gd name="csX2" fmla="*/ 1881513 w 1881513"/>
              <a:gd name="csY2" fmla="*/ 4933578 h 4933578"/>
              <a:gd name="csX0" fmla="*/ 0 w 1865827"/>
              <a:gd name="csY0" fmla="*/ 0 h 4295037"/>
              <a:gd name="csX1" fmla="*/ 1803669 w 1865827"/>
              <a:gd name="csY1" fmla="*/ 4295037 h 4295037"/>
              <a:gd name="csX0" fmla="*/ 0 w 1940486"/>
              <a:gd name="csY0" fmla="*/ 0 h 4906971"/>
              <a:gd name="csX1" fmla="*/ 1881511 w 1940486"/>
              <a:gd name="csY1" fmla="*/ 4906971 h 4906971"/>
              <a:gd name="csX0" fmla="*/ 0 w 1897866"/>
              <a:gd name="csY0" fmla="*/ 0 h 4906971"/>
              <a:gd name="csX1" fmla="*/ 1881511 w 1897866"/>
              <a:gd name="csY1" fmla="*/ 4906971 h 4906971"/>
            </a:gdLst>
            <a:ahLst/>
            <a:cxnLst>
              <a:cxn ang="0">
                <a:pos x="csX0" y="csY0"/>
              </a:cxn>
              <a:cxn ang="0">
                <a:pos x="csX1" y="csY1"/>
              </a:cxn>
            </a:cxnLst>
            <a:rect l="l" t="t" r="r" b="b"/>
            <a:pathLst>
              <a:path w="1897866" h="4906971">
                <a:moveTo>
                  <a:pt x="0" y="0"/>
                </a:moveTo>
                <a:cubicBezTo>
                  <a:pt x="1029360" y="780944"/>
                  <a:pt x="2039261" y="3061794"/>
                  <a:pt x="1881511" y="4906971"/>
                </a:cubicBezTo>
              </a:path>
            </a:pathLst>
          </a:custGeom>
          <a:noFill/>
          <a:ln>
            <a:solidFill>
              <a:srgbClr val="46789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テキスト ボックス 36">
            <a:extLst>
              <a:ext uri="{FF2B5EF4-FFF2-40B4-BE49-F238E27FC236}">
                <a16:creationId xmlns:a16="http://schemas.microsoft.com/office/drawing/2014/main" id="{074FA2CC-189E-D544-112D-CD90EA33B7FE}"/>
              </a:ext>
            </a:extLst>
          </p:cNvPr>
          <p:cNvSpPr txBox="1"/>
          <p:nvPr/>
        </p:nvSpPr>
        <p:spPr>
          <a:xfrm>
            <a:off x="-892452" y="4500109"/>
            <a:ext cx="4445322" cy="461665"/>
          </a:xfrm>
          <a:prstGeom prst="rect">
            <a:avLst/>
          </a:prstGeom>
          <a:noFill/>
        </p:spPr>
        <p:txBody>
          <a:bodyPr wrap="square">
            <a:spAutoFit/>
          </a:bodyPr>
          <a:lstStyle/>
          <a:p>
            <a:pPr algn="ctr"/>
            <a:r>
              <a:rPr lang="en-US" altLang="ja-JP" sz="2400" i="1" dirty="0">
                <a:solidFill>
                  <a:srgbClr val="464646"/>
                </a:solidFill>
                <a:latin typeface="Helvetica Neue" pitchFamily="34" charset="0"/>
                <a:ea typeface="Helvetica Neue" pitchFamily="34" charset="-122"/>
                <a:cs typeface="Helvetica Neue" pitchFamily="34" charset="-120"/>
              </a:rPr>
              <a:t>Small </a:t>
            </a:r>
            <a:r>
              <a:rPr lang="en-US" altLang="ja-JP" sz="2400" i="1" dirty="0" err="1">
                <a:solidFill>
                  <a:srgbClr val="464646"/>
                </a:solidFill>
                <a:latin typeface="Helvetica Neue" pitchFamily="34" charset="0"/>
                <a:ea typeface="Helvetica Neue" pitchFamily="34" charset="-122"/>
                <a:cs typeface="Helvetica Neue" pitchFamily="34" charset="-120"/>
              </a:rPr>
              <a:t>ρ</a:t>
            </a:r>
            <a:endParaRPr lang="en-US" altLang="ja-JP" sz="2400" i="1" dirty="0">
              <a:solidFill>
                <a:srgbClr val="464646"/>
              </a:solidFill>
              <a:latin typeface="Helvetica Neue" pitchFamily="34" charset="0"/>
              <a:ea typeface="Helvetica Neue" pitchFamily="34" charset="-122"/>
              <a:cs typeface="Helvetica Neue" pitchFamily="34" charset="-120"/>
            </a:endParaRPr>
          </a:p>
        </p:txBody>
      </p:sp>
      <p:sp>
        <p:nvSpPr>
          <p:cNvPr id="39" name="円/楕円 38">
            <a:extLst>
              <a:ext uri="{FF2B5EF4-FFF2-40B4-BE49-F238E27FC236}">
                <a16:creationId xmlns:a16="http://schemas.microsoft.com/office/drawing/2014/main" id="{A22C7B15-84CA-00C7-3FD7-219B62234E80}"/>
              </a:ext>
            </a:extLst>
          </p:cNvPr>
          <p:cNvSpPr/>
          <p:nvPr/>
        </p:nvSpPr>
        <p:spPr>
          <a:xfrm>
            <a:off x="4234542" y="5920173"/>
            <a:ext cx="140147" cy="133474"/>
          </a:xfrm>
          <a:prstGeom prst="ellips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Text 2">
            <a:extLst>
              <a:ext uri="{FF2B5EF4-FFF2-40B4-BE49-F238E27FC236}">
                <a16:creationId xmlns:a16="http://schemas.microsoft.com/office/drawing/2014/main" id="{911144A1-25F3-8F01-9D0E-61101CE4C34A}"/>
              </a:ext>
            </a:extLst>
          </p:cNvPr>
          <p:cNvSpPr/>
          <p:nvPr/>
        </p:nvSpPr>
        <p:spPr>
          <a:xfrm>
            <a:off x="640080" y="763176"/>
            <a:ext cx="11551920" cy="548640"/>
          </a:xfrm>
          <a:prstGeom prst="rect">
            <a:avLst/>
          </a:prstGeom>
          <a:noFill/>
          <a:ln/>
        </p:spPr>
        <p:txBody>
          <a:bodyPr wrap="square" rtlCol="0" anchor="ctr"/>
          <a:lstStyle/>
          <a:p>
            <a:endParaRPr lang="en-US" sz="2400" dirty="0">
              <a:solidFill>
                <a:srgbClr val="46789B"/>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2" name="円/楕円 41">
            <a:extLst>
              <a:ext uri="{FF2B5EF4-FFF2-40B4-BE49-F238E27FC236}">
                <a16:creationId xmlns:a16="http://schemas.microsoft.com/office/drawing/2014/main" id="{4EB2F915-2FDF-2D97-088C-38C726633C22}"/>
              </a:ext>
            </a:extLst>
          </p:cNvPr>
          <p:cNvSpPr/>
          <p:nvPr/>
        </p:nvSpPr>
        <p:spPr>
          <a:xfrm>
            <a:off x="2202699" y="4318886"/>
            <a:ext cx="443345" cy="416533"/>
          </a:xfrm>
          <a:prstGeom prst="ellipse">
            <a:avLst/>
          </a:prstGeom>
          <a:solidFill>
            <a:srgbClr val="467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右矢印 42">
            <a:extLst>
              <a:ext uri="{FF2B5EF4-FFF2-40B4-BE49-F238E27FC236}">
                <a16:creationId xmlns:a16="http://schemas.microsoft.com/office/drawing/2014/main" id="{587668F3-DEBF-8CAA-9B21-ABFD0209F0EE}"/>
              </a:ext>
            </a:extLst>
          </p:cNvPr>
          <p:cNvSpPr/>
          <p:nvPr/>
        </p:nvSpPr>
        <p:spPr>
          <a:xfrm rot="14124927">
            <a:off x="1780135" y="3924171"/>
            <a:ext cx="845127" cy="290945"/>
          </a:xfrm>
          <a:prstGeom prst="rightArrow">
            <a:avLst/>
          </a:prstGeom>
          <a:solidFill>
            <a:srgbClr val="9EB5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5" name="直線コネクタ 44">
            <a:extLst>
              <a:ext uri="{FF2B5EF4-FFF2-40B4-BE49-F238E27FC236}">
                <a16:creationId xmlns:a16="http://schemas.microsoft.com/office/drawing/2014/main" id="{C7AF4FE8-DA6D-60FE-2DE0-01E832A381AD}"/>
              </a:ext>
            </a:extLst>
          </p:cNvPr>
          <p:cNvCxnSpPr>
            <a:cxnSpLocks/>
          </p:cNvCxnSpPr>
          <p:nvPr/>
        </p:nvCxnSpPr>
        <p:spPr>
          <a:xfrm flipV="1">
            <a:off x="1290305" y="3460931"/>
            <a:ext cx="2798704" cy="1839172"/>
          </a:xfrm>
          <a:prstGeom prst="line">
            <a:avLst/>
          </a:prstGeom>
          <a:ln>
            <a:prstDash val="dash"/>
          </a:ln>
        </p:spPr>
        <p:style>
          <a:lnRef idx="1">
            <a:schemeClr val="accent3"/>
          </a:lnRef>
          <a:fillRef idx="0">
            <a:schemeClr val="accent3"/>
          </a:fillRef>
          <a:effectRef idx="0">
            <a:schemeClr val="accent3"/>
          </a:effectRef>
          <a:fontRef idx="minor">
            <a:schemeClr val="tx1"/>
          </a:fontRef>
        </p:style>
      </p:cxnSp>
      <p:cxnSp>
        <p:nvCxnSpPr>
          <p:cNvPr id="46" name="直線コネクタ 45">
            <a:extLst>
              <a:ext uri="{FF2B5EF4-FFF2-40B4-BE49-F238E27FC236}">
                <a16:creationId xmlns:a16="http://schemas.microsoft.com/office/drawing/2014/main" id="{1D50687F-C9D1-A893-E3EB-FA42225A8F7A}"/>
              </a:ext>
            </a:extLst>
          </p:cNvPr>
          <p:cNvCxnSpPr>
            <a:cxnSpLocks/>
          </p:cNvCxnSpPr>
          <p:nvPr/>
        </p:nvCxnSpPr>
        <p:spPr>
          <a:xfrm flipH="1" flipV="1">
            <a:off x="1608627" y="3195339"/>
            <a:ext cx="850840" cy="1270418"/>
          </a:xfrm>
          <a:prstGeom prst="line">
            <a:avLst/>
          </a:prstGeom>
          <a:ln>
            <a:prstDash val="dash"/>
          </a:ln>
        </p:spPr>
        <p:style>
          <a:lnRef idx="1">
            <a:schemeClr val="accent3"/>
          </a:lnRef>
          <a:fillRef idx="0">
            <a:schemeClr val="accent3"/>
          </a:fillRef>
          <a:effectRef idx="0">
            <a:schemeClr val="accent3"/>
          </a:effectRef>
          <a:fontRef idx="minor">
            <a:schemeClr val="tx1"/>
          </a:fontRef>
        </p:style>
      </p:cxnSp>
      <p:sp>
        <p:nvSpPr>
          <p:cNvPr id="47" name="正方形/長方形 46">
            <a:extLst>
              <a:ext uri="{FF2B5EF4-FFF2-40B4-BE49-F238E27FC236}">
                <a16:creationId xmlns:a16="http://schemas.microsoft.com/office/drawing/2014/main" id="{876D3B14-6BEE-A17B-0D4C-208C102A9C91}"/>
              </a:ext>
            </a:extLst>
          </p:cNvPr>
          <p:cNvSpPr/>
          <p:nvPr/>
        </p:nvSpPr>
        <p:spPr>
          <a:xfrm rot="14279854">
            <a:off x="2435906" y="4331570"/>
            <a:ext cx="95821" cy="125515"/>
          </a:xfrm>
          <a:prstGeom prst="rect">
            <a:avLst/>
          </a:prstGeom>
          <a:noFill/>
          <a:ln w="6350">
            <a:solidFill>
              <a:schemeClr val="bg1">
                <a:lumMod val="6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フリーフォーム 48">
            <a:extLst>
              <a:ext uri="{FF2B5EF4-FFF2-40B4-BE49-F238E27FC236}">
                <a16:creationId xmlns:a16="http://schemas.microsoft.com/office/drawing/2014/main" id="{1ED9F11A-5008-F202-F5A9-F51378A5EA77}"/>
              </a:ext>
            </a:extLst>
          </p:cNvPr>
          <p:cNvSpPr/>
          <p:nvPr/>
        </p:nvSpPr>
        <p:spPr>
          <a:xfrm>
            <a:off x="1260327" y="3862638"/>
            <a:ext cx="1349724" cy="1986651"/>
          </a:xfrm>
          <a:custGeom>
            <a:avLst/>
            <a:gdLst>
              <a:gd name="csX0" fmla="*/ 0 w 1055215"/>
              <a:gd name="csY0" fmla="*/ 0 h 3629891"/>
              <a:gd name="csX1" fmla="*/ 955963 w 1055215"/>
              <a:gd name="csY1" fmla="*/ 1427018 h 3629891"/>
              <a:gd name="csX2" fmla="*/ 1025236 w 1055215"/>
              <a:gd name="csY2" fmla="*/ 3629891 h 3629891"/>
              <a:gd name="csX3" fmla="*/ 1025236 w 1055215"/>
              <a:gd name="csY3" fmla="*/ 3629891 h 3629891"/>
              <a:gd name="csX0" fmla="*/ 0 w 1025237"/>
              <a:gd name="csY0" fmla="*/ 0 h 3629891"/>
              <a:gd name="csX1" fmla="*/ 1025236 w 1025237"/>
              <a:gd name="csY1" fmla="*/ 3629891 h 3629891"/>
              <a:gd name="csX2" fmla="*/ 1025236 w 1025237"/>
              <a:gd name="csY2" fmla="*/ 3629891 h 3629891"/>
              <a:gd name="csX0" fmla="*/ 0 w 1025235"/>
              <a:gd name="csY0" fmla="*/ 0 h 3629891"/>
              <a:gd name="csX1" fmla="*/ 1025236 w 1025235"/>
              <a:gd name="csY1" fmla="*/ 3629891 h 3629891"/>
              <a:gd name="csX2" fmla="*/ 1025236 w 1025235"/>
              <a:gd name="csY2" fmla="*/ 3629891 h 3629891"/>
              <a:gd name="csX0" fmla="*/ 0 w 1251452"/>
              <a:gd name="csY0" fmla="*/ 0 h 3629891"/>
              <a:gd name="csX1" fmla="*/ 1025236 w 1251452"/>
              <a:gd name="csY1" fmla="*/ 3629891 h 3629891"/>
              <a:gd name="csX2" fmla="*/ 1025236 w 1251452"/>
              <a:gd name="csY2" fmla="*/ 3629891 h 3629891"/>
              <a:gd name="csX0" fmla="*/ 0 w 1776312"/>
              <a:gd name="csY0" fmla="*/ 0 h 3230804"/>
              <a:gd name="csX1" fmla="*/ 1673930 w 1776312"/>
              <a:gd name="csY1" fmla="*/ 3230804 h 3230804"/>
              <a:gd name="csX2" fmla="*/ 1673930 w 1776312"/>
              <a:gd name="csY2" fmla="*/ 3230804 h 3230804"/>
              <a:gd name="csX0" fmla="*/ 0 w 1998618"/>
              <a:gd name="csY0" fmla="*/ 7484 h 3238288"/>
              <a:gd name="csX1" fmla="*/ 1673930 w 1998618"/>
              <a:gd name="csY1" fmla="*/ 3238288 h 3238288"/>
              <a:gd name="csX2" fmla="*/ 1673930 w 1998618"/>
              <a:gd name="csY2" fmla="*/ 3238288 h 3238288"/>
              <a:gd name="csX0" fmla="*/ 0 w 2144850"/>
              <a:gd name="csY0" fmla="*/ 6254 h 3237058"/>
              <a:gd name="csX1" fmla="*/ 1673930 w 2144850"/>
              <a:gd name="csY1" fmla="*/ 3237058 h 3237058"/>
              <a:gd name="csX2" fmla="*/ 1673930 w 2144850"/>
              <a:gd name="csY2" fmla="*/ 3237058 h 3237058"/>
            </a:gdLst>
            <a:ahLst/>
            <a:cxnLst>
              <a:cxn ang="0">
                <a:pos x="csX0" y="csY0"/>
              </a:cxn>
              <a:cxn ang="0">
                <a:pos x="csX1" y="csY1"/>
              </a:cxn>
              <a:cxn ang="0">
                <a:pos x="csX2" y="csY2"/>
              </a:cxn>
            </a:cxnLst>
            <a:rect l="l" t="t" r="r" b="b"/>
            <a:pathLst>
              <a:path w="2144850" h="3237058">
                <a:moveTo>
                  <a:pt x="0" y="6254"/>
                </a:moveTo>
                <a:cubicBezTo>
                  <a:pt x="2664071" y="-144005"/>
                  <a:pt x="2350635" y="2456115"/>
                  <a:pt x="1673930" y="3237058"/>
                </a:cubicBezTo>
                <a:lnTo>
                  <a:pt x="1673930" y="3237058"/>
                </a:lnTo>
              </a:path>
            </a:pathLst>
          </a:custGeom>
          <a:noFill/>
          <a:ln>
            <a:solidFill>
              <a:srgbClr val="46789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テキスト ボックス 49">
            <a:extLst>
              <a:ext uri="{FF2B5EF4-FFF2-40B4-BE49-F238E27FC236}">
                <a16:creationId xmlns:a16="http://schemas.microsoft.com/office/drawing/2014/main" id="{37CA0FA5-2E7E-52FA-C1E4-3389F26EBF11}"/>
              </a:ext>
            </a:extLst>
          </p:cNvPr>
          <p:cNvSpPr txBox="1"/>
          <p:nvPr/>
        </p:nvSpPr>
        <p:spPr>
          <a:xfrm>
            <a:off x="2796770" y="4473246"/>
            <a:ext cx="4445322" cy="461665"/>
          </a:xfrm>
          <a:prstGeom prst="rect">
            <a:avLst/>
          </a:prstGeom>
          <a:noFill/>
        </p:spPr>
        <p:txBody>
          <a:bodyPr wrap="square">
            <a:spAutoFit/>
          </a:bodyPr>
          <a:lstStyle/>
          <a:p>
            <a:pPr algn="ctr"/>
            <a:r>
              <a:rPr lang="en-US" altLang="ja-JP" sz="2400" i="1" dirty="0">
                <a:solidFill>
                  <a:srgbClr val="464646"/>
                </a:solidFill>
                <a:latin typeface="Helvetica Neue" pitchFamily="34" charset="0"/>
                <a:ea typeface="Helvetica Neue" pitchFamily="34" charset="-122"/>
                <a:cs typeface="Helvetica Neue" pitchFamily="34" charset="-120"/>
              </a:rPr>
              <a:t>Large </a:t>
            </a:r>
            <a:r>
              <a:rPr lang="en-US" altLang="ja-JP" sz="2400" i="1" dirty="0" err="1">
                <a:solidFill>
                  <a:srgbClr val="464646"/>
                </a:solidFill>
                <a:latin typeface="Helvetica Neue" pitchFamily="34" charset="0"/>
                <a:ea typeface="Helvetica Neue" pitchFamily="34" charset="-122"/>
                <a:cs typeface="Helvetica Neue" pitchFamily="34" charset="-120"/>
              </a:rPr>
              <a:t>ρ</a:t>
            </a:r>
            <a:endParaRPr lang="en-US" altLang="ja-JP" sz="2400" i="1" dirty="0">
              <a:solidFill>
                <a:srgbClr val="464646"/>
              </a:solidFill>
              <a:latin typeface="Helvetica Neue" pitchFamily="34" charset="0"/>
              <a:ea typeface="Helvetica Neue" pitchFamily="34" charset="-122"/>
              <a:cs typeface="Helvetica Neue" pitchFamily="34" charset="-120"/>
            </a:endParaRPr>
          </a:p>
        </p:txBody>
      </p:sp>
      <p:sp>
        <p:nvSpPr>
          <p:cNvPr id="51" name="円/楕円 50">
            <a:extLst>
              <a:ext uri="{FF2B5EF4-FFF2-40B4-BE49-F238E27FC236}">
                <a16:creationId xmlns:a16="http://schemas.microsoft.com/office/drawing/2014/main" id="{9A7464E5-B07B-FEDB-A2C7-A3F61A1A3460}"/>
              </a:ext>
            </a:extLst>
          </p:cNvPr>
          <p:cNvSpPr/>
          <p:nvPr/>
        </p:nvSpPr>
        <p:spPr>
          <a:xfrm>
            <a:off x="1330209" y="5151181"/>
            <a:ext cx="140147" cy="133474"/>
          </a:xfrm>
          <a:prstGeom prst="ellips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円/楕円 51">
            <a:extLst>
              <a:ext uri="{FF2B5EF4-FFF2-40B4-BE49-F238E27FC236}">
                <a16:creationId xmlns:a16="http://schemas.microsoft.com/office/drawing/2014/main" id="{730D7C32-607E-52EB-5465-293405F211CE}"/>
              </a:ext>
            </a:extLst>
          </p:cNvPr>
          <p:cNvSpPr/>
          <p:nvPr/>
        </p:nvSpPr>
        <p:spPr>
          <a:xfrm>
            <a:off x="10691705" y="4204340"/>
            <a:ext cx="443345" cy="416533"/>
          </a:xfrm>
          <a:prstGeom prst="ellipse">
            <a:avLst/>
          </a:prstGeom>
          <a:solidFill>
            <a:srgbClr val="467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右矢印 52">
            <a:extLst>
              <a:ext uri="{FF2B5EF4-FFF2-40B4-BE49-F238E27FC236}">
                <a16:creationId xmlns:a16="http://schemas.microsoft.com/office/drawing/2014/main" id="{8826DC35-29D4-239B-DEB0-7FBC1E2642F5}"/>
              </a:ext>
            </a:extLst>
          </p:cNvPr>
          <p:cNvSpPr/>
          <p:nvPr/>
        </p:nvSpPr>
        <p:spPr>
          <a:xfrm rot="14124927">
            <a:off x="10269141" y="3809625"/>
            <a:ext cx="845127" cy="290945"/>
          </a:xfrm>
          <a:prstGeom prst="rightArrow">
            <a:avLst/>
          </a:prstGeom>
          <a:solidFill>
            <a:srgbClr val="9EB5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5" name="直線コネクタ 54">
            <a:extLst>
              <a:ext uri="{FF2B5EF4-FFF2-40B4-BE49-F238E27FC236}">
                <a16:creationId xmlns:a16="http://schemas.microsoft.com/office/drawing/2014/main" id="{D441BFE7-1A32-9FF2-599A-F7A0FA5FE373}"/>
              </a:ext>
            </a:extLst>
          </p:cNvPr>
          <p:cNvCxnSpPr>
            <a:cxnSpLocks/>
          </p:cNvCxnSpPr>
          <p:nvPr/>
        </p:nvCxnSpPr>
        <p:spPr>
          <a:xfrm flipV="1">
            <a:off x="8084330" y="3570947"/>
            <a:ext cx="4095726" cy="2573169"/>
          </a:xfrm>
          <a:prstGeom prst="line">
            <a:avLst/>
          </a:prstGeom>
          <a:ln>
            <a:prstDash val="dash"/>
          </a:ln>
        </p:spPr>
        <p:style>
          <a:lnRef idx="1">
            <a:schemeClr val="accent3"/>
          </a:lnRef>
          <a:fillRef idx="0">
            <a:schemeClr val="accent3"/>
          </a:fillRef>
          <a:effectRef idx="0">
            <a:schemeClr val="accent3"/>
          </a:effectRef>
          <a:fontRef idx="minor">
            <a:schemeClr val="tx1"/>
          </a:fontRef>
        </p:style>
      </p:cxnSp>
      <p:cxnSp>
        <p:nvCxnSpPr>
          <p:cNvPr id="56" name="直線コネクタ 55">
            <a:extLst>
              <a:ext uri="{FF2B5EF4-FFF2-40B4-BE49-F238E27FC236}">
                <a16:creationId xmlns:a16="http://schemas.microsoft.com/office/drawing/2014/main" id="{2D29ECA3-FD32-7C09-E3BB-76CF336D0B1F}"/>
              </a:ext>
            </a:extLst>
          </p:cNvPr>
          <p:cNvCxnSpPr>
            <a:cxnSpLocks/>
          </p:cNvCxnSpPr>
          <p:nvPr/>
        </p:nvCxnSpPr>
        <p:spPr>
          <a:xfrm flipH="1" flipV="1">
            <a:off x="10097633" y="3080793"/>
            <a:ext cx="850840" cy="1270418"/>
          </a:xfrm>
          <a:prstGeom prst="line">
            <a:avLst/>
          </a:prstGeom>
          <a:ln>
            <a:prstDash val="dash"/>
          </a:ln>
        </p:spPr>
        <p:style>
          <a:lnRef idx="1">
            <a:schemeClr val="accent3"/>
          </a:lnRef>
          <a:fillRef idx="0">
            <a:schemeClr val="accent3"/>
          </a:fillRef>
          <a:effectRef idx="0">
            <a:schemeClr val="accent3"/>
          </a:effectRef>
          <a:fontRef idx="minor">
            <a:schemeClr val="tx1"/>
          </a:fontRef>
        </p:style>
      </p:cxnSp>
      <p:sp>
        <p:nvSpPr>
          <p:cNvPr id="57" name="正方形/長方形 56">
            <a:extLst>
              <a:ext uri="{FF2B5EF4-FFF2-40B4-BE49-F238E27FC236}">
                <a16:creationId xmlns:a16="http://schemas.microsoft.com/office/drawing/2014/main" id="{73F0EBE8-A908-D78C-E742-EC08DD3B1CE0}"/>
              </a:ext>
            </a:extLst>
          </p:cNvPr>
          <p:cNvSpPr/>
          <p:nvPr/>
        </p:nvSpPr>
        <p:spPr>
          <a:xfrm rot="14279854">
            <a:off x="10924912" y="4217024"/>
            <a:ext cx="95821" cy="125515"/>
          </a:xfrm>
          <a:prstGeom prst="rect">
            <a:avLst/>
          </a:prstGeom>
          <a:noFill/>
          <a:ln w="6350">
            <a:solidFill>
              <a:schemeClr val="bg1">
                <a:lumMod val="6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フリーフォーム 58">
            <a:extLst>
              <a:ext uri="{FF2B5EF4-FFF2-40B4-BE49-F238E27FC236}">
                <a16:creationId xmlns:a16="http://schemas.microsoft.com/office/drawing/2014/main" id="{F14CD25D-6DF6-07C1-8E79-BC2E19FAB64D}"/>
              </a:ext>
            </a:extLst>
          </p:cNvPr>
          <p:cNvSpPr/>
          <p:nvPr/>
        </p:nvSpPr>
        <p:spPr>
          <a:xfrm rot="20693007">
            <a:off x="10348266" y="2680013"/>
            <a:ext cx="996229" cy="3245206"/>
          </a:xfrm>
          <a:custGeom>
            <a:avLst/>
            <a:gdLst>
              <a:gd name="csX0" fmla="*/ 0 w 1055215"/>
              <a:gd name="csY0" fmla="*/ 0 h 3629891"/>
              <a:gd name="csX1" fmla="*/ 955963 w 1055215"/>
              <a:gd name="csY1" fmla="*/ 1427018 h 3629891"/>
              <a:gd name="csX2" fmla="*/ 1025236 w 1055215"/>
              <a:gd name="csY2" fmla="*/ 3629891 h 3629891"/>
              <a:gd name="csX3" fmla="*/ 1025236 w 1055215"/>
              <a:gd name="csY3" fmla="*/ 3629891 h 3629891"/>
              <a:gd name="csX0" fmla="*/ 0 w 1025237"/>
              <a:gd name="csY0" fmla="*/ 0 h 3629891"/>
              <a:gd name="csX1" fmla="*/ 1025236 w 1025237"/>
              <a:gd name="csY1" fmla="*/ 3629891 h 3629891"/>
              <a:gd name="csX2" fmla="*/ 1025236 w 1025237"/>
              <a:gd name="csY2" fmla="*/ 3629891 h 3629891"/>
              <a:gd name="csX0" fmla="*/ 0 w 1025235"/>
              <a:gd name="csY0" fmla="*/ 0 h 3629891"/>
              <a:gd name="csX1" fmla="*/ 1025236 w 1025235"/>
              <a:gd name="csY1" fmla="*/ 3629891 h 3629891"/>
              <a:gd name="csX2" fmla="*/ 1025236 w 1025235"/>
              <a:gd name="csY2" fmla="*/ 3629891 h 3629891"/>
              <a:gd name="csX0" fmla="*/ 0 w 1251452"/>
              <a:gd name="csY0" fmla="*/ 0 h 3629891"/>
              <a:gd name="csX1" fmla="*/ 1025236 w 1251452"/>
              <a:gd name="csY1" fmla="*/ 3629891 h 3629891"/>
              <a:gd name="csX2" fmla="*/ 1025236 w 1251452"/>
              <a:gd name="csY2" fmla="*/ 3629891 h 3629891"/>
              <a:gd name="csX0" fmla="*/ 0 w 1084704"/>
              <a:gd name="csY0" fmla="*/ 0 h 3629891"/>
              <a:gd name="csX1" fmla="*/ 1025236 w 1084704"/>
              <a:gd name="csY1" fmla="*/ 3629891 h 3629891"/>
              <a:gd name="csX2" fmla="*/ 1025236 w 1084704"/>
              <a:gd name="csY2" fmla="*/ 3629891 h 3629891"/>
              <a:gd name="csX0" fmla="*/ 0 w 1027488"/>
              <a:gd name="csY0" fmla="*/ 0 h 3629955"/>
              <a:gd name="csX1" fmla="*/ 1025236 w 1027488"/>
              <a:gd name="csY1" fmla="*/ 3629891 h 3629955"/>
              <a:gd name="csX2" fmla="*/ 1025236 w 1027488"/>
              <a:gd name="csY2" fmla="*/ 3629891 h 3629955"/>
            </a:gdLst>
            <a:ahLst/>
            <a:cxnLst>
              <a:cxn ang="0">
                <a:pos x="csX0" y="csY0"/>
              </a:cxn>
              <a:cxn ang="0">
                <a:pos x="csX1" y="csY1"/>
              </a:cxn>
              <a:cxn ang="0">
                <a:pos x="csX2" y="csY2"/>
              </a:cxn>
            </a:cxnLst>
            <a:rect l="l" t="t" r="r" b="b"/>
            <a:pathLst>
              <a:path w="1027488" h="3629955">
                <a:moveTo>
                  <a:pt x="0" y="0"/>
                </a:moveTo>
                <a:cubicBezTo>
                  <a:pt x="147137" y="169010"/>
                  <a:pt x="1079193" y="3647124"/>
                  <a:pt x="1025236" y="3629891"/>
                </a:cubicBezTo>
                <a:lnTo>
                  <a:pt x="1025236" y="3629891"/>
                </a:lnTo>
              </a:path>
            </a:pathLst>
          </a:custGeom>
          <a:noFill/>
          <a:ln>
            <a:solidFill>
              <a:srgbClr val="46789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テキスト ボックス 59">
            <a:extLst>
              <a:ext uri="{FF2B5EF4-FFF2-40B4-BE49-F238E27FC236}">
                <a16:creationId xmlns:a16="http://schemas.microsoft.com/office/drawing/2014/main" id="{427BCDC3-1AFC-BB89-85BC-CB8184313C37}"/>
              </a:ext>
            </a:extLst>
          </p:cNvPr>
          <p:cNvSpPr txBox="1"/>
          <p:nvPr/>
        </p:nvSpPr>
        <p:spPr>
          <a:xfrm>
            <a:off x="7313211" y="4481483"/>
            <a:ext cx="4445322" cy="461665"/>
          </a:xfrm>
          <a:prstGeom prst="rect">
            <a:avLst/>
          </a:prstGeom>
          <a:noFill/>
        </p:spPr>
        <p:txBody>
          <a:bodyPr wrap="square">
            <a:spAutoFit/>
          </a:bodyPr>
          <a:lstStyle/>
          <a:p>
            <a:pPr algn="ctr"/>
            <a:r>
              <a:rPr lang="en-US" altLang="ja-JP" sz="2400" i="1" dirty="0" err="1">
                <a:solidFill>
                  <a:srgbClr val="464646"/>
                </a:solidFill>
                <a:latin typeface="Helvetica Neue" pitchFamily="34" charset="0"/>
                <a:ea typeface="Helvetica Neue" pitchFamily="34" charset="-122"/>
                <a:cs typeface="Helvetica Neue" pitchFamily="34" charset="-120"/>
              </a:rPr>
              <a:t>ρ</a:t>
            </a:r>
            <a:r>
              <a:rPr lang="en-US" altLang="ja-JP" sz="2400" i="1" dirty="0">
                <a:solidFill>
                  <a:srgbClr val="464646"/>
                </a:solidFill>
                <a:latin typeface="Helvetica Neue" pitchFamily="34" charset="0"/>
                <a:ea typeface="Helvetica Neue" pitchFamily="34" charset="-122"/>
                <a:cs typeface="Helvetica Neue" pitchFamily="34" charset="-120"/>
              </a:rPr>
              <a:t> </a:t>
            </a:r>
            <a:r>
              <a:rPr lang="ja-JP" altLang="en-US" sz="2400">
                <a:solidFill>
                  <a:srgbClr val="464646"/>
                </a:solidFill>
                <a:latin typeface="Helvetica Neue" pitchFamily="34" charset="0"/>
                <a:ea typeface="Helvetica Neue" pitchFamily="34" charset="-122"/>
                <a:cs typeface="Helvetica Neue" pitchFamily="34" charset="-120"/>
              </a:rPr>
              <a:t>→ ∞</a:t>
            </a:r>
            <a:endParaRPr lang="en-US" altLang="ja-JP" sz="2400" dirty="0">
              <a:solidFill>
                <a:srgbClr val="464646"/>
              </a:solidFill>
              <a:latin typeface="Helvetica Neue" pitchFamily="34" charset="0"/>
              <a:ea typeface="Helvetica Neue" pitchFamily="34" charset="-122"/>
              <a:cs typeface="Helvetica Neue" pitchFamily="34" charset="-120"/>
            </a:endParaRPr>
          </a:p>
        </p:txBody>
      </p:sp>
      <p:sp>
        <p:nvSpPr>
          <p:cNvPr id="62" name="テキスト ボックス 61">
            <a:extLst>
              <a:ext uri="{FF2B5EF4-FFF2-40B4-BE49-F238E27FC236}">
                <a16:creationId xmlns:a16="http://schemas.microsoft.com/office/drawing/2014/main" id="{0B82431B-9764-DBAF-C320-1818DD2073DB}"/>
              </a:ext>
            </a:extLst>
          </p:cNvPr>
          <p:cNvSpPr txBox="1"/>
          <p:nvPr/>
        </p:nvSpPr>
        <p:spPr>
          <a:xfrm>
            <a:off x="930729" y="2210549"/>
            <a:ext cx="2149399" cy="461665"/>
          </a:xfrm>
          <a:prstGeom prst="rect">
            <a:avLst/>
          </a:prstGeom>
          <a:solidFill>
            <a:srgbClr val="46789B"/>
          </a:solidFill>
        </p:spPr>
        <p:txBody>
          <a:bodyPr wrap="square" rtlCol="0">
            <a:spAutoFit/>
          </a:bodyPr>
          <a:lstStyle/>
          <a:p>
            <a:pPr algn="ctr"/>
            <a:r>
              <a:rPr kumimoji="1" lang="en-US" altLang="ja-JP"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Sharp curve</a:t>
            </a:r>
            <a:endParaRPr kumimoji="1" lang="ja-JP" altLang="en-US" sz="2400" b="1">
              <a:solidFill>
                <a:schemeClr val="bg1"/>
              </a:solidFill>
              <a:latin typeface="Helvetica Neue" panose="02000503000000020004" pitchFamily="2" charset="0"/>
              <a:cs typeface="Helvetica Neue" panose="02000503000000020004" pitchFamily="2" charset="0"/>
            </a:endParaRPr>
          </a:p>
        </p:txBody>
      </p:sp>
      <p:sp>
        <p:nvSpPr>
          <p:cNvPr id="63" name="テキスト ボックス 62">
            <a:extLst>
              <a:ext uri="{FF2B5EF4-FFF2-40B4-BE49-F238E27FC236}">
                <a16:creationId xmlns:a16="http://schemas.microsoft.com/office/drawing/2014/main" id="{8894CAA0-2384-104A-B3C0-674617FFB334}"/>
              </a:ext>
            </a:extLst>
          </p:cNvPr>
          <p:cNvSpPr txBox="1"/>
          <p:nvPr/>
        </p:nvSpPr>
        <p:spPr>
          <a:xfrm>
            <a:off x="4996260" y="2210549"/>
            <a:ext cx="2249969" cy="461665"/>
          </a:xfrm>
          <a:prstGeom prst="rect">
            <a:avLst/>
          </a:prstGeom>
          <a:solidFill>
            <a:srgbClr val="46789B"/>
          </a:solidFill>
        </p:spPr>
        <p:txBody>
          <a:bodyPr wrap="square" rtlCol="0">
            <a:spAutoFit/>
          </a:bodyPr>
          <a:lstStyle/>
          <a:p>
            <a:pPr algn="ctr"/>
            <a:r>
              <a:rPr kumimoji="1" lang="en-US" altLang="ja-JP"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Gentle curve</a:t>
            </a:r>
            <a:endParaRPr kumimoji="1" lang="ja-JP" altLang="en-US" sz="2400" b="1">
              <a:solidFill>
                <a:schemeClr val="bg1"/>
              </a:solidFill>
              <a:latin typeface="Helvetica Neue" panose="02000503000000020004" pitchFamily="2" charset="0"/>
              <a:cs typeface="Helvetica Neue" panose="02000503000000020004" pitchFamily="2" charset="0"/>
            </a:endParaRPr>
          </a:p>
        </p:txBody>
      </p:sp>
      <p:sp>
        <p:nvSpPr>
          <p:cNvPr id="64" name="テキスト ボックス 63">
            <a:extLst>
              <a:ext uri="{FF2B5EF4-FFF2-40B4-BE49-F238E27FC236}">
                <a16:creationId xmlns:a16="http://schemas.microsoft.com/office/drawing/2014/main" id="{E42AA139-CC26-C43A-FF06-B0BAB4408949}"/>
              </a:ext>
            </a:extLst>
          </p:cNvPr>
          <p:cNvSpPr txBox="1"/>
          <p:nvPr/>
        </p:nvSpPr>
        <p:spPr>
          <a:xfrm>
            <a:off x="9162361" y="2210549"/>
            <a:ext cx="2151162" cy="461665"/>
          </a:xfrm>
          <a:prstGeom prst="rect">
            <a:avLst/>
          </a:prstGeom>
          <a:solidFill>
            <a:srgbClr val="46789B"/>
          </a:solidFill>
        </p:spPr>
        <p:txBody>
          <a:bodyPr wrap="square" rtlCol="0">
            <a:spAutoFit/>
          </a:bodyPr>
          <a:lstStyle/>
          <a:p>
            <a:pPr algn="ctr"/>
            <a:r>
              <a:rPr kumimoji="1" lang="en-US" altLang="ja-JP"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Straight line</a:t>
            </a:r>
            <a:endParaRPr kumimoji="1" lang="ja-JP" altLang="en-US" sz="2400" b="1">
              <a:solidFill>
                <a:schemeClr val="bg1"/>
              </a:solidFill>
              <a:latin typeface="Helvetica Neue" panose="02000503000000020004" pitchFamily="2" charset="0"/>
              <a:cs typeface="Helvetica Neue" panose="02000503000000020004" pitchFamily="2" charset="0"/>
            </a:endParaRPr>
          </a:p>
        </p:txBody>
      </p:sp>
      <p:sp>
        <p:nvSpPr>
          <p:cNvPr id="66" name="Text 2">
            <a:extLst>
              <a:ext uri="{FF2B5EF4-FFF2-40B4-BE49-F238E27FC236}">
                <a16:creationId xmlns:a16="http://schemas.microsoft.com/office/drawing/2014/main" id="{0EBB547B-F427-8AFD-47A4-8DE41A1973B4}"/>
              </a:ext>
            </a:extLst>
          </p:cNvPr>
          <p:cNvSpPr/>
          <p:nvPr/>
        </p:nvSpPr>
        <p:spPr>
          <a:xfrm>
            <a:off x="640080" y="608079"/>
            <a:ext cx="11551920" cy="548640"/>
          </a:xfrm>
          <a:prstGeom prst="rect">
            <a:avLst/>
          </a:prstGeom>
          <a:noFill/>
          <a:ln/>
        </p:spPr>
        <p:txBody>
          <a:bodyPr wrap="square" rtlCol="0" anchor="ctr"/>
          <a:lstStyle/>
          <a:p>
            <a:r>
              <a:rPr lang="en-US" altLang="ja-JP" sz="3600" b="1" dirty="0">
                <a:solidFill>
                  <a:srgbClr val="46789B"/>
                </a:solidFill>
                <a:latin typeface="Helvetica Neue" pitchFamily="34" charset="0"/>
                <a:ea typeface="Helvetica Neue" pitchFamily="34" charset="-122"/>
                <a:cs typeface="Helvetica Neue" pitchFamily="34" charset="-120"/>
              </a:rPr>
              <a:t>KEY POINTS: </a:t>
            </a:r>
            <a:r>
              <a:rPr lang="en-US" altLang="ja-JP" sz="2800" b="1" dirty="0">
                <a:solidFill>
                  <a:srgbClr val="46789B"/>
                </a:solidFill>
                <a:latin typeface="Helvetica Neue" pitchFamily="34" charset="0"/>
                <a:ea typeface="Helvetica Neue" pitchFamily="34" charset="-122"/>
                <a:cs typeface="Helvetica Neue" pitchFamily="34" charset="-120"/>
              </a:rPr>
              <a:t>Curvilinear motion</a:t>
            </a:r>
            <a:r>
              <a:rPr lang="en-US" altLang="ja-JP" sz="2800" dirty="0">
                <a:solidFill>
                  <a:srgbClr val="46789B"/>
                </a:solidFill>
                <a:latin typeface="Helvetica Neue" panose="02000503000000020004" pitchFamily="2" charset="0"/>
                <a:ea typeface="Helvetica Neue" panose="02000503000000020004" pitchFamily="2" charset="0"/>
                <a:cs typeface="Helvetica Neue" panose="02000503000000020004" pitchFamily="2" charset="0"/>
              </a:rPr>
              <a:t> </a:t>
            </a:r>
            <a:r>
              <a:rPr lang="en-US" altLang="ja-JP" sz="2400" dirty="0">
                <a:solidFill>
                  <a:srgbClr val="46789B"/>
                </a:solidFill>
                <a:latin typeface="Helvetica Neue" panose="02000503000000020004" pitchFamily="2" charset="0"/>
                <a:ea typeface="Helvetica Neue" panose="02000503000000020004" pitchFamily="2" charset="0"/>
                <a:cs typeface="Helvetica Neue" panose="02000503000000020004" pitchFamily="2" charset="0"/>
              </a:rPr>
              <a:t>- Introducing radius of curvature </a:t>
            </a:r>
            <a:r>
              <a:rPr lang="el-GR" altLang="ja-JP" sz="2400" dirty="0">
                <a:solidFill>
                  <a:srgbClr val="46789B"/>
                </a:solidFill>
                <a:latin typeface="Helvetica Neue" panose="02000503000000020004" pitchFamily="2" charset="0"/>
                <a:ea typeface="Helvetica Neue" panose="02000503000000020004" pitchFamily="2" charset="0"/>
                <a:cs typeface="Helvetica Neue" panose="02000503000000020004" pitchFamily="2" charset="0"/>
              </a:rPr>
              <a:t>ρ</a:t>
            </a:r>
            <a:r>
              <a:rPr lang="en-US" altLang="ja-JP" sz="2400" dirty="0">
                <a:solidFill>
                  <a:srgbClr val="46789B"/>
                </a:solidFill>
                <a:latin typeface="Helvetica Neue" panose="02000503000000020004" pitchFamily="2" charset="0"/>
                <a:ea typeface="Helvetica Neue" panose="02000503000000020004" pitchFamily="2" charset="0"/>
                <a:cs typeface="Helvetica Neue" panose="02000503000000020004" pitchFamily="2" charset="0"/>
              </a:rPr>
              <a:t>  -</a:t>
            </a:r>
            <a:endParaRPr lang="en-US" sz="2800" b="1" dirty="0">
              <a:solidFill>
                <a:srgbClr val="46789B"/>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67" name="テキスト ボックス 66">
            <a:extLst>
              <a:ext uri="{FF2B5EF4-FFF2-40B4-BE49-F238E27FC236}">
                <a16:creationId xmlns:a16="http://schemas.microsoft.com/office/drawing/2014/main" id="{13145882-E799-90E8-2C00-98DF3E59B05F}"/>
              </a:ext>
            </a:extLst>
          </p:cNvPr>
          <p:cNvSpPr txBox="1"/>
          <p:nvPr/>
        </p:nvSpPr>
        <p:spPr>
          <a:xfrm>
            <a:off x="-828536" y="5999358"/>
            <a:ext cx="4445322" cy="707886"/>
          </a:xfrm>
          <a:prstGeom prst="rect">
            <a:avLst/>
          </a:prstGeom>
          <a:noFill/>
        </p:spPr>
        <p:txBody>
          <a:bodyPr wrap="square">
            <a:spAutoFit/>
          </a:bodyPr>
          <a:lstStyle/>
          <a:p>
            <a:pPr algn="ctr"/>
            <a:r>
              <a:rPr lang="en-US" altLang="ja-JP" sz="2000" b="1" dirty="0">
                <a:solidFill>
                  <a:srgbClr val="46789B"/>
                </a:solidFill>
                <a:latin typeface="Helvetica Neue" pitchFamily="34" charset="0"/>
                <a:ea typeface="Helvetica Neue" pitchFamily="34" charset="-122"/>
                <a:cs typeface="Helvetica Neue" pitchFamily="34" charset="-120"/>
              </a:rPr>
              <a:t>Need more </a:t>
            </a:r>
          </a:p>
          <a:p>
            <a:pPr algn="ctr"/>
            <a:r>
              <a:rPr lang="en-US" altLang="ja-JP" sz="2000" b="1" dirty="0">
                <a:solidFill>
                  <a:srgbClr val="46789B"/>
                </a:solidFill>
                <a:latin typeface="Helvetica Neue" pitchFamily="34" charset="0"/>
                <a:ea typeface="Helvetica Neue" pitchFamily="34" charset="-122"/>
                <a:cs typeface="Helvetica Neue" pitchFamily="34" charset="-120"/>
              </a:rPr>
              <a:t>Acceleration!</a:t>
            </a:r>
          </a:p>
        </p:txBody>
      </p:sp>
      <p:sp>
        <p:nvSpPr>
          <p:cNvPr id="68" name="テキスト ボックス 67">
            <a:extLst>
              <a:ext uri="{FF2B5EF4-FFF2-40B4-BE49-F238E27FC236}">
                <a16:creationId xmlns:a16="http://schemas.microsoft.com/office/drawing/2014/main" id="{C31290B3-88E3-2D7C-BDFB-87F411B436BB}"/>
              </a:ext>
            </a:extLst>
          </p:cNvPr>
          <p:cNvSpPr txBox="1"/>
          <p:nvPr/>
        </p:nvSpPr>
        <p:spPr>
          <a:xfrm>
            <a:off x="6639824" y="3782423"/>
            <a:ext cx="325730" cy="369332"/>
          </a:xfrm>
          <a:prstGeom prst="rect">
            <a:avLst/>
          </a:prstGeom>
          <a:noFill/>
        </p:spPr>
        <p:txBody>
          <a:bodyPr wrap="none" rtlCol="0">
            <a:spAutoFit/>
          </a:bodyPr>
          <a:lstStyle/>
          <a:p>
            <a:r>
              <a:rPr kumimoji="1" lang="en-US" altLang="ja-JP" dirty="0">
                <a:solidFill>
                  <a:srgbClr val="9EB5D6"/>
                </a:solidFill>
                <a:latin typeface="Helvetica Neue" panose="02000503000000020004" pitchFamily="2" charset="0"/>
                <a:ea typeface="Helvetica Neue" panose="02000503000000020004" pitchFamily="2" charset="0"/>
                <a:cs typeface="Helvetica Neue" panose="02000503000000020004" pitchFamily="2" charset="0"/>
              </a:rPr>
              <a:t>V</a:t>
            </a:r>
            <a:endParaRPr kumimoji="1" lang="ja-JP" altLang="en-US">
              <a:solidFill>
                <a:srgbClr val="9EB5D6"/>
              </a:solidFill>
              <a:latin typeface="Helvetica Neue" panose="02000503000000020004" pitchFamily="2" charset="0"/>
              <a:cs typeface="Helvetica Neue" panose="02000503000000020004" pitchFamily="2" charset="0"/>
            </a:endParaRPr>
          </a:p>
        </p:txBody>
      </p:sp>
      <p:sp>
        <p:nvSpPr>
          <p:cNvPr id="69" name="テキスト ボックス 68">
            <a:extLst>
              <a:ext uri="{FF2B5EF4-FFF2-40B4-BE49-F238E27FC236}">
                <a16:creationId xmlns:a16="http://schemas.microsoft.com/office/drawing/2014/main" id="{604101EF-A451-EFD0-D819-A9DBCD21AEBB}"/>
              </a:ext>
            </a:extLst>
          </p:cNvPr>
          <p:cNvSpPr txBox="1"/>
          <p:nvPr/>
        </p:nvSpPr>
        <p:spPr>
          <a:xfrm>
            <a:off x="2347647" y="3781150"/>
            <a:ext cx="325730" cy="369332"/>
          </a:xfrm>
          <a:prstGeom prst="rect">
            <a:avLst/>
          </a:prstGeom>
          <a:noFill/>
        </p:spPr>
        <p:txBody>
          <a:bodyPr wrap="none" rtlCol="0">
            <a:spAutoFit/>
          </a:bodyPr>
          <a:lstStyle/>
          <a:p>
            <a:r>
              <a:rPr kumimoji="1" lang="en-US" altLang="ja-JP" dirty="0">
                <a:solidFill>
                  <a:srgbClr val="9EB5D6"/>
                </a:solidFill>
                <a:latin typeface="Helvetica Neue" panose="02000503000000020004" pitchFamily="2" charset="0"/>
                <a:ea typeface="Helvetica Neue" panose="02000503000000020004" pitchFamily="2" charset="0"/>
                <a:cs typeface="Helvetica Neue" panose="02000503000000020004" pitchFamily="2" charset="0"/>
              </a:rPr>
              <a:t>V</a:t>
            </a:r>
            <a:endParaRPr kumimoji="1" lang="ja-JP" altLang="en-US">
              <a:solidFill>
                <a:srgbClr val="9EB5D6"/>
              </a:solidFill>
              <a:latin typeface="Helvetica Neue" panose="02000503000000020004" pitchFamily="2" charset="0"/>
              <a:cs typeface="Helvetica Neue" panose="02000503000000020004" pitchFamily="2" charset="0"/>
            </a:endParaRPr>
          </a:p>
        </p:txBody>
      </p:sp>
      <p:sp>
        <p:nvSpPr>
          <p:cNvPr id="70" name="テキスト ボックス 69">
            <a:extLst>
              <a:ext uri="{FF2B5EF4-FFF2-40B4-BE49-F238E27FC236}">
                <a16:creationId xmlns:a16="http://schemas.microsoft.com/office/drawing/2014/main" id="{99BFEBCF-7658-550F-B323-9F81D1A69C23}"/>
              </a:ext>
            </a:extLst>
          </p:cNvPr>
          <p:cNvSpPr txBox="1"/>
          <p:nvPr/>
        </p:nvSpPr>
        <p:spPr>
          <a:xfrm>
            <a:off x="10857192" y="3682408"/>
            <a:ext cx="325730" cy="369332"/>
          </a:xfrm>
          <a:prstGeom prst="rect">
            <a:avLst/>
          </a:prstGeom>
          <a:noFill/>
        </p:spPr>
        <p:txBody>
          <a:bodyPr wrap="none" rtlCol="0">
            <a:spAutoFit/>
          </a:bodyPr>
          <a:lstStyle/>
          <a:p>
            <a:r>
              <a:rPr kumimoji="1" lang="en-US" altLang="ja-JP" dirty="0">
                <a:solidFill>
                  <a:srgbClr val="9EB5D6"/>
                </a:solidFill>
                <a:latin typeface="Helvetica Neue" panose="02000503000000020004" pitchFamily="2" charset="0"/>
                <a:ea typeface="Helvetica Neue" panose="02000503000000020004" pitchFamily="2" charset="0"/>
                <a:cs typeface="Helvetica Neue" panose="02000503000000020004" pitchFamily="2" charset="0"/>
              </a:rPr>
              <a:t>V</a:t>
            </a:r>
            <a:endParaRPr kumimoji="1" lang="ja-JP" altLang="en-US">
              <a:solidFill>
                <a:srgbClr val="9EB5D6"/>
              </a:solidFill>
              <a:latin typeface="Helvetica Neue" panose="02000503000000020004" pitchFamily="2" charset="0"/>
              <a:cs typeface="Helvetica Neue" panose="02000503000000020004" pitchFamily="2" charset="0"/>
            </a:endParaRPr>
          </a:p>
        </p:txBody>
      </p:sp>
      <p:pic>
        <p:nvPicPr>
          <p:cNvPr id="71" name="Class Voice (15)">
            <a:hlinkClick r:id="" action="ppaction://media"/>
            <a:extLst>
              <a:ext uri="{FF2B5EF4-FFF2-40B4-BE49-F238E27FC236}">
                <a16:creationId xmlns:a16="http://schemas.microsoft.com/office/drawing/2014/main" id="{08F52096-7C43-FEDD-7A93-727A7436F121}"/>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32840" y="12759"/>
            <a:ext cx="812800" cy="812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7468" fill="hold"/>
                                        <p:tgtEl>
                                          <p:spTgt spid="7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71"/>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3777B-6763-581E-C8AF-07EB03531498}"/>
            </a:ext>
          </a:extLst>
        </p:cNvPr>
        <p:cNvGrpSpPr/>
        <p:nvPr/>
      </p:nvGrpSpPr>
      <p:grpSpPr>
        <a:xfrm>
          <a:off x="0" y="0"/>
          <a:ext cx="0" cy="0"/>
          <a:chOff x="0" y="0"/>
          <a:chExt cx="0" cy="0"/>
        </a:xfrm>
      </p:grpSpPr>
      <p:sp>
        <p:nvSpPr>
          <p:cNvPr id="34" name="Shape 3">
            <a:extLst>
              <a:ext uri="{FF2B5EF4-FFF2-40B4-BE49-F238E27FC236}">
                <a16:creationId xmlns:a16="http://schemas.microsoft.com/office/drawing/2014/main" id="{9A51567A-F0DE-E25D-E339-437889D05891}"/>
              </a:ext>
            </a:extLst>
          </p:cNvPr>
          <p:cNvSpPr/>
          <p:nvPr/>
        </p:nvSpPr>
        <p:spPr>
          <a:xfrm>
            <a:off x="6722226" y="2593623"/>
            <a:ext cx="4021974" cy="565715"/>
          </a:xfrm>
          <a:prstGeom prst="rect">
            <a:avLst/>
          </a:prstGeom>
          <a:solidFill>
            <a:srgbClr val="DFDFB6"/>
          </a:solidFill>
          <a:ln/>
        </p:spPr>
        <p:txBody>
          <a:bodyPr/>
          <a:lstStyle/>
          <a:p>
            <a:endParaRPr lang="ja-JP" altLang="en-US"/>
          </a:p>
        </p:txBody>
      </p:sp>
      <p:sp>
        <p:nvSpPr>
          <p:cNvPr id="35" name="Shape 3">
            <a:extLst>
              <a:ext uri="{FF2B5EF4-FFF2-40B4-BE49-F238E27FC236}">
                <a16:creationId xmlns:a16="http://schemas.microsoft.com/office/drawing/2014/main" id="{1E752486-2BD0-69DB-BCC6-AF1135FA5C70}"/>
              </a:ext>
            </a:extLst>
          </p:cNvPr>
          <p:cNvSpPr/>
          <p:nvPr/>
        </p:nvSpPr>
        <p:spPr>
          <a:xfrm>
            <a:off x="6722226" y="4048039"/>
            <a:ext cx="4836362" cy="565715"/>
          </a:xfrm>
          <a:prstGeom prst="rect">
            <a:avLst/>
          </a:prstGeom>
          <a:solidFill>
            <a:srgbClr val="DFDFB6"/>
          </a:solidFill>
          <a:ln/>
        </p:spPr>
        <p:txBody>
          <a:bodyPr/>
          <a:lstStyle/>
          <a:p>
            <a:endParaRPr lang="ja-JP" altLang="en-US"/>
          </a:p>
        </p:txBody>
      </p:sp>
      <p:sp>
        <p:nvSpPr>
          <p:cNvPr id="2" name="Shape 0">
            <a:extLst>
              <a:ext uri="{FF2B5EF4-FFF2-40B4-BE49-F238E27FC236}">
                <a16:creationId xmlns:a16="http://schemas.microsoft.com/office/drawing/2014/main" id="{3582DDB2-4555-5E78-BBBF-02A463B76A3B}"/>
              </a:ext>
            </a:extLst>
          </p:cNvPr>
          <p:cNvSpPr/>
          <p:nvPr/>
        </p:nvSpPr>
        <p:spPr>
          <a:xfrm>
            <a:off x="0" y="0"/>
            <a:ext cx="12192000" cy="457200"/>
          </a:xfrm>
          <a:prstGeom prst="rect">
            <a:avLst/>
          </a:prstGeom>
          <a:solidFill>
            <a:srgbClr val="DFDFB6"/>
          </a:solidFill>
          <a:ln/>
        </p:spPr>
        <p:txBody>
          <a:bodyPr/>
          <a:lstStyle/>
          <a:p>
            <a:endParaRPr lang="ja-JP" altLang="en-US"/>
          </a:p>
        </p:txBody>
      </p:sp>
      <p:sp>
        <p:nvSpPr>
          <p:cNvPr id="3" name="Text 1">
            <a:extLst>
              <a:ext uri="{FF2B5EF4-FFF2-40B4-BE49-F238E27FC236}">
                <a16:creationId xmlns:a16="http://schemas.microsoft.com/office/drawing/2014/main" id="{715030E2-3297-1160-405D-4A13DFA80EFA}"/>
              </a:ext>
            </a:extLst>
          </p:cNvPr>
          <p:cNvSpPr/>
          <p:nvPr/>
        </p:nvSpPr>
        <p:spPr>
          <a:xfrm>
            <a:off x="640080" y="182880"/>
            <a:ext cx="3657600" cy="274320"/>
          </a:xfrm>
          <a:prstGeom prst="rect">
            <a:avLst/>
          </a:prstGeom>
          <a:noFill/>
          <a:ln/>
        </p:spPr>
        <p:txBody>
          <a:bodyPr wrap="square" rtlCol="0" anchor="ctr"/>
          <a:lstStyle/>
          <a:p>
            <a:pPr marL="0" indent="0">
              <a:buNone/>
            </a:pPr>
            <a:r>
              <a:rPr lang="en-US" sz="1400" dirty="0">
                <a:solidFill>
                  <a:srgbClr val="46789B"/>
                </a:solidFill>
                <a:latin typeface="Helvetica Neue" pitchFamily="34" charset="0"/>
                <a:ea typeface="Helvetica Neue" pitchFamily="34" charset="-122"/>
                <a:cs typeface="Helvetica Neue" pitchFamily="34" charset="-120"/>
              </a:rPr>
              <a:t>Lecture 2</a:t>
            </a:r>
            <a:endParaRPr lang="en-US" sz="1400" dirty="0"/>
          </a:p>
        </p:txBody>
      </p:sp>
      <p:sp>
        <p:nvSpPr>
          <p:cNvPr id="5" name="Text 3">
            <a:extLst>
              <a:ext uri="{FF2B5EF4-FFF2-40B4-BE49-F238E27FC236}">
                <a16:creationId xmlns:a16="http://schemas.microsoft.com/office/drawing/2014/main" id="{58C1885F-9500-6F6B-3889-4C1B29AC9B64}"/>
              </a:ext>
            </a:extLst>
          </p:cNvPr>
          <p:cNvSpPr/>
          <p:nvPr/>
        </p:nvSpPr>
        <p:spPr>
          <a:xfrm>
            <a:off x="6209830" y="2332759"/>
            <a:ext cx="9601200" cy="2002285"/>
          </a:xfrm>
          <a:prstGeom prst="rect">
            <a:avLst/>
          </a:prstGeom>
          <a:noFill/>
          <a:ln/>
        </p:spPr>
        <p:txBody>
          <a:bodyPr wrap="square" rtlCol="0" anchor="ctr"/>
          <a:lstStyle/>
          <a:p>
            <a:pPr marL="342900" indent="-342900">
              <a:buSzPct val="100000"/>
              <a:buChar char="•"/>
            </a:pPr>
            <a:r>
              <a:rPr lang="en-US" sz="2400" dirty="0">
                <a:solidFill>
                  <a:srgbClr val="464646"/>
                </a:solidFill>
                <a:latin typeface="Helvetica Neue" pitchFamily="34" charset="0"/>
                <a:ea typeface="Helvetica Neue" pitchFamily="34" charset="-122"/>
                <a:cs typeface="Helvetica Neue" pitchFamily="34" charset="-120"/>
              </a:rPr>
              <a:t>Tangential:  </a:t>
            </a:r>
            <a:r>
              <a:rPr lang="en-US" sz="2400" i="1" dirty="0">
                <a:solidFill>
                  <a:srgbClr val="464646"/>
                </a:solidFill>
                <a:latin typeface="Helvetica Neue" pitchFamily="34" charset="0"/>
                <a:ea typeface="Helvetica Neue" pitchFamily="34" charset="-122"/>
                <a:cs typeface="Helvetica Neue" pitchFamily="34" charset="-120"/>
              </a:rPr>
              <a:t>a</a:t>
            </a:r>
            <a:r>
              <a:rPr lang="en-US" sz="2400" i="1" baseline="-25000" dirty="0">
                <a:solidFill>
                  <a:srgbClr val="464646"/>
                </a:solidFill>
                <a:latin typeface="Helvetica Neue" pitchFamily="34" charset="0"/>
                <a:ea typeface="Helvetica Neue" pitchFamily="34" charset="-122"/>
                <a:cs typeface="Helvetica Neue" pitchFamily="34" charset="-120"/>
              </a:rPr>
              <a:t>t</a:t>
            </a:r>
            <a:r>
              <a:rPr lang="en-US" sz="2400" i="1" dirty="0">
                <a:solidFill>
                  <a:srgbClr val="464646"/>
                </a:solidFill>
                <a:latin typeface="Helvetica Neue" pitchFamily="34" charset="0"/>
                <a:ea typeface="Helvetica Neue" pitchFamily="34" charset="-122"/>
                <a:cs typeface="Helvetica Neue" pitchFamily="34" charset="-120"/>
              </a:rPr>
              <a:t> = dv/dt  </a:t>
            </a:r>
          </a:p>
          <a:p>
            <a:pPr>
              <a:buSzPct val="100000"/>
            </a:pPr>
            <a:r>
              <a:rPr lang="en-US" sz="2400" dirty="0">
                <a:solidFill>
                  <a:srgbClr val="46789B"/>
                </a:solidFill>
                <a:latin typeface="Helvetica Neue" pitchFamily="34" charset="0"/>
                <a:ea typeface="Helvetica Neue" pitchFamily="34" charset="-122"/>
                <a:cs typeface="Helvetica Neue" pitchFamily="34" charset="-120"/>
              </a:rPr>
              <a:t>      →  controls SPEED change</a:t>
            </a:r>
          </a:p>
          <a:p>
            <a:pPr>
              <a:buSzPct val="100000"/>
            </a:pPr>
            <a:endParaRPr lang="en-US" sz="2400" dirty="0"/>
          </a:p>
          <a:p>
            <a:pPr>
              <a:buSzPct val="100000"/>
            </a:pPr>
            <a:endParaRPr lang="en-US" sz="2400" dirty="0"/>
          </a:p>
          <a:p>
            <a:pPr marL="342900" indent="-342900">
              <a:buSzPct val="100000"/>
              <a:buChar char="•"/>
            </a:pPr>
            <a:r>
              <a:rPr lang="en-US" sz="2400" dirty="0">
                <a:solidFill>
                  <a:srgbClr val="464646"/>
                </a:solidFill>
                <a:latin typeface="Helvetica Neue" pitchFamily="34" charset="0"/>
                <a:ea typeface="Helvetica Neue" pitchFamily="34" charset="-122"/>
                <a:cs typeface="Helvetica Neue" pitchFamily="34" charset="-120"/>
              </a:rPr>
              <a:t>Normal:      </a:t>
            </a:r>
            <a:r>
              <a:rPr lang="en-US" sz="2400" i="1" dirty="0">
                <a:solidFill>
                  <a:srgbClr val="464646"/>
                </a:solidFill>
                <a:latin typeface="Helvetica Neue" pitchFamily="34" charset="0"/>
                <a:ea typeface="Helvetica Neue" pitchFamily="34" charset="-122"/>
                <a:cs typeface="Helvetica Neue" pitchFamily="34" charset="-120"/>
              </a:rPr>
              <a:t>a</a:t>
            </a:r>
            <a:r>
              <a:rPr lang="en-US" sz="2400" i="1" baseline="-25000" dirty="0">
                <a:solidFill>
                  <a:srgbClr val="464646"/>
                </a:solidFill>
                <a:latin typeface="Helvetica Neue" pitchFamily="34" charset="0"/>
                <a:ea typeface="Helvetica Neue" pitchFamily="34" charset="-122"/>
                <a:cs typeface="Helvetica Neue" pitchFamily="34" charset="-120"/>
              </a:rPr>
              <a:t>n</a:t>
            </a:r>
            <a:r>
              <a:rPr lang="en-US" sz="2400" i="1" dirty="0">
                <a:solidFill>
                  <a:srgbClr val="464646"/>
                </a:solidFill>
                <a:latin typeface="Helvetica Neue" pitchFamily="34" charset="0"/>
                <a:ea typeface="Helvetica Neue" pitchFamily="34" charset="-122"/>
                <a:cs typeface="Helvetica Neue" pitchFamily="34" charset="-120"/>
              </a:rPr>
              <a:t> = v²/</a:t>
            </a:r>
            <a:r>
              <a:rPr lang="en-US" sz="2400" i="1" dirty="0" err="1">
                <a:solidFill>
                  <a:srgbClr val="464646"/>
                </a:solidFill>
                <a:latin typeface="Helvetica Neue" pitchFamily="34" charset="0"/>
                <a:ea typeface="Helvetica Neue" pitchFamily="34" charset="-122"/>
                <a:cs typeface="Helvetica Neue" pitchFamily="34" charset="-120"/>
              </a:rPr>
              <a:t>ρ</a:t>
            </a:r>
            <a:r>
              <a:rPr lang="en-US" sz="2400" i="1" dirty="0">
                <a:solidFill>
                  <a:srgbClr val="464646"/>
                </a:solidFill>
                <a:latin typeface="Helvetica Neue" pitchFamily="34" charset="0"/>
                <a:ea typeface="Helvetica Neue" pitchFamily="34" charset="-122"/>
                <a:cs typeface="Helvetica Neue" pitchFamily="34" charset="-120"/>
              </a:rPr>
              <a:t>   </a:t>
            </a:r>
          </a:p>
          <a:p>
            <a:pPr>
              <a:buSzPct val="100000"/>
            </a:pPr>
            <a:r>
              <a:rPr lang="en-US" sz="2400" dirty="0">
                <a:solidFill>
                  <a:srgbClr val="46789B"/>
                </a:solidFill>
                <a:latin typeface="Helvetica Neue" pitchFamily="34" charset="0"/>
                <a:ea typeface="Helvetica Neue" pitchFamily="34" charset="-122"/>
                <a:cs typeface="Helvetica Neue" pitchFamily="34" charset="-120"/>
              </a:rPr>
              <a:t>      →  controls DIRECTION change</a:t>
            </a:r>
            <a:endParaRPr lang="en-US" sz="2400" dirty="0">
              <a:solidFill>
                <a:srgbClr val="46789B"/>
              </a:solidFill>
            </a:endParaRPr>
          </a:p>
        </p:txBody>
      </p:sp>
      <p:sp>
        <p:nvSpPr>
          <p:cNvPr id="16" name="円/楕円 15">
            <a:extLst>
              <a:ext uri="{FF2B5EF4-FFF2-40B4-BE49-F238E27FC236}">
                <a16:creationId xmlns:a16="http://schemas.microsoft.com/office/drawing/2014/main" id="{B69D90DD-E7F8-5170-D4E3-653A03E59CB9}"/>
              </a:ext>
            </a:extLst>
          </p:cNvPr>
          <p:cNvSpPr/>
          <p:nvPr/>
        </p:nvSpPr>
        <p:spPr>
          <a:xfrm>
            <a:off x="2461957" y="3790676"/>
            <a:ext cx="443345" cy="416533"/>
          </a:xfrm>
          <a:prstGeom prst="ellipse">
            <a:avLst/>
          </a:prstGeom>
          <a:solidFill>
            <a:srgbClr val="467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右矢印 17">
            <a:extLst>
              <a:ext uri="{FF2B5EF4-FFF2-40B4-BE49-F238E27FC236}">
                <a16:creationId xmlns:a16="http://schemas.microsoft.com/office/drawing/2014/main" id="{B874A8CE-B975-1D95-6EF0-CE1B67D5BCF6}"/>
              </a:ext>
            </a:extLst>
          </p:cNvPr>
          <p:cNvSpPr/>
          <p:nvPr/>
        </p:nvSpPr>
        <p:spPr>
          <a:xfrm rot="14124927">
            <a:off x="3313663" y="2845481"/>
            <a:ext cx="574124" cy="328366"/>
          </a:xfrm>
          <a:prstGeom prst="rightArrow">
            <a:avLst/>
          </a:prstGeom>
          <a:solidFill>
            <a:srgbClr val="467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右矢印 18">
            <a:extLst>
              <a:ext uri="{FF2B5EF4-FFF2-40B4-BE49-F238E27FC236}">
                <a16:creationId xmlns:a16="http://schemas.microsoft.com/office/drawing/2014/main" id="{77530C15-9505-E753-3CE5-7792A3746393}"/>
              </a:ext>
            </a:extLst>
          </p:cNvPr>
          <p:cNvSpPr/>
          <p:nvPr/>
        </p:nvSpPr>
        <p:spPr>
          <a:xfrm rot="19641020" flipH="1">
            <a:off x="3207796" y="3236754"/>
            <a:ext cx="690234" cy="342505"/>
          </a:xfrm>
          <a:prstGeom prst="rightArrow">
            <a:avLst/>
          </a:prstGeom>
          <a:solidFill>
            <a:srgbClr val="467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1" name="直線コネクタ 20">
            <a:extLst>
              <a:ext uri="{FF2B5EF4-FFF2-40B4-BE49-F238E27FC236}">
                <a16:creationId xmlns:a16="http://schemas.microsoft.com/office/drawing/2014/main" id="{90B9F388-F9EF-7490-A98A-37897C7361CB}"/>
              </a:ext>
            </a:extLst>
          </p:cNvPr>
          <p:cNvCxnSpPr>
            <a:cxnSpLocks/>
            <a:stCxn id="39" idx="3"/>
          </p:cNvCxnSpPr>
          <p:nvPr/>
        </p:nvCxnSpPr>
        <p:spPr>
          <a:xfrm flipV="1">
            <a:off x="252541" y="2932721"/>
            <a:ext cx="4095726" cy="2573169"/>
          </a:xfrm>
          <a:prstGeom prst="line">
            <a:avLst/>
          </a:prstGeom>
          <a:ln>
            <a:prstDash val="dash"/>
          </a:ln>
        </p:spPr>
        <p:style>
          <a:lnRef idx="1">
            <a:schemeClr val="accent3"/>
          </a:lnRef>
          <a:fillRef idx="0">
            <a:schemeClr val="accent3"/>
          </a:fillRef>
          <a:effectRef idx="0">
            <a:schemeClr val="accent3"/>
          </a:effectRef>
          <a:fontRef idx="minor">
            <a:schemeClr val="tx1"/>
          </a:fontRef>
        </p:style>
      </p:cxnSp>
      <p:cxnSp>
        <p:nvCxnSpPr>
          <p:cNvPr id="22" name="直線コネクタ 21">
            <a:extLst>
              <a:ext uri="{FF2B5EF4-FFF2-40B4-BE49-F238E27FC236}">
                <a16:creationId xmlns:a16="http://schemas.microsoft.com/office/drawing/2014/main" id="{C2356FB4-1714-1775-2EF5-CABB4082C49E}"/>
              </a:ext>
            </a:extLst>
          </p:cNvPr>
          <p:cNvCxnSpPr>
            <a:cxnSpLocks/>
          </p:cNvCxnSpPr>
          <p:nvPr/>
        </p:nvCxnSpPr>
        <p:spPr>
          <a:xfrm flipH="1" flipV="1">
            <a:off x="1867885" y="2667129"/>
            <a:ext cx="850840" cy="1270418"/>
          </a:xfrm>
          <a:prstGeom prst="line">
            <a:avLst/>
          </a:prstGeom>
          <a:ln>
            <a:prstDash val="dash"/>
          </a:ln>
        </p:spPr>
        <p:style>
          <a:lnRef idx="1">
            <a:schemeClr val="accent3"/>
          </a:lnRef>
          <a:fillRef idx="0">
            <a:schemeClr val="accent3"/>
          </a:fillRef>
          <a:effectRef idx="0">
            <a:schemeClr val="accent3"/>
          </a:effectRef>
          <a:fontRef idx="minor">
            <a:schemeClr val="tx1"/>
          </a:fontRef>
        </p:style>
      </p:cxnSp>
      <p:sp>
        <p:nvSpPr>
          <p:cNvPr id="27" name="正方形/長方形 26">
            <a:extLst>
              <a:ext uri="{FF2B5EF4-FFF2-40B4-BE49-F238E27FC236}">
                <a16:creationId xmlns:a16="http://schemas.microsoft.com/office/drawing/2014/main" id="{ABC8FF5E-86F4-E586-42BF-4CBAA1777A95}"/>
              </a:ext>
            </a:extLst>
          </p:cNvPr>
          <p:cNvSpPr/>
          <p:nvPr/>
        </p:nvSpPr>
        <p:spPr>
          <a:xfrm rot="14279854">
            <a:off x="2695164" y="3803360"/>
            <a:ext cx="95821" cy="125515"/>
          </a:xfrm>
          <a:prstGeom prst="rect">
            <a:avLst/>
          </a:prstGeom>
          <a:noFill/>
          <a:ln w="6350">
            <a:solidFill>
              <a:schemeClr val="bg1">
                <a:lumMod val="6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Text 3">
            <a:extLst>
              <a:ext uri="{FF2B5EF4-FFF2-40B4-BE49-F238E27FC236}">
                <a16:creationId xmlns:a16="http://schemas.microsoft.com/office/drawing/2014/main" id="{1307BDE1-31EB-1E47-279F-96F55D79B571}"/>
              </a:ext>
            </a:extLst>
          </p:cNvPr>
          <p:cNvSpPr/>
          <p:nvPr/>
        </p:nvSpPr>
        <p:spPr>
          <a:xfrm>
            <a:off x="2324206" y="1940368"/>
            <a:ext cx="2368333" cy="837003"/>
          </a:xfrm>
          <a:prstGeom prst="rect">
            <a:avLst/>
          </a:prstGeom>
          <a:noFill/>
          <a:ln/>
        </p:spPr>
        <p:txBody>
          <a:bodyPr wrap="square" rtlCol="0" anchor="ctr"/>
          <a:lstStyle/>
          <a:p>
            <a:pPr>
              <a:buSzPct val="100000"/>
            </a:pPr>
            <a:r>
              <a:rPr lang="en-US" sz="2400" b="1" dirty="0">
                <a:solidFill>
                  <a:srgbClr val="46789B"/>
                </a:solidFill>
                <a:latin typeface="Helvetica Neue" panose="02000503000000020004" pitchFamily="2" charset="0"/>
                <a:ea typeface="Helvetica Neue" panose="02000503000000020004" pitchFamily="2" charset="0"/>
                <a:cs typeface="Helvetica Neue" panose="02000503000000020004" pitchFamily="2" charset="0"/>
              </a:rPr>
              <a:t>Tangential</a:t>
            </a:r>
          </a:p>
        </p:txBody>
      </p:sp>
      <p:sp>
        <p:nvSpPr>
          <p:cNvPr id="29" name="Text 3">
            <a:extLst>
              <a:ext uri="{FF2B5EF4-FFF2-40B4-BE49-F238E27FC236}">
                <a16:creationId xmlns:a16="http://schemas.microsoft.com/office/drawing/2014/main" id="{6C1A39D3-5628-B4A3-7051-7FF108577D01}"/>
              </a:ext>
            </a:extLst>
          </p:cNvPr>
          <p:cNvSpPr/>
          <p:nvPr/>
        </p:nvSpPr>
        <p:spPr>
          <a:xfrm>
            <a:off x="3389341" y="3512148"/>
            <a:ext cx="2368333" cy="837003"/>
          </a:xfrm>
          <a:prstGeom prst="rect">
            <a:avLst/>
          </a:prstGeom>
          <a:noFill/>
          <a:ln/>
        </p:spPr>
        <p:txBody>
          <a:bodyPr wrap="square" rtlCol="0" anchor="ctr"/>
          <a:lstStyle/>
          <a:p>
            <a:pPr>
              <a:buSzPct val="100000"/>
            </a:pPr>
            <a:r>
              <a:rPr lang="en-US" sz="2400" b="1" dirty="0">
                <a:solidFill>
                  <a:srgbClr val="46789B"/>
                </a:solidFill>
                <a:latin typeface="Helvetica Neue" panose="02000503000000020004" pitchFamily="2" charset="0"/>
                <a:ea typeface="Helvetica Neue" panose="02000503000000020004" pitchFamily="2" charset="0"/>
                <a:cs typeface="Helvetica Neue" panose="02000503000000020004" pitchFamily="2" charset="0"/>
              </a:rPr>
              <a:t>Normal</a:t>
            </a:r>
          </a:p>
        </p:txBody>
      </p:sp>
      <p:sp>
        <p:nvSpPr>
          <p:cNvPr id="30" name="Text 3">
            <a:extLst>
              <a:ext uri="{FF2B5EF4-FFF2-40B4-BE49-F238E27FC236}">
                <a16:creationId xmlns:a16="http://schemas.microsoft.com/office/drawing/2014/main" id="{CD2C0A00-5432-9371-413C-B683B637A85F}"/>
              </a:ext>
            </a:extLst>
          </p:cNvPr>
          <p:cNvSpPr/>
          <p:nvPr/>
        </p:nvSpPr>
        <p:spPr>
          <a:xfrm>
            <a:off x="2730343" y="2442173"/>
            <a:ext cx="2368333" cy="837003"/>
          </a:xfrm>
          <a:prstGeom prst="rect">
            <a:avLst/>
          </a:prstGeom>
          <a:noFill/>
          <a:ln/>
        </p:spPr>
        <p:txBody>
          <a:bodyPr wrap="square" rtlCol="0" anchor="ctr"/>
          <a:lstStyle/>
          <a:p>
            <a:pPr>
              <a:buSzPct val="100000"/>
            </a:pPr>
            <a:r>
              <a:rPr lang="en-US" sz="2400" i="1" dirty="0">
                <a:solidFill>
                  <a:srgbClr val="46789B"/>
                </a:solidFill>
                <a:latin typeface="Helvetica Neue" panose="02000503000000020004" pitchFamily="2" charset="0"/>
                <a:ea typeface="Helvetica Neue" panose="02000503000000020004" pitchFamily="2" charset="0"/>
                <a:cs typeface="Helvetica Neue" panose="02000503000000020004" pitchFamily="2" charset="0"/>
              </a:rPr>
              <a:t>a</a:t>
            </a:r>
            <a:r>
              <a:rPr lang="en-US" sz="2400" i="1" baseline="-25000" dirty="0">
                <a:solidFill>
                  <a:srgbClr val="46789B"/>
                </a:solidFill>
                <a:latin typeface="Helvetica Neue" panose="02000503000000020004" pitchFamily="2" charset="0"/>
                <a:ea typeface="Helvetica Neue" panose="02000503000000020004" pitchFamily="2" charset="0"/>
                <a:cs typeface="Helvetica Neue" panose="02000503000000020004" pitchFamily="2" charset="0"/>
              </a:rPr>
              <a:t>t</a:t>
            </a:r>
            <a:r>
              <a:rPr lang="en-US" sz="2400" i="1" dirty="0">
                <a:solidFill>
                  <a:srgbClr val="46789B"/>
                </a:solidFill>
                <a:latin typeface="Helvetica Neue" panose="02000503000000020004" pitchFamily="2" charset="0"/>
                <a:ea typeface="Helvetica Neue" panose="02000503000000020004" pitchFamily="2" charset="0"/>
                <a:cs typeface="Helvetica Neue" panose="02000503000000020004" pitchFamily="2" charset="0"/>
              </a:rPr>
              <a:t> </a:t>
            </a:r>
          </a:p>
        </p:txBody>
      </p:sp>
      <p:sp>
        <p:nvSpPr>
          <p:cNvPr id="31" name="Text 3">
            <a:extLst>
              <a:ext uri="{FF2B5EF4-FFF2-40B4-BE49-F238E27FC236}">
                <a16:creationId xmlns:a16="http://schemas.microsoft.com/office/drawing/2014/main" id="{C6A68CCC-897F-571F-4D08-ADB50568354D}"/>
              </a:ext>
            </a:extLst>
          </p:cNvPr>
          <p:cNvSpPr/>
          <p:nvPr/>
        </p:nvSpPr>
        <p:spPr>
          <a:xfrm>
            <a:off x="3662484" y="3166979"/>
            <a:ext cx="2368333" cy="837003"/>
          </a:xfrm>
          <a:prstGeom prst="rect">
            <a:avLst/>
          </a:prstGeom>
          <a:noFill/>
          <a:ln/>
        </p:spPr>
        <p:txBody>
          <a:bodyPr wrap="square" rtlCol="0" anchor="ctr"/>
          <a:lstStyle/>
          <a:p>
            <a:pPr>
              <a:buSzPct val="100000"/>
            </a:pPr>
            <a:r>
              <a:rPr lang="en-US" sz="2400" i="1" dirty="0">
                <a:solidFill>
                  <a:srgbClr val="46789B"/>
                </a:solidFill>
                <a:latin typeface="Helvetica Neue" panose="02000503000000020004" pitchFamily="2" charset="0"/>
                <a:ea typeface="Helvetica Neue" panose="02000503000000020004" pitchFamily="2" charset="0"/>
                <a:cs typeface="Helvetica Neue" panose="02000503000000020004" pitchFamily="2" charset="0"/>
              </a:rPr>
              <a:t>a</a:t>
            </a:r>
            <a:r>
              <a:rPr lang="en-US" sz="2400" i="1" baseline="-25000" dirty="0">
                <a:solidFill>
                  <a:srgbClr val="46789B"/>
                </a:solidFill>
                <a:latin typeface="Helvetica Neue" panose="02000503000000020004" pitchFamily="2" charset="0"/>
                <a:ea typeface="Helvetica Neue" panose="02000503000000020004" pitchFamily="2" charset="0"/>
                <a:cs typeface="Helvetica Neue" panose="02000503000000020004" pitchFamily="2" charset="0"/>
              </a:rPr>
              <a:t>n</a:t>
            </a:r>
            <a:r>
              <a:rPr lang="en-US" sz="2400" i="1" dirty="0">
                <a:solidFill>
                  <a:srgbClr val="46789B"/>
                </a:solidFill>
                <a:latin typeface="Helvetica Neue" panose="02000503000000020004" pitchFamily="2" charset="0"/>
                <a:ea typeface="Helvetica Neue" panose="02000503000000020004" pitchFamily="2" charset="0"/>
                <a:cs typeface="Helvetica Neue" panose="02000503000000020004" pitchFamily="2" charset="0"/>
              </a:rPr>
              <a:t> </a:t>
            </a:r>
          </a:p>
        </p:txBody>
      </p:sp>
      <p:sp>
        <p:nvSpPr>
          <p:cNvPr id="33" name="フリーフォーム 32">
            <a:extLst>
              <a:ext uri="{FF2B5EF4-FFF2-40B4-BE49-F238E27FC236}">
                <a16:creationId xmlns:a16="http://schemas.microsoft.com/office/drawing/2014/main" id="{31A013FD-EBBC-C716-1EBB-CEFD11665147}"/>
              </a:ext>
            </a:extLst>
          </p:cNvPr>
          <p:cNvSpPr/>
          <p:nvPr/>
        </p:nvSpPr>
        <p:spPr>
          <a:xfrm>
            <a:off x="1927799" y="3093338"/>
            <a:ext cx="787521" cy="2227741"/>
          </a:xfrm>
          <a:custGeom>
            <a:avLst/>
            <a:gdLst>
              <a:gd name="csX0" fmla="*/ 0 w 1055215"/>
              <a:gd name="csY0" fmla="*/ 0 h 3629891"/>
              <a:gd name="csX1" fmla="*/ 955963 w 1055215"/>
              <a:gd name="csY1" fmla="*/ 1427018 h 3629891"/>
              <a:gd name="csX2" fmla="*/ 1025236 w 1055215"/>
              <a:gd name="csY2" fmla="*/ 3629891 h 3629891"/>
              <a:gd name="csX3" fmla="*/ 1025236 w 1055215"/>
              <a:gd name="csY3" fmla="*/ 3629891 h 3629891"/>
              <a:gd name="csX0" fmla="*/ 0 w 1025237"/>
              <a:gd name="csY0" fmla="*/ 0 h 3629891"/>
              <a:gd name="csX1" fmla="*/ 1025236 w 1025237"/>
              <a:gd name="csY1" fmla="*/ 3629891 h 3629891"/>
              <a:gd name="csX2" fmla="*/ 1025236 w 1025237"/>
              <a:gd name="csY2" fmla="*/ 3629891 h 3629891"/>
              <a:gd name="csX0" fmla="*/ 0 w 1025235"/>
              <a:gd name="csY0" fmla="*/ 0 h 3629891"/>
              <a:gd name="csX1" fmla="*/ 1025236 w 1025235"/>
              <a:gd name="csY1" fmla="*/ 3629891 h 3629891"/>
              <a:gd name="csX2" fmla="*/ 1025236 w 1025235"/>
              <a:gd name="csY2" fmla="*/ 3629891 h 3629891"/>
              <a:gd name="csX0" fmla="*/ 0 w 1251452"/>
              <a:gd name="csY0" fmla="*/ 0 h 3629891"/>
              <a:gd name="csX1" fmla="*/ 1025236 w 1251452"/>
              <a:gd name="csY1" fmla="*/ 3629891 h 3629891"/>
              <a:gd name="csX2" fmla="*/ 1025236 w 1251452"/>
              <a:gd name="csY2" fmla="*/ 3629891 h 3629891"/>
            </a:gdLst>
            <a:ahLst/>
            <a:cxnLst>
              <a:cxn ang="0">
                <a:pos x="csX0" y="csY0"/>
              </a:cxn>
              <a:cxn ang="0">
                <a:pos x="csX1" y="csY1"/>
              </a:cxn>
              <a:cxn ang="0">
                <a:pos x="csX2" y="csY2"/>
              </a:cxn>
            </a:cxnLst>
            <a:rect l="l" t="t" r="r" b="b"/>
            <a:pathLst>
              <a:path w="1251452" h="3629891">
                <a:moveTo>
                  <a:pt x="0" y="0"/>
                </a:moveTo>
                <a:cubicBezTo>
                  <a:pt x="1522369" y="674521"/>
                  <a:pt x="1364620" y="2396649"/>
                  <a:pt x="1025236" y="3629891"/>
                </a:cubicBezTo>
                <a:lnTo>
                  <a:pt x="1025236" y="3629891"/>
                </a:lnTo>
              </a:path>
            </a:pathLst>
          </a:custGeom>
          <a:noFill/>
          <a:ln>
            <a:solidFill>
              <a:srgbClr val="46789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テキスト ボックス 36">
            <a:extLst>
              <a:ext uri="{FF2B5EF4-FFF2-40B4-BE49-F238E27FC236}">
                <a16:creationId xmlns:a16="http://schemas.microsoft.com/office/drawing/2014/main" id="{8B624EDF-A3AF-2FE7-9E2C-18DB75A49926}"/>
              </a:ext>
            </a:extLst>
          </p:cNvPr>
          <p:cNvSpPr txBox="1"/>
          <p:nvPr/>
        </p:nvSpPr>
        <p:spPr>
          <a:xfrm>
            <a:off x="-844597" y="4909654"/>
            <a:ext cx="4445322" cy="923330"/>
          </a:xfrm>
          <a:prstGeom prst="rect">
            <a:avLst/>
          </a:prstGeom>
          <a:noFill/>
        </p:spPr>
        <p:txBody>
          <a:bodyPr wrap="square">
            <a:spAutoFit/>
          </a:bodyPr>
          <a:lstStyle/>
          <a:p>
            <a:pPr algn="ctr"/>
            <a:r>
              <a:rPr lang="en-US" altLang="ja-JP" sz="1800" i="1" dirty="0" err="1">
                <a:solidFill>
                  <a:srgbClr val="464646"/>
                </a:solidFill>
                <a:latin typeface="Helvetica Neue" pitchFamily="34" charset="0"/>
                <a:ea typeface="Helvetica Neue" pitchFamily="34" charset="-122"/>
                <a:cs typeface="Helvetica Neue" pitchFamily="34" charset="-120"/>
              </a:rPr>
              <a:t>ρ</a:t>
            </a:r>
            <a:endParaRPr lang="en-US" altLang="ja-JP" i="1" dirty="0">
              <a:solidFill>
                <a:srgbClr val="464646"/>
              </a:solidFill>
              <a:latin typeface="Helvetica Neue" pitchFamily="34" charset="0"/>
              <a:ea typeface="Helvetica Neue" pitchFamily="34" charset="-122"/>
              <a:cs typeface="Helvetica Neue" pitchFamily="34" charset="-120"/>
            </a:endParaRPr>
          </a:p>
          <a:p>
            <a:pPr algn="ctr"/>
            <a:r>
              <a:rPr lang="en-US" altLang="ja-JP" sz="1800" dirty="0">
                <a:solidFill>
                  <a:srgbClr val="464646"/>
                </a:solidFill>
                <a:latin typeface="Helvetica Neue" pitchFamily="34" charset="0"/>
                <a:ea typeface="Helvetica Neue" pitchFamily="34" charset="-122"/>
                <a:cs typeface="Helvetica Neue" pitchFamily="34" charset="-120"/>
              </a:rPr>
              <a:t> radius of </a:t>
            </a:r>
          </a:p>
          <a:p>
            <a:pPr algn="ctr"/>
            <a:r>
              <a:rPr lang="en-US" altLang="ja-JP" sz="1800" dirty="0">
                <a:solidFill>
                  <a:srgbClr val="464646"/>
                </a:solidFill>
                <a:latin typeface="Helvetica Neue" pitchFamily="34" charset="0"/>
                <a:ea typeface="Helvetica Neue" pitchFamily="34" charset="-122"/>
                <a:cs typeface="Helvetica Neue" pitchFamily="34" charset="-120"/>
              </a:rPr>
              <a:t>curvature</a:t>
            </a:r>
            <a:r>
              <a:rPr lang="en-US" altLang="ja-JP" sz="1800" i="1" dirty="0">
                <a:solidFill>
                  <a:srgbClr val="464646"/>
                </a:solidFill>
                <a:latin typeface="Helvetica Neue" pitchFamily="34" charset="0"/>
                <a:ea typeface="Helvetica Neue" pitchFamily="34" charset="-122"/>
                <a:cs typeface="Helvetica Neue" pitchFamily="34" charset="-120"/>
              </a:rPr>
              <a:t> </a:t>
            </a:r>
            <a:endParaRPr lang="ja-JP" altLang="en-US"/>
          </a:p>
        </p:txBody>
      </p:sp>
      <p:sp>
        <p:nvSpPr>
          <p:cNvPr id="39" name="円/楕円 38">
            <a:extLst>
              <a:ext uri="{FF2B5EF4-FFF2-40B4-BE49-F238E27FC236}">
                <a16:creationId xmlns:a16="http://schemas.microsoft.com/office/drawing/2014/main" id="{653950C9-4BCC-693E-1930-021F52DC0EB9}"/>
              </a:ext>
            </a:extLst>
          </p:cNvPr>
          <p:cNvSpPr/>
          <p:nvPr/>
        </p:nvSpPr>
        <p:spPr>
          <a:xfrm>
            <a:off x="232017" y="5391963"/>
            <a:ext cx="140147" cy="133474"/>
          </a:xfrm>
          <a:prstGeom prst="ellips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Text 2">
            <a:extLst>
              <a:ext uri="{FF2B5EF4-FFF2-40B4-BE49-F238E27FC236}">
                <a16:creationId xmlns:a16="http://schemas.microsoft.com/office/drawing/2014/main" id="{E17CF68B-FA6B-7398-84C4-368D91C6DC88}"/>
              </a:ext>
            </a:extLst>
          </p:cNvPr>
          <p:cNvSpPr/>
          <p:nvPr/>
        </p:nvSpPr>
        <p:spPr>
          <a:xfrm>
            <a:off x="640080" y="608079"/>
            <a:ext cx="11551920" cy="548640"/>
          </a:xfrm>
          <a:prstGeom prst="rect">
            <a:avLst/>
          </a:prstGeom>
          <a:noFill/>
          <a:ln/>
        </p:spPr>
        <p:txBody>
          <a:bodyPr wrap="square" rtlCol="0" anchor="ctr"/>
          <a:lstStyle/>
          <a:p>
            <a:r>
              <a:rPr lang="en-US" altLang="ja-JP" sz="3600" b="1" dirty="0">
                <a:solidFill>
                  <a:srgbClr val="46789B"/>
                </a:solidFill>
                <a:latin typeface="Helvetica Neue" pitchFamily="34" charset="0"/>
                <a:ea typeface="Helvetica Neue" pitchFamily="34" charset="-122"/>
                <a:cs typeface="Helvetica Neue" pitchFamily="34" charset="-120"/>
              </a:rPr>
              <a:t>KEY POINTS: </a:t>
            </a:r>
            <a:r>
              <a:rPr lang="en-US" altLang="ja-JP" sz="2800" b="1" dirty="0">
                <a:solidFill>
                  <a:srgbClr val="46789B"/>
                </a:solidFill>
                <a:latin typeface="Helvetica Neue" pitchFamily="34" charset="0"/>
                <a:ea typeface="Helvetica Neue" pitchFamily="34" charset="-122"/>
                <a:cs typeface="Helvetica Neue" pitchFamily="34" charset="-120"/>
              </a:rPr>
              <a:t>Curvilinear motion</a:t>
            </a:r>
            <a:r>
              <a:rPr lang="en-US" altLang="ja-JP" sz="2800" dirty="0">
                <a:solidFill>
                  <a:srgbClr val="46789B"/>
                </a:solidFill>
                <a:latin typeface="Helvetica Neue" panose="02000503000000020004" pitchFamily="2" charset="0"/>
                <a:ea typeface="Helvetica Neue" panose="02000503000000020004" pitchFamily="2" charset="0"/>
                <a:cs typeface="Helvetica Neue" panose="02000503000000020004" pitchFamily="2" charset="0"/>
              </a:rPr>
              <a:t> </a:t>
            </a:r>
            <a:r>
              <a:rPr lang="en-US" altLang="ja-JP" sz="2400" dirty="0">
                <a:solidFill>
                  <a:srgbClr val="46789B"/>
                </a:solidFill>
                <a:latin typeface="Helvetica Neue" panose="02000503000000020004" pitchFamily="2" charset="0"/>
                <a:ea typeface="Helvetica Neue" panose="02000503000000020004" pitchFamily="2" charset="0"/>
                <a:cs typeface="Helvetica Neue" panose="02000503000000020004" pitchFamily="2" charset="0"/>
              </a:rPr>
              <a:t>– two independent acceleration -</a:t>
            </a:r>
            <a:endParaRPr lang="en-US" sz="2800" b="1" dirty="0">
              <a:solidFill>
                <a:srgbClr val="46789B"/>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8" name="Text 4">
            <a:extLst>
              <a:ext uri="{FF2B5EF4-FFF2-40B4-BE49-F238E27FC236}">
                <a16:creationId xmlns:a16="http://schemas.microsoft.com/office/drawing/2014/main" id="{8A625E45-01B2-9A25-FC7E-E4FCD8B357C6}"/>
              </a:ext>
            </a:extLst>
          </p:cNvPr>
          <p:cNvSpPr/>
          <p:nvPr/>
        </p:nvSpPr>
        <p:spPr>
          <a:xfrm>
            <a:off x="4951311" y="5331288"/>
            <a:ext cx="7563803" cy="548640"/>
          </a:xfrm>
          <a:prstGeom prst="rect">
            <a:avLst/>
          </a:prstGeom>
          <a:noFill/>
          <a:ln/>
        </p:spPr>
        <p:txBody>
          <a:bodyPr wrap="square" rtlCol="0" anchor="ctr"/>
          <a:lstStyle/>
          <a:p>
            <a:pPr marL="0" indent="0" algn="ctr">
              <a:buNone/>
            </a:pPr>
            <a:r>
              <a:rPr lang="en-US" sz="2400" b="1" dirty="0">
                <a:solidFill>
                  <a:srgbClr val="46789B"/>
                </a:solidFill>
                <a:latin typeface="Helvetica Neue" pitchFamily="34" charset="0"/>
                <a:ea typeface="Helvetica Neue" pitchFamily="34" charset="-122"/>
                <a:cs typeface="Helvetica Neue" pitchFamily="34" charset="-120"/>
              </a:rPr>
              <a:t>Two are always perpendicular, never mix</a:t>
            </a:r>
          </a:p>
        </p:txBody>
      </p:sp>
      <p:sp>
        <p:nvSpPr>
          <p:cNvPr id="9" name="右矢印 8">
            <a:extLst>
              <a:ext uri="{FF2B5EF4-FFF2-40B4-BE49-F238E27FC236}">
                <a16:creationId xmlns:a16="http://schemas.microsoft.com/office/drawing/2014/main" id="{C46A9B2B-D82E-CAC7-FB94-66B0655F2121}"/>
              </a:ext>
            </a:extLst>
          </p:cNvPr>
          <p:cNvSpPr/>
          <p:nvPr/>
        </p:nvSpPr>
        <p:spPr>
          <a:xfrm rot="14124927">
            <a:off x="2049470" y="3395961"/>
            <a:ext cx="845127" cy="290945"/>
          </a:xfrm>
          <a:prstGeom prst="rightArrow">
            <a:avLst/>
          </a:prstGeom>
          <a:solidFill>
            <a:srgbClr val="9EB5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984E0C40-C844-28E8-F72E-6674F2BF162D}"/>
              </a:ext>
            </a:extLst>
          </p:cNvPr>
          <p:cNvSpPr/>
          <p:nvPr/>
        </p:nvSpPr>
        <p:spPr>
          <a:xfrm rot="14279854">
            <a:off x="2705241" y="3803360"/>
            <a:ext cx="95821" cy="125515"/>
          </a:xfrm>
          <a:prstGeom prst="rect">
            <a:avLst/>
          </a:prstGeom>
          <a:noFill/>
          <a:ln w="6350">
            <a:solidFill>
              <a:schemeClr val="bg1">
                <a:lumMod val="6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E1D4964C-EF67-B300-9553-63AE5EEE3051}"/>
              </a:ext>
            </a:extLst>
          </p:cNvPr>
          <p:cNvSpPr txBox="1"/>
          <p:nvPr/>
        </p:nvSpPr>
        <p:spPr>
          <a:xfrm>
            <a:off x="2616982" y="3252940"/>
            <a:ext cx="325730" cy="369332"/>
          </a:xfrm>
          <a:prstGeom prst="rect">
            <a:avLst/>
          </a:prstGeom>
          <a:noFill/>
        </p:spPr>
        <p:txBody>
          <a:bodyPr wrap="none" rtlCol="0">
            <a:spAutoFit/>
          </a:bodyPr>
          <a:lstStyle/>
          <a:p>
            <a:r>
              <a:rPr kumimoji="1" lang="en-US" altLang="ja-JP" dirty="0">
                <a:solidFill>
                  <a:srgbClr val="9EB5D6"/>
                </a:solidFill>
                <a:latin typeface="Helvetica Neue" panose="02000503000000020004" pitchFamily="2" charset="0"/>
                <a:ea typeface="Helvetica Neue" panose="02000503000000020004" pitchFamily="2" charset="0"/>
                <a:cs typeface="Helvetica Neue" panose="02000503000000020004" pitchFamily="2" charset="0"/>
              </a:rPr>
              <a:t>V</a:t>
            </a:r>
            <a:endParaRPr kumimoji="1" lang="ja-JP" altLang="en-US">
              <a:solidFill>
                <a:srgbClr val="9EB5D6"/>
              </a:solidFill>
              <a:latin typeface="Helvetica Neue" panose="02000503000000020004" pitchFamily="2" charset="0"/>
              <a:cs typeface="Helvetica Neue" panose="02000503000000020004" pitchFamily="2" charset="0"/>
            </a:endParaRPr>
          </a:p>
        </p:txBody>
      </p:sp>
      <p:sp>
        <p:nvSpPr>
          <p:cNvPr id="12" name="テキスト ボックス 11">
            <a:extLst>
              <a:ext uri="{FF2B5EF4-FFF2-40B4-BE49-F238E27FC236}">
                <a16:creationId xmlns:a16="http://schemas.microsoft.com/office/drawing/2014/main" id="{11F65274-4A36-333D-FB1A-A43388966150}"/>
              </a:ext>
            </a:extLst>
          </p:cNvPr>
          <p:cNvSpPr txBox="1"/>
          <p:nvPr/>
        </p:nvSpPr>
        <p:spPr>
          <a:xfrm>
            <a:off x="7312791" y="6506840"/>
            <a:ext cx="2840842" cy="369332"/>
          </a:xfrm>
          <a:prstGeom prst="rect">
            <a:avLst/>
          </a:prstGeom>
          <a:noFill/>
        </p:spPr>
        <p:txBody>
          <a:bodyPr wrap="none" rtlCol="0">
            <a:spAutoFit/>
          </a:bodyPr>
          <a:lstStyle/>
          <a:p>
            <a:r>
              <a:rPr lang="en-US" altLang="ja-JP" dirty="0">
                <a:solidFill>
                  <a:schemeClr val="bg1">
                    <a:lumMod val="75000"/>
                  </a:schemeClr>
                </a:solidFill>
                <a:latin typeface="Helvetica Neue" pitchFamily="34" charset="0"/>
                <a:ea typeface="Helvetica Neue" pitchFamily="34" charset="-122"/>
                <a:cs typeface="Helvetica Neue" pitchFamily="34" charset="-120"/>
              </a:rPr>
              <a:t>Appendix: derivation of </a:t>
            </a:r>
            <a:r>
              <a:rPr lang="en-US" altLang="ja-JP" i="1" dirty="0">
                <a:solidFill>
                  <a:schemeClr val="bg1">
                    <a:lumMod val="75000"/>
                  </a:schemeClr>
                </a:solidFill>
                <a:latin typeface="Helvetica Neue" pitchFamily="34" charset="0"/>
                <a:ea typeface="Helvetica Neue" pitchFamily="34" charset="-122"/>
                <a:cs typeface="Helvetica Neue" pitchFamily="34" charset="-120"/>
              </a:rPr>
              <a:t>a</a:t>
            </a:r>
            <a:r>
              <a:rPr lang="en-US" altLang="ja-JP" i="1" baseline="-25000" dirty="0">
                <a:solidFill>
                  <a:schemeClr val="bg1">
                    <a:lumMod val="75000"/>
                  </a:schemeClr>
                </a:solidFill>
                <a:latin typeface="Helvetica Neue" pitchFamily="34" charset="0"/>
                <a:ea typeface="Helvetica Neue" pitchFamily="34" charset="-122"/>
                <a:cs typeface="Helvetica Neue" pitchFamily="34" charset="-120"/>
              </a:rPr>
              <a:t>n</a:t>
            </a:r>
            <a:endParaRPr kumimoji="1" lang="ja-JP" altLang="en-US">
              <a:solidFill>
                <a:schemeClr val="bg1">
                  <a:lumMod val="75000"/>
                </a:schemeClr>
              </a:solidFill>
            </a:endParaRPr>
          </a:p>
        </p:txBody>
      </p:sp>
      <p:pic>
        <p:nvPicPr>
          <p:cNvPr id="13" name="Class Voice (16)">
            <a:hlinkClick r:id="" action="ppaction://media"/>
            <a:extLst>
              <a:ext uri="{FF2B5EF4-FFF2-40B4-BE49-F238E27FC236}">
                <a16:creationId xmlns:a16="http://schemas.microsoft.com/office/drawing/2014/main" id="{62FDD223-7E88-D217-EABC-51E7FE4F9337}"/>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32840" y="50800"/>
            <a:ext cx="812800" cy="812800"/>
          </a:xfrm>
          <a:prstGeom prst="rect">
            <a:avLst/>
          </a:prstGeom>
        </p:spPr>
      </p:pic>
    </p:spTree>
    <p:extLst>
      <p:ext uri="{BB962C8B-B14F-4D97-AF65-F5344CB8AC3E}">
        <p14:creationId xmlns:p14="http://schemas.microsoft.com/office/powerpoint/2010/main" val="1819243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2300"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13"/>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399F4CC-FE1B-062A-BC62-A7CD123139D5}"/>
              </a:ext>
            </a:extLst>
          </p:cNvPr>
          <p:cNvSpPr/>
          <p:nvPr/>
        </p:nvSpPr>
        <p:spPr>
          <a:xfrm>
            <a:off x="0" y="0"/>
            <a:ext cx="12192000" cy="457200"/>
          </a:xfrm>
          <a:prstGeom prst="rect">
            <a:avLst/>
          </a:prstGeom>
          <a:solidFill>
            <a:srgbClr val="DFDFB6"/>
          </a:solidFill>
          <a:ln/>
        </p:spPr>
        <p:txBody>
          <a:bodyPr/>
          <a:lstStyle/>
          <a:p>
            <a:endParaRPr lang="ja-JP" altLang="en-US"/>
          </a:p>
        </p:txBody>
      </p:sp>
      <p:sp>
        <p:nvSpPr>
          <p:cNvPr id="3" name="Text 1">
            <a:extLst>
              <a:ext uri="{FF2B5EF4-FFF2-40B4-BE49-F238E27FC236}">
                <a16:creationId xmlns:a16="http://schemas.microsoft.com/office/drawing/2014/main" id="{125303E5-4643-B70C-6992-731EEB96CA82}"/>
              </a:ext>
            </a:extLst>
          </p:cNvPr>
          <p:cNvSpPr/>
          <p:nvPr/>
        </p:nvSpPr>
        <p:spPr>
          <a:xfrm>
            <a:off x="640080" y="182880"/>
            <a:ext cx="3657600" cy="274320"/>
          </a:xfrm>
          <a:prstGeom prst="rect">
            <a:avLst/>
          </a:prstGeom>
          <a:noFill/>
          <a:ln/>
        </p:spPr>
        <p:txBody>
          <a:bodyPr wrap="square" rtlCol="0" anchor="ctr"/>
          <a:lstStyle/>
          <a:p>
            <a:pPr marL="0" indent="0">
              <a:buNone/>
            </a:pPr>
            <a:r>
              <a:rPr lang="en-US" sz="1400" dirty="0">
                <a:solidFill>
                  <a:srgbClr val="46789B"/>
                </a:solidFill>
                <a:latin typeface="Helvetica Neue" pitchFamily="34" charset="0"/>
                <a:ea typeface="Helvetica Neue" pitchFamily="34" charset="-122"/>
                <a:cs typeface="Helvetica Neue" pitchFamily="34" charset="-120"/>
              </a:rPr>
              <a:t>Lecture 2</a:t>
            </a:r>
            <a:endParaRPr lang="en-US" sz="1400" dirty="0"/>
          </a:p>
        </p:txBody>
      </p:sp>
      <p:sp>
        <p:nvSpPr>
          <p:cNvPr id="4" name="Text 2">
            <a:extLst>
              <a:ext uri="{FF2B5EF4-FFF2-40B4-BE49-F238E27FC236}">
                <a16:creationId xmlns:a16="http://schemas.microsoft.com/office/drawing/2014/main" id="{7C19845B-9B9D-4E5C-EC92-B954723115AB}"/>
              </a:ext>
            </a:extLst>
          </p:cNvPr>
          <p:cNvSpPr/>
          <p:nvPr/>
        </p:nvSpPr>
        <p:spPr>
          <a:xfrm>
            <a:off x="640080" y="608079"/>
            <a:ext cx="11551920" cy="548640"/>
          </a:xfrm>
          <a:prstGeom prst="rect">
            <a:avLst/>
          </a:prstGeom>
          <a:noFill/>
          <a:ln/>
        </p:spPr>
        <p:txBody>
          <a:bodyPr wrap="square" rtlCol="0" anchor="ctr"/>
          <a:lstStyle/>
          <a:p>
            <a:r>
              <a:rPr lang="en-US" altLang="ja-JP" sz="3600" b="1" dirty="0">
                <a:solidFill>
                  <a:srgbClr val="46789B"/>
                </a:solidFill>
                <a:latin typeface="Helvetica Neue" pitchFamily="34" charset="0"/>
                <a:ea typeface="Helvetica Neue" pitchFamily="34" charset="-122"/>
                <a:cs typeface="Helvetica Neue" pitchFamily="34" charset="-120"/>
              </a:rPr>
              <a:t>KEY POINTS: </a:t>
            </a:r>
            <a:r>
              <a:rPr lang="en-US" altLang="ja-JP" sz="2800" b="1" dirty="0">
                <a:solidFill>
                  <a:srgbClr val="46789B"/>
                </a:solidFill>
                <a:latin typeface="Helvetica Neue" pitchFamily="34" charset="0"/>
                <a:ea typeface="Helvetica Neue" pitchFamily="34" charset="-122"/>
                <a:cs typeface="Helvetica Neue" pitchFamily="34" charset="-120"/>
              </a:rPr>
              <a:t>Curvilinear motion</a:t>
            </a:r>
            <a:r>
              <a:rPr lang="en-US" altLang="ja-JP" sz="2800" dirty="0">
                <a:solidFill>
                  <a:srgbClr val="46789B"/>
                </a:solidFill>
                <a:latin typeface="Helvetica Neue" panose="02000503000000020004" pitchFamily="2" charset="0"/>
                <a:ea typeface="Helvetica Neue" panose="02000503000000020004" pitchFamily="2" charset="0"/>
                <a:cs typeface="Helvetica Neue" panose="02000503000000020004" pitchFamily="2" charset="0"/>
              </a:rPr>
              <a:t> </a:t>
            </a:r>
            <a:r>
              <a:rPr lang="en-US" altLang="ja-JP" sz="2400" dirty="0">
                <a:solidFill>
                  <a:srgbClr val="46789B"/>
                </a:solidFill>
                <a:latin typeface="Helvetica Neue" panose="02000503000000020004" pitchFamily="2" charset="0"/>
                <a:ea typeface="Helvetica Neue" panose="02000503000000020004" pitchFamily="2" charset="0"/>
                <a:cs typeface="Helvetica Neue" panose="02000503000000020004" pitchFamily="2" charset="0"/>
              </a:rPr>
              <a:t>– projectile motion -</a:t>
            </a:r>
            <a:endParaRPr lang="en-US" sz="2800" b="1" dirty="0">
              <a:solidFill>
                <a:srgbClr val="46789B"/>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 name="フリーフォーム 4">
            <a:extLst>
              <a:ext uri="{FF2B5EF4-FFF2-40B4-BE49-F238E27FC236}">
                <a16:creationId xmlns:a16="http://schemas.microsoft.com/office/drawing/2014/main" id="{358A93A4-D3A3-C7FD-92F9-49C6FFAF2DBA}"/>
              </a:ext>
            </a:extLst>
          </p:cNvPr>
          <p:cNvSpPr/>
          <p:nvPr/>
        </p:nvSpPr>
        <p:spPr>
          <a:xfrm>
            <a:off x="1871003" y="2349224"/>
            <a:ext cx="7652824" cy="2574468"/>
          </a:xfrm>
          <a:custGeom>
            <a:avLst/>
            <a:gdLst>
              <a:gd name="csX0" fmla="*/ 0 w 7652824"/>
              <a:gd name="csY0" fmla="*/ 2504130 h 2574468"/>
              <a:gd name="csX1" fmla="*/ 3981157 w 7652824"/>
              <a:gd name="csY1" fmla="*/ 81 h 2574468"/>
              <a:gd name="csX2" fmla="*/ 7652824 w 7652824"/>
              <a:gd name="csY2" fmla="*/ 2574468 h 2574468"/>
            </a:gdLst>
            <a:ahLst/>
            <a:cxnLst>
              <a:cxn ang="0">
                <a:pos x="csX0" y="csY0"/>
              </a:cxn>
              <a:cxn ang="0">
                <a:pos x="csX1" y="csY1"/>
              </a:cxn>
              <a:cxn ang="0">
                <a:pos x="csX2" y="csY2"/>
              </a:cxn>
            </a:cxnLst>
            <a:rect l="l" t="t" r="r" b="b"/>
            <a:pathLst>
              <a:path w="7652824" h="2574468">
                <a:moveTo>
                  <a:pt x="0" y="2504130"/>
                </a:moveTo>
                <a:cubicBezTo>
                  <a:pt x="1352843" y="1246244"/>
                  <a:pt x="2705686" y="-11642"/>
                  <a:pt x="3981157" y="81"/>
                </a:cubicBezTo>
                <a:cubicBezTo>
                  <a:pt x="5256628" y="11804"/>
                  <a:pt x="6454726" y="1293136"/>
                  <a:pt x="7652824" y="2574468"/>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円/楕円 5">
            <a:extLst>
              <a:ext uri="{FF2B5EF4-FFF2-40B4-BE49-F238E27FC236}">
                <a16:creationId xmlns:a16="http://schemas.microsoft.com/office/drawing/2014/main" id="{0D1FFE6A-96C0-9B5B-9272-0BD6AC86BA20}"/>
              </a:ext>
            </a:extLst>
          </p:cNvPr>
          <p:cNvSpPr/>
          <p:nvPr/>
        </p:nvSpPr>
        <p:spPr>
          <a:xfrm>
            <a:off x="3580228" y="3026535"/>
            <a:ext cx="443345" cy="416533"/>
          </a:xfrm>
          <a:prstGeom prst="ellipse">
            <a:avLst/>
          </a:prstGeom>
          <a:solidFill>
            <a:srgbClr val="467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右矢印 6">
            <a:extLst>
              <a:ext uri="{FF2B5EF4-FFF2-40B4-BE49-F238E27FC236}">
                <a16:creationId xmlns:a16="http://schemas.microsoft.com/office/drawing/2014/main" id="{9B06964A-B525-8619-33C5-2F4B0E2DF797}"/>
              </a:ext>
            </a:extLst>
          </p:cNvPr>
          <p:cNvSpPr/>
          <p:nvPr/>
        </p:nvSpPr>
        <p:spPr>
          <a:xfrm rot="16200000" flipH="1">
            <a:off x="4222572" y="3271816"/>
            <a:ext cx="690234" cy="342505"/>
          </a:xfrm>
          <a:prstGeom prst="rightArrow">
            <a:avLst/>
          </a:prstGeom>
          <a:solidFill>
            <a:srgbClr val="467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4FE9D5BE-6AB2-2D47-C150-F01A81CBC81E}"/>
              </a:ext>
            </a:extLst>
          </p:cNvPr>
          <p:cNvSpPr/>
          <p:nvPr/>
        </p:nvSpPr>
        <p:spPr>
          <a:xfrm rot="14279854">
            <a:off x="3813435" y="3039219"/>
            <a:ext cx="95821" cy="125515"/>
          </a:xfrm>
          <a:prstGeom prst="rect">
            <a:avLst/>
          </a:prstGeom>
          <a:noFill/>
          <a:ln w="6350">
            <a:solidFill>
              <a:schemeClr val="bg1">
                <a:lumMod val="6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48CE4E84-8115-3BE3-9E79-F621F263DDC3}"/>
              </a:ext>
            </a:extLst>
          </p:cNvPr>
          <p:cNvSpPr txBox="1"/>
          <p:nvPr/>
        </p:nvSpPr>
        <p:spPr>
          <a:xfrm>
            <a:off x="4779663" y="3097951"/>
            <a:ext cx="1011815" cy="400110"/>
          </a:xfrm>
          <a:prstGeom prst="rect">
            <a:avLst/>
          </a:prstGeom>
          <a:noFill/>
        </p:spPr>
        <p:txBody>
          <a:bodyPr wrap="none" rtlCol="0">
            <a:spAutoFit/>
          </a:bodyPr>
          <a:lstStyle/>
          <a:p>
            <a:r>
              <a:rPr kumimoji="1" lang="en-US" altLang="ja-JP" sz="2000" i="1" dirty="0">
                <a:solidFill>
                  <a:srgbClr val="46789B"/>
                </a:solidFill>
                <a:latin typeface="Helvetica Neue" panose="02000503000000020004" pitchFamily="2" charset="0"/>
                <a:ea typeface="Helvetica Neue" panose="02000503000000020004" pitchFamily="2" charset="0"/>
                <a:cs typeface="Helvetica Neue" panose="02000503000000020004" pitchFamily="2" charset="0"/>
              </a:rPr>
              <a:t>a</a:t>
            </a:r>
            <a:r>
              <a:rPr kumimoji="1" lang="en-US" altLang="ja-JP" sz="2000" i="1" baseline="-25000" dirty="0">
                <a:solidFill>
                  <a:srgbClr val="46789B"/>
                </a:solidFill>
                <a:latin typeface="Helvetica Neue" panose="02000503000000020004" pitchFamily="2" charset="0"/>
                <a:ea typeface="Helvetica Neue" panose="02000503000000020004" pitchFamily="2" charset="0"/>
                <a:cs typeface="Helvetica Neue" panose="02000503000000020004" pitchFamily="2" charset="0"/>
              </a:rPr>
              <a:t>y</a:t>
            </a:r>
            <a:r>
              <a:rPr kumimoji="1" lang="en-US" altLang="ja-JP" sz="2000" i="1" dirty="0">
                <a:solidFill>
                  <a:srgbClr val="46789B"/>
                </a:solidFill>
                <a:latin typeface="Helvetica Neue" panose="02000503000000020004" pitchFamily="2" charset="0"/>
                <a:ea typeface="Helvetica Neue" panose="02000503000000020004" pitchFamily="2" charset="0"/>
                <a:cs typeface="Helvetica Neue" panose="02000503000000020004" pitchFamily="2" charset="0"/>
              </a:rPr>
              <a:t> = - g</a:t>
            </a:r>
            <a:endParaRPr kumimoji="1" lang="ja-JP" altLang="en-US" i="1">
              <a:solidFill>
                <a:srgbClr val="46789B"/>
              </a:solidFill>
              <a:latin typeface="Helvetica Neue" panose="02000503000000020004" pitchFamily="2" charset="0"/>
              <a:cs typeface="Helvetica Neue" panose="02000503000000020004" pitchFamily="2" charset="0"/>
            </a:endParaRPr>
          </a:p>
        </p:txBody>
      </p:sp>
      <p:sp>
        <p:nvSpPr>
          <p:cNvPr id="10" name="テキスト ボックス 9">
            <a:extLst>
              <a:ext uri="{FF2B5EF4-FFF2-40B4-BE49-F238E27FC236}">
                <a16:creationId xmlns:a16="http://schemas.microsoft.com/office/drawing/2014/main" id="{6ADE9260-BDB3-0FAB-2D5F-9F835FA2D792}"/>
              </a:ext>
            </a:extLst>
          </p:cNvPr>
          <p:cNvSpPr txBox="1"/>
          <p:nvPr/>
        </p:nvSpPr>
        <p:spPr>
          <a:xfrm>
            <a:off x="3521411" y="1949114"/>
            <a:ext cx="837089" cy="400110"/>
          </a:xfrm>
          <a:prstGeom prst="rect">
            <a:avLst/>
          </a:prstGeom>
          <a:noFill/>
        </p:spPr>
        <p:txBody>
          <a:bodyPr wrap="none" rtlCol="0">
            <a:spAutoFit/>
          </a:bodyPr>
          <a:lstStyle/>
          <a:p>
            <a:r>
              <a:rPr kumimoji="1" lang="en-US" altLang="ja-JP" sz="2000" i="1" dirty="0">
                <a:solidFill>
                  <a:srgbClr val="46789B"/>
                </a:solidFill>
                <a:latin typeface="Helvetica Neue" panose="02000503000000020004" pitchFamily="2" charset="0"/>
                <a:ea typeface="Helvetica Neue" panose="02000503000000020004" pitchFamily="2" charset="0"/>
                <a:cs typeface="Helvetica Neue" panose="02000503000000020004" pitchFamily="2" charset="0"/>
              </a:rPr>
              <a:t>a</a:t>
            </a:r>
            <a:r>
              <a:rPr kumimoji="1" lang="en-US" altLang="ja-JP" sz="2000" i="1" baseline="-25000" dirty="0">
                <a:solidFill>
                  <a:srgbClr val="46789B"/>
                </a:solidFill>
                <a:latin typeface="Helvetica Neue" panose="02000503000000020004" pitchFamily="2" charset="0"/>
                <a:ea typeface="Helvetica Neue" panose="02000503000000020004" pitchFamily="2" charset="0"/>
                <a:cs typeface="Helvetica Neue" panose="02000503000000020004" pitchFamily="2" charset="0"/>
              </a:rPr>
              <a:t>x</a:t>
            </a:r>
            <a:r>
              <a:rPr kumimoji="1" lang="en-US" altLang="ja-JP" sz="2000" i="1" dirty="0">
                <a:solidFill>
                  <a:srgbClr val="46789B"/>
                </a:solidFill>
                <a:latin typeface="Helvetica Neue" panose="02000503000000020004" pitchFamily="2" charset="0"/>
                <a:ea typeface="Helvetica Neue" panose="02000503000000020004" pitchFamily="2" charset="0"/>
                <a:cs typeface="Helvetica Neue" panose="02000503000000020004" pitchFamily="2" charset="0"/>
              </a:rPr>
              <a:t> = </a:t>
            </a:r>
            <a:r>
              <a:rPr kumimoji="1" lang="en-US" altLang="ja-JP" sz="2000" dirty="0">
                <a:solidFill>
                  <a:srgbClr val="46789B"/>
                </a:solidFill>
                <a:latin typeface="Helvetica Neue" panose="02000503000000020004" pitchFamily="2" charset="0"/>
                <a:ea typeface="Helvetica Neue" panose="02000503000000020004" pitchFamily="2" charset="0"/>
                <a:cs typeface="Helvetica Neue" panose="02000503000000020004" pitchFamily="2" charset="0"/>
              </a:rPr>
              <a:t>0</a:t>
            </a:r>
            <a:endParaRPr kumimoji="1" lang="ja-JP" altLang="en-US">
              <a:solidFill>
                <a:srgbClr val="46789B"/>
              </a:solidFill>
              <a:latin typeface="Helvetica Neue" panose="02000503000000020004" pitchFamily="2" charset="0"/>
              <a:cs typeface="Helvetica Neue" panose="02000503000000020004" pitchFamily="2" charset="0"/>
            </a:endParaRPr>
          </a:p>
        </p:txBody>
      </p:sp>
      <p:sp>
        <p:nvSpPr>
          <p:cNvPr id="11" name="Shape 3">
            <a:extLst>
              <a:ext uri="{FF2B5EF4-FFF2-40B4-BE49-F238E27FC236}">
                <a16:creationId xmlns:a16="http://schemas.microsoft.com/office/drawing/2014/main" id="{97B6C210-5DEB-CC13-124D-6D16597C9273}"/>
              </a:ext>
            </a:extLst>
          </p:cNvPr>
          <p:cNvSpPr/>
          <p:nvPr/>
        </p:nvSpPr>
        <p:spPr>
          <a:xfrm>
            <a:off x="842963" y="5591888"/>
            <a:ext cx="10058400" cy="837004"/>
          </a:xfrm>
          <a:prstGeom prst="rect">
            <a:avLst/>
          </a:prstGeom>
          <a:solidFill>
            <a:srgbClr val="DFDFB6"/>
          </a:solidFill>
          <a:ln/>
        </p:spPr>
        <p:txBody>
          <a:bodyPr/>
          <a:lstStyle/>
          <a:p>
            <a:endParaRPr lang="ja-JP" altLang="en-US"/>
          </a:p>
        </p:txBody>
      </p:sp>
      <p:sp>
        <p:nvSpPr>
          <p:cNvPr id="12" name="Text 4">
            <a:extLst>
              <a:ext uri="{FF2B5EF4-FFF2-40B4-BE49-F238E27FC236}">
                <a16:creationId xmlns:a16="http://schemas.microsoft.com/office/drawing/2014/main" id="{F1A2AE82-C752-A5CB-3827-04A970574808}"/>
              </a:ext>
            </a:extLst>
          </p:cNvPr>
          <p:cNvSpPr/>
          <p:nvPr/>
        </p:nvSpPr>
        <p:spPr>
          <a:xfrm>
            <a:off x="1071563" y="5742648"/>
            <a:ext cx="9601200" cy="548640"/>
          </a:xfrm>
          <a:prstGeom prst="rect">
            <a:avLst/>
          </a:prstGeom>
          <a:noFill/>
          <a:ln/>
        </p:spPr>
        <p:txBody>
          <a:bodyPr wrap="square" rtlCol="0" anchor="ctr"/>
          <a:lstStyle/>
          <a:p>
            <a:pPr algn="ctr"/>
            <a:r>
              <a:rPr lang="en-US" altLang="ja-JP" sz="2400" b="1" dirty="0">
                <a:solidFill>
                  <a:srgbClr val="46789B"/>
                </a:solidFill>
                <a:latin typeface="Helvetica Neue" panose="02000503000000020004" pitchFamily="2" charset="0"/>
                <a:ea typeface="Helvetica Neue" panose="02000503000000020004" pitchFamily="2" charset="0"/>
                <a:cs typeface="Helvetica Neue" panose="02000503000000020004" pitchFamily="2" charset="0"/>
              </a:rPr>
              <a:t>treat x and y as two completely independent problems</a:t>
            </a:r>
            <a:endParaRPr lang="en-US" sz="2400" b="1" dirty="0">
              <a:solidFill>
                <a:srgbClr val="46789B"/>
              </a:solidFill>
              <a:latin typeface="Helvetica Neue" panose="02000503000000020004" pitchFamily="2" charset="0"/>
              <a:ea typeface="Helvetica Neue" panose="02000503000000020004" pitchFamily="2" charset="0"/>
              <a:cs typeface="Helvetica Neue" panose="02000503000000020004" pitchFamily="2" charset="0"/>
            </a:endParaRPr>
          </a:p>
        </p:txBody>
      </p:sp>
      <p:pic>
        <p:nvPicPr>
          <p:cNvPr id="13" name="Class Voice (17)">
            <a:hlinkClick r:id="" action="ppaction://media"/>
            <a:extLst>
              <a:ext uri="{FF2B5EF4-FFF2-40B4-BE49-F238E27FC236}">
                <a16:creationId xmlns:a16="http://schemas.microsoft.com/office/drawing/2014/main" id="{38FD6E8B-0EB7-9552-2D42-C89701CE6772}"/>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305738" y="50800"/>
            <a:ext cx="812800" cy="812800"/>
          </a:xfrm>
          <a:prstGeom prst="rect">
            <a:avLst/>
          </a:prstGeom>
        </p:spPr>
      </p:pic>
    </p:spTree>
    <p:extLst>
      <p:ext uri="{BB962C8B-B14F-4D97-AF65-F5344CB8AC3E}">
        <p14:creationId xmlns:p14="http://schemas.microsoft.com/office/powerpoint/2010/main" val="3414321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4668"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13"/>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C2BAB-D279-210C-417D-B6A4D3860FC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5209F17-7DCF-7AFB-6B9A-61AB44F4BB5E}"/>
              </a:ext>
            </a:extLst>
          </p:cNvPr>
          <p:cNvSpPr/>
          <p:nvPr/>
        </p:nvSpPr>
        <p:spPr>
          <a:xfrm>
            <a:off x="0" y="0"/>
            <a:ext cx="12192000" cy="457200"/>
          </a:xfrm>
          <a:prstGeom prst="rect">
            <a:avLst/>
          </a:prstGeom>
          <a:solidFill>
            <a:srgbClr val="DFDFB6"/>
          </a:solidFill>
          <a:ln/>
        </p:spPr>
        <p:txBody>
          <a:bodyPr/>
          <a:lstStyle/>
          <a:p>
            <a:endParaRPr lang="ja-JP" altLang="en-US"/>
          </a:p>
        </p:txBody>
      </p:sp>
      <p:sp>
        <p:nvSpPr>
          <p:cNvPr id="3" name="Text 1">
            <a:extLst>
              <a:ext uri="{FF2B5EF4-FFF2-40B4-BE49-F238E27FC236}">
                <a16:creationId xmlns:a16="http://schemas.microsoft.com/office/drawing/2014/main" id="{7F371ECD-674A-9164-32EB-1FEF5547FD3F}"/>
              </a:ext>
            </a:extLst>
          </p:cNvPr>
          <p:cNvSpPr/>
          <p:nvPr/>
        </p:nvSpPr>
        <p:spPr>
          <a:xfrm>
            <a:off x="640080" y="182880"/>
            <a:ext cx="3657600" cy="274320"/>
          </a:xfrm>
          <a:prstGeom prst="rect">
            <a:avLst/>
          </a:prstGeom>
          <a:noFill/>
          <a:ln/>
        </p:spPr>
        <p:txBody>
          <a:bodyPr wrap="square" rtlCol="0" anchor="ctr"/>
          <a:lstStyle/>
          <a:p>
            <a:pPr marL="0" indent="0">
              <a:buNone/>
            </a:pPr>
            <a:r>
              <a:rPr lang="en-US" sz="1400" dirty="0">
                <a:solidFill>
                  <a:srgbClr val="46789B"/>
                </a:solidFill>
                <a:latin typeface="Helvetica Neue" pitchFamily="34" charset="0"/>
                <a:ea typeface="Helvetica Neue" pitchFamily="34" charset="-122"/>
                <a:cs typeface="Helvetica Neue" pitchFamily="34" charset="-120"/>
              </a:rPr>
              <a:t>Lecture 2</a:t>
            </a:r>
            <a:endParaRPr lang="en-US" sz="1400" dirty="0"/>
          </a:p>
        </p:txBody>
      </p:sp>
      <p:sp>
        <p:nvSpPr>
          <p:cNvPr id="4" name="Text 2">
            <a:extLst>
              <a:ext uri="{FF2B5EF4-FFF2-40B4-BE49-F238E27FC236}">
                <a16:creationId xmlns:a16="http://schemas.microsoft.com/office/drawing/2014/main" id="{28FF9F96-96BC-6C76-F7C3-6C249706F862}"/>
              </a:ext>
            </a:extLst>
          </p:cNvPr>
          <p:cNvSpPr/>
          <p:nvPr/>
        </p:nvSpPr>
        <p:spPr>
          <a:xfrm>
            <a:off x="640080" y="548640"/>
            <a:ext cx="11551920" cy="548640"/>
          </a:xfrm>
          <a:prstGeom prst="rect">
            <a:avLst/>
          </a:prstGeom>
          <a:noFill/>
          <a:ln/>
        </p:spPr>
        <p:txBody>
          <a:bodyPr wrap="square" rtlCol="0" anchor="ctr"/>
          <a:lstStyle/>
          <a:p>
            <a:r>
              <a:rPr lang="en-US" altLang="ja-JP" sz="3600" b="1" dirty="0">
                <a:solidFill>
                  <a:srgbClr val="46789B"/>
                </a:solidFill>
                <a:latin typeface="Helvetica Neue" pitchFamily="34" charset="0"/>
                <a:ea typeface="Helvetica Neue" pitchFamily="34" charset="-122"/>
                <a:cs typeface="Helvetica Neue" pitchFamily="34" charset="-120"/>
              </a:rPr>
              <a:t>KEY POINTS: </a:t>
            </a:r>
            <a:r>
              <a:rPr lang="en-US" altLang="ja-JP" sz="2800" b="1" dirty="0">
                <a:solidFill>
                  <a:srgbClr val="46789B"/>
                </a:solidFill>
                <a:latin typeface="Helvetica Neue" pitchFamily="34" charset="0"/>
                <a:ea typeface="Helvetica Neue" pitchFamily="34" charset="-122"/>
                <a:cs typeface="Helvetica Neue" pitchFamily="34" charset="-120"/>
              </a:rPr>
              <a:t>R</a:t>
            </a:r>
            <a:r>
              <a:rPr lang="en-US" sz="2800" b="1" dirty="0">
                <a:solidFill>
                  <a:srgbClr val="46789B"/>
                </a:solidFill>
                <a:latin typeface="Helvetica Neue" pitchFamily="34" charset="0"/>
                <a:ea typeface="Helvetica Neue" pitchFamily="34" charset="-122"/>
                <a:cs typeface="Helvetica Neue" pitchFamily="34" charset="-120"/>
              </a:rPr>
              <a:t>elative motion</a:t>
            </a:r>
            <a:endParaRPr lang="en-US" sz="3600" dirty="0"/>
          </a:p>
        </p:txBody>
      </p:sp>
      <p:pic>
        <p:nvPicPr>
          <p:cNvPr id="6" name="図 5">
            <a:extLst>
              <a:ext uri="{FF2B5EF4-FFF2-40B4-BE49-F238E27FC236}">
                <a16:creationId xmlns:a16="http://schemas.microsoft.com/office/drawing/2014/main" id="{2A447116-FE5A-171A-B7BC-1F236E534FF5}"/>
              </a:ext>
            </a:extLst>
          </p:cNvPr>
          <p:cNvPicPr>
            <a:picLocks noChangeAspect="1"/>
          </p:cNvPicPr>
          <p:nvPr/>
        </p:nvPicPr>
        <p:blipFill>
          <a:blip r:embed="rId5"/>
          <a:stretch>
            <a:fillRect/>
          </a:stretch>
        </p:blipFill>
        <p:spPr>
          <a:xfrm>
            <a:off x="290721" y="2247662"/>
            <a:ext cx="4884742" cy="3600753"/>
          </a:xfrm>
          <a:prstGeom prst="rect">
            <a:avLst/>
          </a:prstGeom>
        </p:spPr>
      </p:pic>
      <p:sp>
        <p:nvSpPr>
          <p:cNvPr id="7" name="Text 3">
            <a:extLst>
              <a:ext uri="{FF2B5EF4-FFF2-40B4-BE49-F238E27FC236}">
                <a16:creationId xmlns:a16="http://schemas.microsoft.com/office/drawing/2014/main" id="{34F93FC1-8CB2-EC02-0125-37D2FE371FA4}"/>
              </a:ext>
            </a:extLst>
          </p:cNvPr>
          <p:cNvSpPr/>
          <p:nvPr/>
        </p:nvSpPr>
        <p:spPr>
          <a:xfrm>
            <a:off x="6096000" y="2610345"/>
            <a:ext cx="9601200" cy="2002285"/>
          </a:xfrm>
          <a:prstGeom prst="rect">
            <a:avLst/>
          </a:prstGeom>
          <a:noFill/>
          <a:ln/>
        </p:spPr>
        <p:txBody>
          <a:bodyPr wrap="square" rtlCol="0" anchor="ctr"/>
          <a:lstStyle/>
          <a:p>
            <a:pPr>
              <a:buSzPct val="100000"/>
            </a:pPr>
            <a:r>
              <a:rPr lang="en-US" sz="2400" b="1" dirty="0">
                <a:solidFill>
                  <a:srgbClr val="464646"/>
                </a:solidFill>
                <a:latin typeface="Helvetica Neue" pitchFamily="34" charset="0"/>
                <a:ea typeface="Helvetica Neue" pitchFamily="34" charset="-122"/>
                <a:cs typeface="Helvetica Neue" pitchFamily="34" charset="-120"/>
              </a:rPr>
              <a:t>Relative position</a:t>
            </a:r>
          </a:p>
          <a:p>
            <a:pPr marL="342900" indent="-342900">
              <a:buSzPct val="100000"/>
              <a:buChar char="•"/>
            </a:pPr>
            <a:r>
              <a:rPr lang="en-US" sz="2400" i="1" dirty="0" err="1">
                <a:solidFill>
                  <a:srgbClr val="464646"/>
                </a:solidFill>
                <a:latin typeface="Helvetica Neue" pitchFamily="34" charset="0"/>
                <a:ea typeface="Helvetica Neue" pitchFamily="34" charset="-122"/>
                <a:cs typeface="Helvetica Neue" pitchFamily="34" charset="-120"/>
              </a:rPr>
              <a:t>r</a:t>
            </a:r>
            <a:r>
              <a:rPr lang="en-US" sz="2400" i="1" baseline="-25000" dirty="0" err="1">
                <a:solidFill>
                  <a:srgbClr val="464646"/>
                </a:solidFill>
                <a:latin typeface="Helvetica Neue" pitchFamily="34" charset="0"/>
                <a:ea typeface="Helvetica Neue" pitchFamily="34" charset="-122"/>
                <a:cs typeface="Helvetica Neue" pitchFamily="34" charset="-120"/>
              </a:rPr>
              <a:t>B</a:t>
            </a:r>
            <a:r>
              <a:rPr lang="en-US" sz="2400" i="1" baseline="-25000" dirty="0">
                <a:solidFill>
                  <a:srgbClr val="464646"/>
                </a:solidFill>
                <a:latin typeface="Helvetica Neue" pitchFamily="34" charset="0"/>
                <a:ea typeface="Helvetica Neue" pitchFamily="34" charset="-122"/>
                <a:cs typeface="Helvetica Neue" pitchFamily="34" charset="-120"/>
              </a:rPr>
              <a:t>/A</a:t>
            </a:r>
            <a:r>
              <a:rPr lang="en-US" sz="2400" i="1" dirty="0">
                <a:solidFill>
                  <a:srgbClr val="464646"/>
                </a:solidFill>
                <a:latin typeface="Helvetica Neue" pitchFamily="34" charset="0"/>
                <a:ea typeface="Helvetica Neue" pitchFamily="34" charset="-122"/>
                <a:cs typeface="Helvetica Neue" pitchFamily="34" charset="-120"/>
              </a:rPr>
              <a:t>  = </a:t>
            </a:r>
            <a:r>
              <a:rPr lang="en-US" altLang="ja-JP" sz="2400" i="1" dirty="0" err="1">
                <a:solidFill>
                  <a:srgbClr val="464646"/>
                </a:solidFill>
                <a:latin typeface="Helvetica Neue" pitchFamily="34" charset="0"/>
                <a:ea typeface="Helvetica Neue" pitchFamily="34" charset="-122"/>
                <a:cs typeface="Helvetica Neue" pitchFamily="34" charset="-120"/>
              </a:rPr>
              <a:t>r</a:t>
            </a:r>
            <a:r>
              <a:rPr lang="en-US" altLang="ja-JP" sz="2400" i="1" baseline="-25000" dirty="0" err="1">
                <a:solidFill>
                  <a:srgbClr val="464646"/>
                </a:solidFill>
                <a:latin typeface="Helvetica Neue" pitchFamily="34" charset="0"/>
                <a:ea typeface="Helvetica Neue" pitchFamily="34" charset="-122"/>
                <a:cs typeface="Helvetica Neue" pitchFamily="34" charset="-120"/>
              </a:rPr>
              <a:t>B</a:t>
            </a:r>
            <a:r>
              <a:rPr lang="en-US" altLang="ja-JP" sz="2400" i="1" dirty="0">
                <a:solidFill>
                  <a:srgbClr val="464646"/>
                </a:solidFill>
                <a:latin typeface="Helvetica Neue" pitchFamily="34" charset="0"/>
                <a:ea typeface="Helvetica Neue" pitchFamily="34" charset="-122"/>
                <a:cs typeface="Helvetica Neue" pitchFamily="34" charset="-120"/>
              </a:rPr>
              <a:t>  -  </a:t>
            </a:r>
            <a:r>
              <a:rPr lang="en-US" altLang="ja-JP" sz="2400" i="1" dirty="0" err="1">
                <a:solidFill>
                  <a:srgbClr val="464646"/>
                </a:solidFill>
                <a:latin typeface="Helvetica Neue" pitchFamily="34" charset="0"/>
                <a:ea typeface="Helvetica Neue" pitchFamily="34" charset="-122"/>
                <a:cs typeface="Helvetica Neue" pitchFamily="34" charset="-120"/>
              </a:rPr>
              <a:t>r</a:t>
            </a:r>
            <a:r>
              <a:rPr lang="en-US" altLang="ja-JP" sz="2400" i="1" baseline="-25000" dirty="0" err="1">
                <a:solidFill>
                  <a:srgbClr val="464646"/>
                </a:solidFill>
                <a:latin typeface="Helvetica Neue" pitchFamily="34" charset="0"/>
                <a:ea typeface="Helvetica Neue" pitchFamily="34" charset="-122"/>
                <a:cs typeface="Helvetica Neue" pitchFamily="34" charset="-120"/>
              </a:rPr>
              <a:t>A</a:t>
            </a:r>
            <a:endParaRPr lang="en-US" sz="2400" dirty="0"/>
          </a:p>
          <a:p>
            <a:pPr>
              <a:buSzPct val="100000"/>
            </a:pPr>
            <a:endParaRPr lang="en-US" sz="2400" dirty="0"/>
          </a:p>
          <a:p>
            <a:pPr>
              <a:buSzPct val="100000"/>
            </a:pPr>
            <a:r>
              <a:rPr lang="en-US" altLang="ja-JP" sz="2400" b="1" dirty="0">
                <a:solidFill>
                  <a:srgbClr val="464646"/>
                </a:solidFill>
                <a:latin typeface="Helvetica Neue" pitchFamily="34" charset="0"/>
                <a:ea typeface="Helvetica Neue" pitchFamily="34" charset="-122"/>
                <a:cs typeface="Helvetica Neue" pitchFamily="34" charset="-120"/>
              </a:rPr>
              <a:t>Relative velocity</a:t>
            </a:r>
            <a:endParaRPr lang="en-US" sz="2400" dirty="0"/>
          </a:p>
          <a:p>
            <a:pPr marL="342900" indent="-342900">
              <a:buSzPct val="100000"/>
              <a:buFontTx/>
              <a:buChar char="•"/>
            </a:pPr>
            <a:r>
              <a:rPr lang="en-US" altLang="ja-JP" sz="2400" i="1" dirty="0" err="1">
                <a:solidFill>
                  <a:srgbClr val="464646"/>
                </a:solidFill>
                <a:latin typeface="Helvetica Neue" pitchFamily="34" charset="0"/>
                <a:ea typeface="Helvetica Neue" pitchFamily="34" charset="-122"/>
                <a:cs typeface="Helvetica Neue" pitchFamily="34" charset="-120"/>
              </a:rPr>
              <a:t>v</a:t>
            </a:r>
            <a:r>
              <a:rPr lang="en-US" altLang="ja-JP" sz="2400" i="1" baseline="-25000" dirty="0" err="1">
                <a:solidFill>
                  <a:srgbClr val="464646"/>
                </a:solidFill>
                <a:latin typeface="Helvetica Neue" pitchFamily="34" charset="0"/>
                <a:ea typeface="Helvetica Neue" pitchFamily="34" charset="-122"/>
                <a:cs typeface="Helvetica Neue" pitchFamily="34" charset="-120"/>
              </a:rPr>
              <a:t>B</a:t>
            </a:r>
            <a:r>
              <a:rPr lang="en-US" altLang="ja-JP" sz="2400" i="1" baseline="-25000" dirty="0">
                <a:solidFill>
                  <a:srgbClr val="464646"/>
                </a:solidFill>
                <a:latin typeface="Helvetica Neue" pitchFamily="34" charset="0"/>
                <a:ea typeface="Helvetica Neue" pitchFamily="34" charset="-122"/>
                <a:cs typeface="Helvetica Neue" pitchFamily="34" charset="-120"/>
              </a:rPr>
              <a:t>/A</a:t>
            </a:r>
            <a:r>
              <a:rPr lang="en-US" altLang="ja-JP" sz="2400" i="1" dirty="0">
                <a:solidFill>
                  <a:srgbClr val="464646"/>
                </a:solidFill>
                <a:latin typeface="Helvetica Neue" pitchFamily="34" charset="0"/>
                <a:ea typeface="Helvetica Neue" pitchFamily="34" charset="-122"/>
                <a:cs typeface="Helvetica Neue" pitchFamily="34" charset="-120"/>
              </a:rPr>
              <a:t> = </a:t>
            </a:r>
            <a:r>
              <a:rPr lang="en-US" altLang="ja-JP" sz="2400" i="1" dirty="0" err="1">
                <a:solidFill>
                  <a:srgbClr val="464646"/>
                </a:solidFill>
                <a:latin typeface="Helvetica Neue" pitchFamily="34" charset="0"/>
                <a:ea typeface="Helvetica Neue" pitchFamily="34" charset="-122"/>
                <a:cs typeface="Helvetica Neue" pitchFamily="34" charset="-120"/>
              </a:rPr>
              <a:t>v</a:t>
            </a:r>
            <a:r>
              <a:rPr lang="en-US" altLang="ja-JP" sz="2400" i="1" baseline="-25000" dirty="0" err="1">
                <a:solidFill>
                  <a:srgbClr val="464646"/>
                </a:solidFill>
                <a:latin typeface="Helvetica Neue" pitchFamily="34" charset="0"/>
                <a:ea typeface="Helvetica Neue" pitchFamily="34" charset="-122"/>
                <a:cs typeface="Helvetica Neue" pitchFamily="34" charset="-120"/>
              </a:rPr>
              <a:t>B</a:t>
            </a:r>
            <a:r>
              <a:rPr lang="en-US" altLang="ja-JP" sz="2400" i="1" dirty="0">
                <a:solidFill>
                  <a:srgbClr val="464646"/>
                </a:solidFill>
                <a:latin typeface="Helvetica Neue" pitchFamily="34" charset="0"/>
                <a:ea typeface="Helvetica Neue" pitchFamily="34" charset="-122"/>
                <a:cs typeface="Helvetica Neue" pitchFamily="34" charset="-120"/>
              </a:rPr>
              <a:t>  - </a:t>
            </a:r>
            <a:r>
              <a:rPr lang="en-US" altLang="ja-JP" sz="2400" i="1" dirty="0" err="1">
                <a:solidFill>
                  <a:srgbClr val="464646"/>
                </a:solidFill>
                <a:latin typeface="Helvetica Neue" pitchFamily="34" charset="0"/>
                <a:ea typeface="Helvetica Neue" pitchFamily="34" charset="-122"/>
                <a:cs typeface="Helvetica Neue" pitchFamily="34" charset="-120"/>
              </a:rPr>
              <a:t>v</a:t>
            </a:r>
            <a:r>
              <a:rPr lang="en-US" altLang="ja-JP" sz="2400" i="1" baseline="-25000" dirty="0" err="1">
                <a:solidFill>
                  <a:srgbClr val="464646"/>
                </a:solidFill>
                <a:latin typeface="Helvetica Neue" pitchFamily="34" charset="0"/>
                <a:ea typeface="Helvetica Neue" pitchFamily="34" charset="-122"/>
                <a:cs typeface="Helvetica Neue" pitchFamily="34" charset="-120"/>
              </a:rPr>
              <a:t>A</a:t>
            </a:r>
            <a:endParaRPr lang="en-US" altLang="ja-JP" sz="2400" i="1" baseline="-25000" dirty="0">
              <a:solidFill>
                <a:srgbClr val="464646"/>
              </a:solidFill>
              <a:latin typeface="Helvetica Neue" pitchFamily="34" charset="0"/>
              <a:ea typeface="Helvetica Neue" pitchFamily="34" charset="-122"/>
              <a:cs typeface="Helvetica Neue" pitchFamily="34" charset="-120"/>
            </a:endParaRPr>
          </a:p>
          <a:p>
            <a:pPr marL="342900" indent="-342900">
              <a:buSzPct val="100000"/>
              <a:buFontTx/>
              <a:buChar char="•"/>
            </a:pPr>
            <a:endParaRPr lang="en-US" altLang="ja-JP" sz="2400" i="1" baseline="-25000" dirty="0">
              <a:solidFill>
                <a:srgbClr val="464646"/>
              </a:solidFill>
              <a:latin typeface="Helvetica Neue" pitchFamily="34" charset="0"/>
              <a:ea typeface="Helvetica Neue" pitchFamily="34" charset="-122"/>
              <a:cs typeface="Helvetica Neue" pitchFamily="34" charset="-120"/>
            </a:endParaRPr>
          </a:p>
          <a:p>
            <a:pPr>
              <a:buSzPct val="100000"/>
            </a:pPr>
            <a:r>
              <a:rPr lang="en-US" altLang="ja-JP" sz="2400" b="1" dirty="0">
                <a:solidFill>
                  <a:srgbClr val="464646"/>
                </a:solidFill>
                <a:latin typeface="Helvetica Neue" pitchFamily="34" charset="0"/>
                <a:ea typeface="Helvetica Neue" pitchFamily="34" charset="-122"/>
                <a:cs typeface="Helvetica Neue" pitchFamily="34" charset="-120"/>
              </a:rPr>
              <a:t>Relative acceleration</a:t>
            </a:r>
            <a:endParaRPr lang="en-US" altLang="ja-JP" sz="2400" i="1" baseline="-25000" dirty="0">
              <a:solidFill>
                <a:srgbClr val="464646"/>
              </a:solidFill>
              <a:latin typeface="Helvetica Neue" pitchFamily="34" charset="0"/>
              <a:ea typeface="Helvetica Neue" pitchFamily="34" charset="-122"/>
              <a:cs typeface="Helvetica Neue" pitchFamily="34" charset="-120"/>
            </a:endParaRPr>
          </a:p>
          <a:p>
            <a:pPr marL="342900" indent="-342900">
              <a:buSzPct val="100000"/>
              <a:buFontTx/>
              <a:buChar char="•"/>
            </a:pPr>
            <a:r>
              <a:rPr lang="en-US" altLang="ja-JP" sz="2400" i="1" dirty="0" err="1">
                <a:solidFill>
                  <a:srgbClr val="464646"/>
                </a:solidFill>
                <a:latin typeface="Helvetica Neue" pitchFamily="34" charset="0"/>
                <a:ea typeface="Helvetica Neue" pitchFamily="34" charset="-122"/>
                <a:cs typeface="Helvetica Neue" pitchFamily="34" charset="-120"/>
              </a:rPr>
              <a:t>a</a:t>
            </a:r>
            <a:r>
              <a:rPr lang="en-US" altLang="ja-JP" sz="2400" i="1" baseline="-25000" dirty="0" err="1">
                <a:solidFill>
                  <a:srgbClr val="464646"/>
                </a:solidFill>
                <a:latin typeface="Helvetica Neue" pitchFamily="34" charset="0"/>
                <a:ea typeface="Helvetica Neue" pitchFamily="34" charset="-122"/>
                <a:cs typeface="Helvetica Neue" pitchFamily="34" charset="-120"/>
              </a:rPr>
              <a:t>B</a:t>
            </a:r>
            <a:r>
              <a:rPr lang="en-US" altLang="ja-JP" sz="2400" i="1" baseline="-25000" dirty="0">
                <a:solidFill>
                  <a:srgbClr val="464646"/>
                </a:solidFill>
                <a:latin typeface="Helvetica Neue" pitchFamily="34" charset="0"/>
                <a:ea typeface="Helvetica Neue" pitchFamily="34" charset="-122"/>
                <a:cs typeface="Helvetica Neue" pitchFamily="34" charset="-120"/>
              </a:rPr>
              <a:t>/A</a:t>
            </a:r>
            <a:r>
              <a:rPr lang="en-US" altLang="ja-JP" sz="2400" i="1" dirty="0">
                <a:solidFill>
                  <a:srgbClr val="464646"/>
                </a:solidFill>
                <a:latin typeface="Helvetica Neue" pitchFamily="34" charset="0"/>
                <a:ea typeface="Helvetica Neue" pitchFamily="34" charset="-122"/>
                <a:cs typeface="Helvetica Neue" pitchFamily="34" charset="-120"/>
              </a:rPr>
              <a:t> = </a:t>
            </a:r>
            <a:r>
              <a:rPr lang="en-US" altLang="ja-JP" sz="2400" i="1" dirty="0" err="1">
                <a:solidFill>
                  <a:srgbClr val="464646"/>
                </a:solidFill>
                <a:latin typeface="Helvetica Neue" pitchFamily="34" charset="0"/>
                <a:ea typeface="Helvetica Neue" pitchFamily="34" charset="-122"/>
                <a:cs typeface="Helvetica Neue" pitchFamily="34" charset="-120"/>
              </a:rPr>
              <a:t>a</a:t>
            </a:r>
            <a:r>
              <a:rPr lang="en-US" altLang="ja-JP" sz="2400" i="1" baseline="-25000" dirty="0" err="1">
                <a:solidFill>
                  <a:srgbClr val="464646"/>
                </a:solidFill>
                <a:latin typeface="Helvetica Neue" pitchFamily="34" charset="0"/>
                <a:ea typeface="Helvetica Neue" pitchFamily="34" charset="-122"/>
                <a:cs typeface="Helvetica Neue" pitchFamily="34" charset="-120"/>
              </a:rPr>
              <a:t>B</a:t>
            </a:r>
            <a:r>
              <a:rPr lang="en-US" altLang="ja-JP" sz="2400" i="1" dirty="0">
                <a:solidFill>
                  <a:srgbClr val="464646"/>
                </a:solidFill>
                <a:latin typeface="Helvetica Neue" pitchFamily="34" charset="0"/>
                <a:ea typeface="Helvetica Neue" pitchFamily="34" charset="-122"/>
                <a:cs typeface="Helvetica Neue" pitchFamily="34" charset="-120"/>
              </a:rPr>
              <a:t>  -  </a:t>
            </a:r>
            <a:r>
              <a:rPr lang="en-US" altLang="ja-JP" sz="2400" i="1" dirty="0" err="1">
                <a:solidFill>
                  <a:srgbClr val="464646"/>
                </a:solidFill>
                <a:latin typeface="Helvetica Neue" pitchFamily="34" charset="0"/>
                <a:ea typeface="Helvetica Neue" pitchFamily="34" charset="-122"/>
                <a:cs typeface="Helvetica Neue" pitchFamily="34" charset="-120"/>
              </a:rPr>
              <a:t>a</a:t>
            </a:r>
            <a:r>
              <a:rPr lang="en-US" altLang="ja-JP" sz="2400" i="1" baseline="-25000" dirty="0" err="1">
                <a:solidFill>
                  <a:srgbClr val="464646"/>
                </a:solidFill>
                <a:latin typeface="Helvetica Neue" pitchFamily="34" charset="0"/>
                <a:ea typeface="Helvetica Neue" pitchFamily="34" charset="-122"/>
                <a:cs typeface="Helvetica Neue" pitchFamily="34" charset="-120"/>
              </a:rPr>
              <a:t>A</a:t>
            </a:r>
            <a:endParaRPr lang="en-US" altLang="ja-JP" sz="2400" dirty="0"/>
          </a:p>
          <a:p>
            <a:pPr marL="342900" indent="-342900">
              <a:buSzPct val="100000"/>
              <a:buFontTx/>
              <a:buChar char="•"/>
            </a:pPr>
            <a:endParaRPr lang="en-US" altLang="ja-JP" sz="2400" dirty="0"/>
          </a:p>
        </p:txBody>
      </p:sp>
      <p:sp>
        <p:nvSpPr>
          <p:cNvPr id="8" name="Shape 3">
            <a:extLst>
              <a:ext uri="{FF2B5EF4-FFF2-40B4-BE49-F238E27FC236}">
                <a16:creationId xmlns:a16="http://schemas.microsoft.com/office/drawing/2014/main" id="{9C6061BD-0878-1E39-A5EA-D9B65AAEE702}"/>
              </a:ext>
            </a:extLst>
          </p:cNvPr>
          <p:cNvSpPr/>
          <p:nvPr/>
        </p:nvSpPr>
        <p:spPr>
          <a:xfrm>
            <a:off x="5725552" y="5472356"/>
            <a:ext cx="4234374" cy="837004"/>
          </a:xfrm>
          <a:prstGeom prst="rect">
            <a:avLst/>
          </a:prstGeom>
          <a:solidFill>
            <a:srgbClr val="DFDFB6"/>
          </a:solidFill>
          <a:ln/>
        </p:spPr>
        <p:txBody>
          <a:bodyPr/>
          <a:lstStyle/>
          <a:p>
            <a:endParaRPr lang="ja-JP" altLang="en-US"/>
          </a:p>
        </p:txBody>
      </p:sp>
      <p:sp>
        <p:nvSpPr>
          <p:cNvPr id="9" name="Text 4">
            <a:extLst>
              <a:ext uri="{FF2B5EF4-FFF2-40B4-BE49-F238E27FC236}">
                <a16:creationId xmlns:a16="http://schemas.microsoft.com/office/drawing/2014/main" id="{75490E20-7832-4444-1A77-BC5F103BD696}"/>
              </a:ext>
            </a:extLst>
          </p:cNvPr>
          <p:cNvSpPr/>
          <p:nvPr/>
        </p:nvSpPr>
        <p:spPr>
          <a:xfrm>
            <a:off x="5497220" y="5760720"/>
            <a:ext cx="4806265" cy="548640"/>
          </a:xfrm>
          <a:prstGeom prst="rect">
            <a:avLst/>
          </a:prstGeom>
          <a:noFill/>
          <a:ln/>
        </p:spPr>
        <p:txBody>
          <a:bodyPr wrap="square" rtlCol="0" anchor="ctr"/>
          <a:lstStyle/>
          <a:p>
            <a:pPr marL="0" indent="0" algn="ctr">
              <a:buNone/>
            </a:pPr>
            <a:r>
              <a:rPr lang="en-US" sz="2400" b="1" dirty="0">
                <a:solidFill>
                  <a:srgbClr val="46789B"/>
                </a:solidFill>
                <a:latin typeface="Helvetica Neue" pitchFamily="34" charset="0"/>
                <a:ea typeface="Helvetica Neue" pitchFamily="34" charset="-122"/>
                <a:cs typeface="Helvetica Neue" pitchFamily="34" charset="-120"/>
              </a:rPr>
              <a:t>take X</a:t>
            </a:r>
            <a:r>
              <a:rPr lang="en-US" sz="2400" b="1" baseline="-25000" dirty="0">
                <a:solidFill>
                  <a:srgbClr val="46789B"/>
                </a:solidFill>
                <a:latin typeface="Helvetica Neue" pitchFamily="34" charset="0"/>
                <a:ea typeface="Helvetica Neue" pitchFamily="34" charset="-122"/>
                <a:cs typeface="Helvetica Neue" pitchFamily="34" charset="-120"/>
              </a:rPr>
              <a:t>B</a:t>
            </a:r>
            <a:r>
              <a:rPr lang="en-US" sz="2400" b="1" dirty="0">
                <a:solidFill>
                  <a:srgbClr val="46789B"/>
                </a:solidFill>
                <a:latin typeface="Helvetica Neue" pitchFamily="34" charset="0"/>
                <a:ea typeface="Helvetica Neue" pitchFamily="34" charset="-122"/>
                <a:cs typeface="Helvetica Neue" pitchFamily="34" charset="-120"/>
              </a:rPr>
              <a:t>, subtract X</a:t>
            </a:r>
            <a:r>
              <a:rPr lang="en-US" sz="2400" b="1" baseline="-25000" dirty="0">
                <a:solidFill>
                  <a:srgbClr val="46789B"/>
                </a:solidFill>
                <a:latin typeface="Helvetica Neue" pitchFamily="34" charset="0"/>
                <a:ea typeface="Helvetica Neue" pitchFamily="34" charset="-122"/>
                <a:cs typeface="Helvetica Neue" pitchFamily="34" charset="-120"/>
              </a:rPr>
              <a:t>A</a:t>
            </a:r>
            <a:r>
              <a:rPr lang="en-US" sz="2400" b="1" dirty="0">
                <a:solidFill>
                  <a:srgbClr val="46789B"/>
                </a:solidFill>
                <a:latin typeface="Helvetica Neue" pitchFamily="34" charset="0"/>
                <a:ea typeface="Helvetica Neue" pitchFamily="34" charset="-122"/>
                <a:cs typeface="Helvetica Neue" pitchFamily="34" charset="-120"/>
              </a:rPr>
              <a:t> </a:t>
            </a:r>
          </a:p>
          <a:p>
            <a:pPr marL="0" indent="0" algn="ctr">
              <a:buNone/>
            </a:pPr>
            <a:r>
              <a:rPr lang="en-US" sz="2400" b="1" dirty="0">
                <a:solidFill>
                  <a:srgbClr val="46789B"/>
                </a:solidFill>
                <a:latin typeface="Helvetica Neue" pitchFamily="34" charset="0"/>
                <a:ea typeface="Helvetica Neue" pitchFamily="34" charset="-122"/>
                <a:cs typeface="Helvetica Neue" pitchFamily="34" charset="-120"/>
              </a:rPr>
              <a:t>B as seen from A.</a:t>
            </a:r>
            <a:br>
              <a:rPr lang="en-US" sz="2400" b="1" dirty="0">
                <a:solidFill>
                  <a:srgbClr val="46789B"/>
                </a:solidFill>
                <a:latin typeface="Helvetica Neue" pitchFamily="34" charset="0"/>
                <a:ea typeface="Helvetica Neue" pitchFamily="34" charset="-122"/>
                <a:cs typeface="Helvetica Neue" pitchFamily="34" charset="-120"/>
              </a:rPr>
            </a:br>
            <a:endParaRPr lang="en-US" sz="2400" b="1" dirty="0">
              <a:solidFill>
                <a:srgbClr val="46789B"/>
              </a:solidFill>
              <a:latin typeface="Helvetica Neue" pitchFamily="34" charset="0"/>
              <a:ea typeface="Helvetica Neue" pitchFamily="34" charset="-122"/>
              <a:cs typeface="Helvetica Neue" pitchFamily="34" charset="-120"/>
            </a:endParaRPr>
          </a:p>
        </p:txBody>
      </p:sp>
      <p:pic>
        <p:nvPicPr>
          <p:cNvPr id="10" name="Class Voice (18)">
            <a:hlinkClick r:id="" action="ppaction://media"/>
            <a:extLst>
              <a:ext uri="{FF2B5EF4-FFF2-40B4-BE49-F238E27FC236}">
                <a16:creationId xmlns:a16="http://schemas.microsoft.com/office/drawing/2014/main" id="{3B0243B1-E1A7-663A-054F-47A2FCCE171C}"/>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348268" y="50800"/>
            <a:ext cx="812800" cy="812800"/>
          </a:xfrm>
          <a:prstGeom prst="rect">
            <a:avLst/>
          </a:prstGeom>
        </p:spPr>
      </p:pic>
    </p:spTree>
    <p:extLst>
      <p:ext uri="{BB962C8B-B14F-4D97-AF65-F5344CB8AC3E}">
        <p14:creationId xmlns:p14="http://schemas.microsoft.com/office/powerpoint/2010/main" val="3986019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9420"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10"/>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3">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12192000" cy="457200"/>
          </a:xfrm>
          <a:prstGeom prst="rect">
            <a:avLst/>
          </a:prstGeom>
          <a:solidFill>
            <a:srgbClr val="DFDFB6"/>
          </a:solidFill>
          <a:ln/>
        </p:spPr>
        <p:txBody>
          <a:bodyPr/>
          <a:lstStyle/>
          <a:p>
            <a:endParaRPr lang="ja-JP" altLang="en-US"/>
          </a:p>
        </p:txBody>
      </p:sp>
      <p:sp>
        <p:nvSpPr>
          <p:cNvPr id="3" name="Text 1"/>
          <p:cNvSpPr/>
          <p:nvPr/>
        </p:nvSpPr>
        <p:spPr>
          <a:xfrm>
            <a:off x="640080" y="182880"/>
            <a:ext cx="3657600" cy="274320"/>
          </a:xfrm>
          <a:prstGeom prst="rect">
            <a:avLst/>
          </a:prstGeom>
          <a:noFill/>
          <a:ln/>
        </p:spPr>
        <p:txBody>
          <a:bodyPr wrap="square" rtlCol="0" anchor="ctr"/>
          <a:lstStyle/>
          <a:p>
            <a:pPr marL="0" indent="0">
              <a:buNone/>
            </a:pPr>
            <a:r>
              <a:rPr lang="en-US" sz="1400" dirty="0">
                <a:solidFill>
                  <a:srgbClr val="46789B"/>
                </a:solidFill>
                <a:latin typeface="Helvetica Neue" pitchFamily="34" charset="0"/>
                <a:ea typeface="Helvetica Neue" pitchFamily="34" charset="-122"/>
                <a:cs typeface="Helvetica Neue" pitchFamily="34" charset="-120"/>
              </a:rPr>
              <a:t>Lecture 2</a:t>
            </a:r>
            <a:endParaRPr lang="en-US" sz="1400" dirty="0"/>
          </a:p>
        </p:txBody>
      </p:sp>
      <p:sp>
        <p:nvSpPr>
          <p:cNvPr id="4" name="Text 2"/>
          <p:cNvSpPr/>
          <p:nvPr/>
        </p:nvSpPr>
        <p:spPr>
          <a:xfrm>
            <a:off x="640079" y="548640"/>
            <a:ext cx="11697063" cy="548640"/>
          </a:xfrm>
          <a:prstGeom prst="rect">
            <a:avLst/>
          </a:prstGeom>
          <a:noFill/>
          <a:ln/>
        </p:spPr>
        <p:txBody>
          <a:bodyPr wrap="square" rtlCol="0" anchor="ctr"/>
          <a:lstStyle/>
          <a:p>
            <a:pPr marL="0" indent="0">
              <a:buNone/>
            </a:pPr>
            <a:r>
              <a:rPr lang="en-US" sz="3600" b="1" dirty="0">
                <a:solidFill>
                  <a:srgbClr val="46789B"/>
                </a:solidFill>
                <a:latin typeface="Helvetica Neue" pitchFamily="34" charset="0"/>
                <a:ea typeface="Helvetica Neue" pitchFamily="34" charset="-122"/>
                <a:cs typeface="Helvetica Neue" pitchFamily="34" charset="-120"/>
              </a:rPr>
              <a:t>STRATEGY: Method selection for curved motion</a:t>
            </a:r>
            <a:endParaRPr lang="en-US" sz="3600" dirty="0"/>
          </a:p>
        </p:txBody>
      </p:sp>
      <p:sp>
        <p:nvSpPr>
          <p:cNvPr id="5" name="Shape 3"/>
          <p:cNvSpPr/>
          <p:nvPr/>
        </p:nvSpPr>
        <p:spPr>
          <a:xfrm>
            <a:off x="807720" y="1948376"/>
            <a:ext cx="10180320" cy="3931920"/>
          </a:xfrm>
          <a:prstGeom prst="rect">
            <a:avLst/>
          </a:prstGeom>
          <a:solidFill>
            <a:srgbClr val="DFDFB6"/>
          </a:solidFill>
          <a:ln/>
        </p:spPr>
        <p:txBody>
          <a:bodyPr/>
          <a:lstStyle/>
          <a:p>
            <a:endParaRPr lang="ja-JP" altLang="en-US"/>
          </a:p>
        </p:txBody>
      </p:sp>
      <p:sp>
        <p:nvSpPr>
          <p:cNvPr id="6" name="Text 4"/>
          <p:cNvSpPr/>
          <p:nvPr/>
        </p:nvSpPr>
        <p:spPr>
          <a:xfrm>
            <a:off x="1097280" y="2039816"/>
            <a:ext cx="9601200" cy="548640"/>
          </a:xfrm>
          <a:prstGeom prst="rect">
            <a:avLst/>
          </a:prstGeom>
          <a:noFill/>
          <a:ln/>
        </p:spPr>
        <p:txBody>
          <a:bodyPr wrap="square" rtlCol="0" anchor="ctr"/>
          <a:lstStyle/>
          <a:p>
            <a:pPr marL="0" indent="0" algn="ctr">
              <a:buNone/>
            </a:pPr>
            <a:r>
              <a:rPr lang="en-US" sz="2400" b="1" dirty="0">
                <a:solidFill>
                  <a:srgbClr val="46789B"/>
                </a:solidFill>
                <a:latin typeface="Helvetica Neue" pitchFamily="34" charset="0"/>
                <a:ea typeface="Helvetica Neue" pitchFamily="34" charset="-122"/>
                <a:cs typeface="Helvetica Neue" pitchFamily="34" charset="-120"/>
              </a:rPr>
              <a:t>Which situation do you have?</a:t>
            </a:r>
            <a:endParaRPr lang="en-US" sz="2400" dirty="0"/>
          </a:p>
        </p:txBody>
      </p:sp>
      <p:sp>
        <p:nvSpPr>
          <p:cNvPr id="7" name="Text 5"/>
          <p:cNvSpPr/>
          <p:nvPr/>
        </p:nvSpPr>
        <p:spPr>
          <a:xfrm>
            <a:off x="1097280" y="2222696"/>
            <a:ext cx="9601200" cy="3657600"/>
          </a:xfrm>
          <a:prstGeom prst="rect">
            <a:avLst/>
          </a:prstGeom>
          <a:noFill/>
          <a:ln/>
        </p:spPr>
        <p:txBody>
          <a:bodyPr wrap="square" rtlCol="0" anchor="ctr"/>
          <a:lstStyle/>
          <a:p>
            <a:pPr marL="342900" indent="-342900">
              <a:buSzPct val="100000"/>
              <a:buChar char="•"/>
            </a:pPr>
            <a:r>
              <a:rPr lang="en-US" sz="2400" dirty="0">
                <a:solidFill>
                  <a:srgbClr val="464646"/>
                </a:solidFill>
                <a:latin typeface="Helvetica Neue" pitchFamily="34" charset="0"/>
                <a:ea typeface="Helvetica Neue" pitchFamily="34" charset="-122"/>
                <a:cs typeface="Helvetica Neue" pitchFamily="34" charset="-120"/>
              </a:rPr>
              <a:t>Curved path, speed known  →  use </a:t>
            </a:r>
            <a:r>
              <a:rPr lang="en-US" sz="2400" i="1" dirty="0">
                <a:solidFill>
                  <a:srgbClr val="464646"/>
                </a:solidFill>
                <a:latin typeface="Helvetica Neue" pitchFamily="34" charset="0"/>
                <a:ea typeface="Helvetica Neue" pitchFamily="34" charset="-122"/>
                <a:cs typeface="Helvetica Neue" pitchFamily="34" charset="-120"/>
              </a:rPr>
              <a:t>a</a:t>
            </a:r>
            <a:r>
              <a:rPr lang="en-US" sz="2400" i="1" baseline="-25000" dirty="0">
                <a:solidFill>
                  <a:srgbClr val="464646"/>
                </a:solidFill>
                <a:latin typeface="Helvetica Neue" pitchFamily="34" charset="0"/>
                <a:ea typeface="Helvetica Neue" pitchFamily="34" charset="-122"/>
                <a:cs typeface="Helvetica Neue" pitchFamily="34" charset="-120"/>
              </a:rPr>
              <a:t>n</a:t>
            </a:r>
            <a:r>
              <a:rPr lang="en-US" sz="2400" i="1" dirty="0">
                <a:solidFill>
                  <a:srgbClr val="464646"/>
                </a:solidFill>
                <a:latin typeface="Helvetica Neue" pitchFamily="34" charset="0"/>
                <a:ea typeface="Helvetica Neue" pitchFamily="34" charset="-122"/>
                <a:cs typeface="Helvetica Neue" pitchFamily="34" charset="-120"/>
              </a:rPr>
              <a:t> = v²/ρ, a</a:t>
            </a:r>
            <a:r>
              <a:rPr lang="en-US" sz="2400" i="1" baseline="-25000" dirty="0">
                <a:solidFill>
                  <a:srgbClr val="464646"/>
                </a:solidFill>
                <a:latin typeface="Helvetica Neue" pitchFamily="34" charset="0"/>
                <a:ea typeface="Helvetica Neue" pitchFamily="34" charset="-122"/>
                <a:cs typeface="Helvetica Neue" pitchFamily="34" charset="-120"/>
              </a:rPr>
              <a:t>t</a:t>
            </a:r>
            <a:r>
              <a:rPr lang="en-US" sz="2400" i="1" dirty="0">
                <a:solidFill>
                  <a:srgbClr val="464646"/>
                </a:solidFill>
                <a:latin typeface="Helvetica Neue" pitchFamily="34" charset="0"/>
                <a:ea typeface="Helvetica Neue" pitchFamily="34" charset="-122"/>
                <a:cs typeface="Helvetica Neue" pitchFamily="34" charset="-120"/>
              </a:rPr>
              <a:t> = dv/dt</a:t>
            </a:r>
            <a:endParaRPr lang="en-US" sz="2400" i="1" dirty="0"/>
          </a:p>
          <a:p>
            <a:pPr marL="342900" indent="-342900">
              <a:buSzPct val="100000"/>
              <a:buChar char="•"/>
            </a:pPr>
            <a:endParaRPr lang="en-US" sz="2400" dirty="0">
              <a:solidFill>
                <a:srgbClr val="464646"/>
              </a:solidFill>
              <a:latin typeface="Helvetica Neue" pitchFamily="34" charset="0"/>
              <a:ea typeface="Helvetica Neue" pitchFamily="34" charset="-122"/>
              <a:cs typeface="Helvetica Neue" pitchFamily="34" charset="-120"/>
            </a:endParaRPr>
          </a:p>
          <a:p>
            <a:pPr marL="342900" indent="-342900">
              <a:buSzPct val="100000"/>
              <a:buChar char="•"/>
            </a:pPr>
            <a:r>
              <a:rPr lang="en-US" sz="2400" dirty="0">
                <a:solidFill>
                  <a:srgbClr val="464646"/>
                </a:solidFill>
                <a:latin typeface="Helvetica Neue" pitchFamily="34" charset="0"/>
                <a:ea typeface="Helvetica Neue" pitchFamily="34" charset="-122"/>
                <a:cs typeface="Helvetica Neue" pitchFamily="34" charset="-120"/>
              </a:rPr>
              <a:t>Projectile (launch angle)  →  decompose x and y independently</a:t>
            </a:r>
          </a:p>
          <a:p>
            <a:pPr marL="342900" indent="-342900">
              <a:buSzPct val="100000"/>
              <a:buChar char="•"/>
            </a:pPr>
            <a:endParaRPr lang="en-US" sz="2400" dirty="0"/>
          </a:p>
          <a:p>
            <a:pPr marL="342900" indent="-342900">
              <a:buSzPct val="100000"/>
              <a:buChar char="•"/>
            </a:pPr>
            <a:r>
              <a:rPr lang="en-US" sz="2400" dirty="0">
                <a:solidFill>
                  <a:srgbClr val="464646"/>
                </a:solidFill>
                <a:latin typeface="Helvetica Neue" pitchFamily="34" charset="0"/>
                <a:ea typeface="Helvetica Neue" pitchFamily="34" charset="-122"/>
                <a:cs typeface="Helvetica Neue" pitchFamily="34" charset="-120"/>
              </a:rPr>
              <a:t>Two moving observers       →  subtract vectors: </a:t>
            </a:r>
            <a:r>
              <a:rPr lang="en-US" sz="2400" i="1" dirty="0" err="1">
                <a:solidFill>
                  <a:srgbClr val="464646"/>
                </a:solidFill>
                <a:latin typeface="Helvetica Neue" pitchFamily="34" charset="0"/>
                <a:ea typeface="Helvetica Neue" pitchFamily="34" charset="-122"/>
                <a:cs typeface="Helvetica Neue" pitchFamily="34" charset="-120"/>
              </a:rPr>
              <a:t>v</a:t>
            </a:r>
            <a:r>
              <a:rPr lang="en-US" sz="2400" i="1" baseline="-25000" dirty="0" err="1">
                <a:solidFill>
                  <a:srgbClr val="464646"/>
                </a:solidFill>
                <a:latin typeface="Helvetica Neue" pitchFamily="34" charset="0"/>
                <a:ea typeface="Helvetica Neue" pitchFamily="34" charset="-122"/>
                <a:cs typeface="Helvetica Neue" pitchFamily="34" charset="-120"/>
              </a:rPr>
              <a:t>B</a:t>
            </a:r>
            <a:r>
              <a:rPr lang="en-US" sz="2400" i="1" baseline="-25000" dirty="0">
                <a:solidFill>
                  <a:srgbClr val="464646"/>
                </a:solidFill>
                <a:latin typeface="Helvetica Neue" pitchFamily="34" charset="0"/>
                <a:ea typeface="Helvetica Neue" pitchFamily="34" charset="-122"/>
                <a:cs typeface="Helvetica Neue" pitchFamily="34" charset="-120"/>
              </a:rPr>
              <a:t>/A</a:t>
            </a:r>
            <a:r>
              <a:rPr lang="en-US" sz="2400" i="1" dirty="0">
                <a:solidFill>
                  <a:srgbClr val="464646"/>
                </a:solidFill>
                <a:latin typeface="Helvetica Neue" pitchFamily="34" charset="0"/>
                <a:ea typeface="Helvetica Neue" pitchFamily="34" charset="-122"/>
                <a:cs typeface="Helvetica Neue" pitchFamily="34" charset="-120"/>
              </a:rPr>
              <a:t> = </a:t>
            </a:r>
            <a:r>
              <a:rPr lang="en-US" sz="2400" i="1" dirty="0" err="1">
                <a:solidFill>
                  <a:srgbClr val="464646"/>
                </a:solidFill>
                <a:latin typeface="Helvetica Neue" pitchFamily="34" charset="0"/>
                <a:ea typeface="Helvetica Neue" pitchFamily="34" charset="-122"/>
                <a:cs typeface="Helvetica Neue" pitchFamily="34" charset="-120"/>
              </a:rPr>
              <a:t>v</a:t>
            </a:r>
            <a:r>
              <a:rPr lang="en-US" sz="2400" i="1" baseline="-25000" dirty="0" err="1">
                <a:solidFill>
                  <a:srgbClr val="464646"/>
                </a:solidFill>
                <a:latin typeface="Helvetica Neue" pitchFamily="34" charset="0"/>
                <a:ea typeface="Helvetica Neue" pitchFamily="34" charset="-122"/>
                <a:cs typeface="Helvetica Neue" pitchFamily="34" charset="-120"/>
              </a:rPr>
              <a:t>B</a:t>
            </a:r>
            <a:r>
              <a:rPr lang="en-US" sz="2400" i="1" dirty="0">
                <a:solidFill>
                  <a:srgbClr val="464646"/>
                </a:solidFill>
                <a:latin typeface="Helvetica Neue" pitchFamily="34" charset="0"/>
                <a:ea typeface="Helvetica Neue" pitchFamily="34" charset="-122"/>
                <a:cs typeface="Helvetica Neue" pitchFamily="34" charset="-120"/>
              </a:rPr>
              <a:t> − </a:t>
            </a:r>
            <a:r>
              <a:rPr lang="en-US" sz="2400" i="1" dirty="0" err="1">
                <a:solidFill>
                  <a:srgbClr val="464646"/>
                </a:solidFill>
                <a:latin typeface="Helvetica Neue" pitchFamily="34" charset="0"/>
                <a:ea typeface="Helvetica Neue" pitchFamily="34" charset="-122"/>
                <a:cs typeface="Helvetica Neue" pitchFamily="34" charset="-120"/>
              </a:rPr>
              <a:t>v</a:t>
            </a:r>
            <a:r>
              <a:rPr lang="en-US" sz="2400" i="1" baseline="-25000" dirty="0" err="1">
                <a:solidFill>
                  <a:srgbClr val="464646"/>
                </a:solidFill>
                <a:latin typeface="Helvetica Neue" pitchFamily="34" charset="0"/>
                <a:ea typeface="Helvetica Neue" pitchFamily="34" charset="-122"/>
                <a:cs typeface="Helvetica Neue" pitchFamily="34" charset="-120"/>
              </a:rPr>
              <a:t>A</a:t>
            </a:r>
            <a:endParaRPr lang="en-US" sz="2400" i="1" baseline="-25000" dirty="0"/>
          </a:p>
        </p:txBody>
      </p:sp>
      <p:pic>
        <p:nvPicPr>
          <p:cNvPr id="8" name="Class Voice (19)">
            <a:hlinkClick r:id="" action="ppaction://media"/>
            <a:extLst>
              <a:ext uri="{FF2B5EF4-FFF2-40B4-BE49-F238E27FC236}">
                <a16:creationId xmlns:a16="http://schemas.microsoft.com/office/drawing/2014/main" id="{B92E0B6D-480E-8E09-457A-59422803C39E}"/>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007486" y="10160"/>
            <a:ext cx="812800" cy="812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7728"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8"/>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12192000" cy="457200"/>
          </a:xfrm>
          <a:prstGeom prst="rect">
            <a:avLst/>
          </a:prstGeom>
          <a:solidFill>
            <a:srgbClr val="DFDFB6"/>
          </a:solidFill>
          <a:ln/>
        </p:spPr>
        <p:txBody>
          <a:bodyPr/>
          <a:lstStyle/>
          <a:p>
            <a:endParaRPr lang="ja-JP" altLang="en-US"/>
          </a:p>
        </p:txBody>
      </p:sp>
      <p:sp>
        <p:nvSpPr>
          <p:cNvPr id="3" name="Text 1"/>
          <p:cNvSpPr/>
          <p:nvPr/>
        </p:nvSpPr>
        <p:spPr>
          <a:xfrm>
            <a:off x="640080" y="182880"/>
            <a:ext cx="3657600" cy="274320"/>
          </a:xfrm>
          <a:prstGeom prst="rect">
            <a:avLst/>
          </a:prstGeom>
          <a:noFill/>
          <a:ln/>
        </p:spPr>
        <p:txBody>
          <a:bodyPr wrap="square" rtlCol="0" anchor="ctr"/>
          <a:lstStyle/>
          <a:p>
            <a:pPr marL="0" indent="0">
              <a:buNone/>
            </a:pPr>
            <a:r>
              <a:rPr lang="en-US" sz="1400" dirty="0">
                <a:solidFill>
                  <a:srgbClr val="46789B"/>
                </a:solidFill>
                <a:latin typeface="Helvetica Neue" pitchFamily="34" charset="0"/>
                <a:ea typeface="Helvetica Neue" pitchFamily="34" charset="-122"/>
                <a:cs typeface="Helvetica Neue" pitchFamily="34" charset="-120"/>
              </a:rPr>
              <a:t>Lecture 2</a:t>
            </a:r>
            <a:endParaRPr lang="en-US" sz="1400" dirty="0"/>
          </a:p>
        </p:txBody>
      </p:sp>
      <p:sp>
        <p:nvSpPr>
          <p:cNvPr id="4" name="Text 2"/>
          <p:cNvSpPr/>
          <p:nvPr/>
        </p:nvSpPr>
        <p:spPr>
          <a:xfrm>
            <a:off x="640080" y="548640"/>
            <a:ext cx="8229600" cy="548640"/>
          </a:xfrm>
          <a:prstGeom prst="rect">
            <a:avLst/>
          </a:prstGeom>
          <a:noFill/>
          <a:ln/>
        </p:spPr>
        <p:txBody>
          <a:bodyPr wrap="square" rtlCol="0" anchor="ctr"/>
          <a:lstStyle/>
          <a:p>
            <a:pPr marL="0" indent="0">
              <a:buNone/>
            </a:pPr>
            <a:r>
              <a:rPr lang="en-US" sz="3600" b="1" dirty="0">
                <a:solidFill>
                  <a:srgbClr val="46789B"/>
                </a:solidFill>
                <a:latin typeface="Helvetica Neue" pitchFamily="34" charset="0"/>
                <a:ea typeface="Helvetica Neue" pitchFamily="34" charset="-122"/>
                <a:cs typeface="Helvetica Neue" pitchFamily="34" charset="-120"/>
              </a:rPr>
              <a:t>Basic 1 — Direction of acceleration</a:t>
            </a:r>
            <a:endParaRPr lang="en-US" sz="3600" dirty="0"/>
          </a:p>
        </p:txBody>
      </p:sp>
      <mc:AlternateContent xmlns:mc="http://schemas.openxmlformats.org/markup-compatibility/2006">
        <mc:Choice xmlns:a14="http://schemas.microsoft.com/office/drawing/2010/main" Requires="a14">
          <p:sp>
            <p:nvSpPr>
              <p:cNvPr id="5" name="Text 3"/>
              <p:cNvSpPr/>
              <p:nvPr/>
            </p:nvSpPr>
            <p:spPr>
              <a:xfrm>
                <a:off x="6302625" y="890240"/>
                <a:ext cx="5120639" cy="3657600"/>
              </a:xfrm>
              <a:prstGeom prst="rect">
                <a:avLst/>
              </a:prstGeom>
              <a:noFill/>
              <a:ln/>
            </p:spPr>
            <p:txBody>
              <a:bodyPr wrap="square" rtlCol="0" anchor="ctr"/>
              <a:lstStyle/>
              <a:p>
                <a:pPr marL="342900" indent="-342900">
                  <a:buSzPct val="100000"/>
                  <a:buChar char="•"/>
                </a:pPr>
                <a:r>
                  <a:rPr lang="en-US" sz="2400" i="1" dirty="0">
                    <a:solidFill>
                      <a:srgbClr val="464646"/>
                    </a:solidFill>
                    <a:latin typeface="Helvetica Neue" pitchFamily="34" charset="0"/>
                    <a:ea typeface="Helvetica Neue" pitchFamily="34" charset="-122"/>
                    <a:cs typeface="Helvetica Neue" pitchFamily="34" charset="-120"/>
                  </a:rPr>
                  <a:t>a</a:t>
                </a:r>
                <a:r>
                  <a:rPr lang="en-US" sz="2400" i="1" baseline="-25000" dirty="0">
                    <a:solidFill>
                      <a:srgbClr val="464646"/>
                    </a:solidFill>
                    <a:latin typeface="Helvetica Neue" pitchFamily="34" charset="0"/>
                    <a:ea typeface="Helvetica Neue" pitchFamily="34" charset="-122"/>
                    <a:cs typeface="Helvetica Neue" pitchFamily="34" charset="-120"/>
                  </a:rPr>
                  <a:t>t</a:t>
                </a:r>
                <a:r>
                  <a:rPr lang="en-US" sz="2400" dirty="0">
                    <a:solidFill>
                      <a:srgbClr val="464646"/>
                    </a:solidFill>
                    <a:latin typeface="Helvetica Neue" pitchFamily="34" charset="0"/>
                    <a:ea typeface="Helvetica Neue" pitchFamily="34" charset="-122"/>
                    <a:cs typeface="Helvetica Neue" pitchFamily="34" charset="-120"/>
                  </a:rPr>
                  <a:t> → forward </a:t>
                </a:r>
              </a:p>
              <a:p>
                <a:pPr>
                  <a:buSzPct val="100000"/>
                </a:pPr>
                <a:r>
                  <a:rPr lang="en-US" sz="2400" dirty="0">
                    <a:solidFill>
                      <a:srgbClr val="464646"/>
                    </a:solidFill>
                    <a:latin typeface="Helvetica Neue" pitchFamily="34" charset="0"/>
                    <a:ea typeface="Helvetica Neue" pitchFamily="34" charset="-122"/>
                    <a:cs typeface="Helvetica Neue" pitchFamily="34" charset="-120"/>
                  </a:rPr>
                  <a:t>(speed increasing → same dir as v)</a:t>
                </a:r>
              </a:p>
              <a:p>
                <a:pPr marL="342900" indent="-342900">
                  <a:buSzPct val="100000"/>
                  <a:buChar char="•"/>
                </a:pPr>
                <a:endParaRPr lang="en-US" sz="2400" dirty="0"/>
              </a:p>
              <a:p>
                <a:pPr marL="342900" indent="-342900">
                  <a:buSzPct val="100000"/>
                  <a:buChar char="•"/>
                </a:pPr>
                <a:r>
                  <a:rPr lang="en-US" sz="2400" i="1" dirty="0">
                    <a:solidFill>
                      <a:srgbClr val="464646"/>
                    </a:solidFill>
                    <a:latin typeface="Helvetica Neue" pitchFamily="34" charset="0"/>
                    <a:ea typeface="Helvetica Neue" pitchFamily="34" charset="-122"/>
                    <a:cs typeface="Helvetica Neue" pitchFamily="34" charset="-120"/>
                  </a:rPr>
                  <a:t>a</a:t>
                </a:r>
                <a:r>
                  <a:rPr lang="en-US" sz="2400" i="1" baseline="-25000" dirty="0">
                    <a:solidFill>
                      <a:srgbClr val="464646"/>
                    </a:solidFill>
                    <a:latin typeface="Helvetica Neue" pitchFamily="34" charset="0"/>
                    <a:ea typeface="Helvetica Neue" pitchFamily="34" charset="-122"/>
                    <a:cs typeface="Helvetica Neue" pitchFamily="34" charset="-120"/>
                  </a:rPr>
                  <a:t>n</a:t>
                </a:r>
                <a:r>
                  <a:rPr lang="en-US" sz="2400" dirty="0">
                    <a:solidFill>
                      <a:srgbClr val="464646"/>
                    </a:solidFill>
                    <a:latin typeface="Helvetica Neue" pitchFamily="34" charset="0"/>
                    <a:ea typeface="Helvetica Neue" pitchFamily="34" charset="-122"/>
                    <a:cs typeface="Helvetica Neue" pitchFamily="34" charset="-120"/>
                  </a:rPr>
                  <a:t> → toward center (left)</a:t>
                </a:r>
              </a:p>
              <a:p>
                <a:pPr marL="342900" indent="-342900">
                  <a:buSzPct val="100000"/>
                  <a:buChar char="•"/>
                </a:pPr>
                <a:endParaRPr lang="en-US" sz="2400" dirty="0"/>
              </a:p>
              <a:p>
                <a:pPr marL="342900" indent="-342900">
                  <a:buSzPct val="100000"/>
                  <a:buChar char="•"/>
                </a:pPr>
                <a:r>
                  <a:rPr lang="en-US" sz="2400" dirty="0">
                    <a:solidFill>
                      <a:srgbClr val="464646"/>
                    </a:solidFill>
                    <a:latin typeface="Helvetica Neue" pitchFamily="34" charset="0"/>
                    <a:ea typeface="Helvetica Neue" pitchFamily="34" charset="-122"/>
                    <a:cs typeface="Helvetica Neue" pitchFamily="34" charset="-120"/>
                  </a:rPr>
                  <a:t>Total </a:t>
                </a:r>
                <a14:m>
                  <m:oMath xmlns:m="http://schemas.openxmlformats.org/officeDocument/2006/math">
                    <m:r>
                      <a:rPr lang="en-US" sz="2400" b="0" i="1" smtClean="0">
                        <a:solidFill>
                          <a:srgbClr val="464646"/>
                        </a:solidFill>
                        <a:latin typeface="Cambria Math" panose="02040503050406030204" pitchFamily="18" charset="0"/>
                        <a:ea typeface="Helvetica Neue" pitchFamily="34" charset="-122"/>
                        <a:cs typeface="Helvetica Neue" pitchFamily="34" charset="-120"/>
                      </a:rPr>
                      <m:t>𝑎</m:t>
                    </m:r>
                    <m:r>
                      <a:rPr lang="en-US" sz="2400" b="0" i="1" smtClean="0">
                        <a:solidFill>
                          <a:srgbClr val="464646"/>
                        </a:solidFill>
                        <a:latin typeface="Cambria Math" panose="02040503050406030204" pitchFamily="18" charset="0"/>
                        <a:ea typeface="Helvetica Neue" pitchFamily="34" charset="-122"/>
                        <a:cs typeface="Helvetica Neue" pitchFamily="34" charset="-120"/>
                      </a:rPr>
                      <m:t>=</m:t>
                    </m:r>
                    <m:rad>
                      <m:radPr>
                        <m:degHide m:val="on"/>
                        <m:ctrlPr>
                          <a:rPr lang="en-US" altLang="ja-JP" sz="2400" b="0" i="1" smtClean="0">
                            <a:solidFill>
                              <a:srgbClr val="464646"/>
                            </a:solidFill>
                            <a:latin typeface="Cambria Math" panose="02040503050406030204" pitchFamily="18" charset="0"/>
                            <a:ea typeface="Helvetica Neue" pitchFamily="34" charset="-122"/>
                            <a:cs typeface="Helvetica Neue" pitchFamily="34" charset="-120"/>
                          </a:rPr>
                        </m:ctrlPr>
                      </m:radPr>
                      <m:deg/>
                      <m:e>
                        <m:sSubSup>
                          <m:sSubSupPr>
                            <m:ctrlPr>
                              <a:rPr lang="en-US" altLang="ja-JP" sz="2400" b="0" i="1" smtClean="0">
                                <a:solidFill>
                                  <a:srgbClr val="464646"/>
                                </a:solidFill>
                                <a:latin typeface="Cambria Math" panose="02040503050406030204" pitchFamily="18" charset="0"/>
                                <a:ea typeface="Helvetica Neue" pitchFamily="34" charset="-122"/>
                                <a:cs typeface="Helvetica Neue" pitchFamily="34" charset="-120"/>
                              </a:rPr>
                            </m:ctrlPr>
                          </m:sSubSupPr>
                          <m:e>
                            <m:r>
                              <a:rPr lang="en-US" altLang="ja-JP" sz="2400" b="0" i="1" smtClean="0">
                                <a:solidFill>
                                  <a:srgbClr val="464646"/>
                                </a:solidFill>
                                <a:latin typeface="Cambria Math" panose="02040503050406030204" pitchFamily="18" charset="0"/>
                                <a:ea typeface="Helvetica Neue" pitchFamily="34" charset="-122"/>
                                <a:cs typeface="Helvetica Neue" pitchFamily="34" charset="-120"/>
                              </a:rPr>
                              <m:t>𝑎</m:t>
                            </m:r>
                          </m:e>
                          <m:sub>
                            <m:r>
                              <a:rPr lang="en-US" altLang="ja-JP" sz="2400" b="0" i="1" smtClean="0">
                                <a:solidFill>
                                  <a:srgbClr val="464646"/>
                                </a:solidFill>
                                <a:latin typeface="Cambria Math" panose="02040503050406030204" pitchFamily="18" charset="0"/>
                                <a:ea typeface="Helvetica Neue" pitchFamily="34" charset="-122"/>
                                <a:cs typeface="Helvetica Neue" pitchFamily="34" charset="-120"/>
                              </a:rPr>
                              <m:t>𝑡</m:t>
                            </m:r>
                          </m:sub>
                          <m:sup>
                            <m:r>
                              <a:rPr lang="en-US" altLang="ja-JP" sz="2400" b="0" i="1" smtClean="0">
                                <a:solidFill>
                                  <a:srgbClr val="464646"/>
                                </a:solidFill>
                                <a:latin typeface="Cambria Math" panose="02040503050406030204" pitchFamily="18" charset="0"/>
                                <a:ea typeface="Helvetica Neue" pitchFamily="34" charset="-122"/>
                                <a:cs typeface="Helvetica Neue" pitchFamily="34" charset="-120"/>
                              </a:rPr>
                              <m:t>2</m:t>
                            </m:r>
                          </m:sup>
                        </m:sSubSup>
                        <m:r>
                          <a:rPr lang="en-US" altLang="ja-JP" sz="2400" b="0" i="1" smtClean="0">
                            <a:solidFill>
                              <a:srgbClr val="464646"/>
                            </a:solidFill>
                            <a:latin typeface="Cambria Math" panose="02040503050406030204" pitchFamily="18" charset="0"/>
                            <a:ea typeface="Helvetica Neue" pitchFamily="34" charset="-122"/>
                            <a:cs typeface="Helvetica Neue" pitchFamily="34" charset="-120"/>
                          </a:rPr>
                          <m:t>+</m:t>
                        </m:r>
                        <m:sSubSup>
                          <m:sSubSupPr>
                            <m:ctrlPr>
                              <a:rPr lang="en-US" altLang="ja-JP" sz="2400" b="0" i="1" smtClean="0">
                                <a:solidFill>
                                  <a:srgbClr val="464646"/>
                                </a:solidFill>
                                <a:latin typeface="Cambria Math" panose="02040503050406030204" pitchFamily="18" charset="0"/>
                                <a:ea typeface="Helvetica Neue" pitchFamily="34" charset="-122"/>
                                <a:cs typeface="Helvetica Neue" pitchFamily="34" charset="-120"/>
                              </a:rPr>
                            </m:ctrlPr>
                          </m:sSubSupPr>
                          <m:e>
                            <m:r>
                              <a:rPr lang="en-US" altLang="ja-JP" sz="2400" b="0" i="1" smtClean="0">
                                <a:solidFill>
                                  <a:srgbClr val="464646"/>
                                </a:solidFill>
                                <a:latin typeface="Cambria Math" panose="02040503050406030204" pitchFamily="18" charset="0"/>
                                <a:ea typeface="Helvetica Neue" pitchFamily="34" charset="-122"/>
                                <a:cs typeface="Helvetica Neue" pitchFamily="34" charset="-120"/>
                              </a:rPr>
                              <m:t>𝑎</m:t>
                            </m:r>
                          </m:e>
                          <m:sub>
                            <m:r>
                              <a:rPr lang="en-US" altLang="ja-JP" sz="2400" b="0" i="1" smtClean="0">
                                <a:solidFill>
                                  <a:srgbClr val="464646"/>
                                </a:solidFill>
                                <a:latin typeface="Cambria Math" panose="02040503050406030204" pitchFamily="18" charset="0"/>
                                <a:ea typeface="Helvetica Neue" pitchFamily="34" charset="-122"/>
                                <a:cs typeface="Helvetica Neue" pitchFamily="34" charset="-120"/>
                              </a:rPr>
                              <m:t>𝑛</m:t>
                            </m:r>
                          </m:sub>
                          <m:sup>
                            <m:r>
                              <a:rPr lang="en-US" altLang="ja-JP" sz="2400" b="0" i="1" smtClean="0">
                                <a:solidFill>
                                  <a:srgbClr val="464646"/>
                                </a:solidFill>
                                <a:latin typeface="Cambria Math" panose="02040503050406030204" pitchFamily="18" charset="0"/>
                                <a:ea typeface="Helvetica Neue" pitchFamily="34" charset="-122"/>
                                <a:cs typeface="Helvetica Neue" pitchFamily="34" charset="-120"/>
                              </a:rPr>
                              <m:t>2</m:t>
                            </m:r>
                          </m:sup>
                        </m:sSubSup>
                      </m:e>
                    </m:rad>
                  </m:oMath>
                </a14:m>
                <a:endParaRPr lang="en-US" sz="2400" dirty="0"/>
              </a:p>
            </p:txBody>
          </p:sp>
        </mc:Choice>
        <mc:Fallback>
          <p:sp>
            <p:nvSpPr>
              <p:cNvPr id="5" name="Text 3"/>
              <p:cNvSpPr>
                <a:spLocks noRot="1" noChangeAspect="1" noMove="1" noResize="1" noEditPoints="1" noAdjustHandles="1" noChangeArrowheads="1" noChangeShapeType="1" noTextEdit="1"/>
              </p:cNvSpPr>
              <p:nvPr/>
            </p:nvSpPr>
            <p:spPr>
              <a:xfrm>
                <a:off x="6302625" y="890240"/>
                <a:ext cx="5120639" cy="3657600"/>
              </a:xfrm>
              <a:prstGeom prst="rect">
                <a:avLst/>
              </a:prstGeom>
              <a:blipFill>
                <a:blip r:embed="rId5"/>
                <a:stretch>
                  <a:fillRect l="-1980"/>
                </a:stretch>
              </a:blipFill>
              <a:ln/>
            </p:spPr>
            <p:txBody>
              <a:bodyPr/>
              <a:lstStyle/>
              <a:p>
                <a:r>
                  <a:rPr lang="ja-JP" altLang="en-US">
                    <a:noFill/>
                  </a:rPr>
                  <a:t> </a:t>
                </a:r>
              </a:p>
            </p:txBody>
          </p:sp>
        </mc:Fallback>
      </mc:AlternateContent>
      <p:sp>
        <p:nvSpPr>
          <p:cNvPr id="6" name="Rectangle 7">
            <a:extLst>
              <a:ext uri="{FF2B5EF4-FFF2-40B4-BE49-F238E27FC236}">
                <a16:creationId xmlns:a16="http://schemas.microsoft.com/office/drawing/2014/main" id="{ABA4460A-2CD3-69FB-DF0D-32FC4F720586}"/>
              </a:ext>
            </a:extLst>
          </p:cNvPr>
          <p:cNvSpPr/>
          <p:nvPr/>
        </p:nvSpPr>
        <p:spPr>
          <a:xfrm>
            <a:off x="746607" y="1417319"/>
            <a:ext cx="5120640" cy="3886201"/>
          </a:xfrm>
          <a:prstGeom prst="rect">
            <a:avLst/>
          </a:prstGeom>
          <a:solidFill>
            <a:srgbClr val="FAFAFA"/>
          </a:solidFill>
          <a:ln w="1524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8">
            <a:extLst>
              <a:ext uri="{FF2B5EF4-FFF2-40B4-BE49-F238E27FC236}">
                <a16:creationId xmlns:a16="http://schemas.microsoft.com/office/drawing/2014/main" id="{77B75FCA-5144-9963-1CE5-F69223F5D9BB}"/>
              </a:ext>
            </a:extLst>
          </p:cNvPr>
          <p:cNvSpPr/>
          <p:nvPr/>
        </p:nvSpPr>
        <p:spPr>
          <a:xfrm>
            <a:off x="746607" y="1417320"/>
            <a:ext cx="5120640" cy="109728"/>
          </a:xfrm>
          <a:prstGeom prst="rect">
            <a:avLst/>
          </a:prstGeom>
          <a:solidFill>
            <a:srgbClr val="467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9">
            <a:extLst>
              <a:ext uri="{FF2B5EF4-FFF2-40B4-BE49-F238E27FC236}">
                <a16:creationId xmlns:a16="http://schemas.microsoft.com/office/drawing/2014/main" id="{C83FD129-E7FF-963C-41AD-894AC66E943E}"/>
              </a:ext>
            </a:extLst>
          </p:cNvPr>
          <p:cNvSpPr txBox="1"/>
          <p:nvPr/>
        </p:nvSpPr>
        <p:spPr>
          <a:xfrm>
            <a:off x="975207" y="1600200"/>
            <a:ext cx="4663440" cy="320040"/>
          </a:xfrm>
          <a:prstGeom prst="rect">
            <a:avLst/>
          </a:prstGeom>
          <a:noFill/>
        </p:spPr>
        <p:txBody>
          <a:bodyPr wrap="none" lIns="0" tIns="0" rIns="0" bIns="0" anchor="t">
            <a:spAutoFit/>
          </a:bodyPr>
          <a:lstStyle/>
          <a:p>
            <a:pPr algn="l"/>
            <a:r>
              <a:rPr sz="2000" b="1" dirty="0">
                <a:solidFill>
                  <a:srgbClr val="46789B"/>
                </a:solidFill>
                <a:latin typeface="Hiragino Sans W7"/>
              </a:rPr>
              <a:t>Problem</a:t>
            </a:r>
          </a:p>
        </p:txBody>
      </p:sp>
      <p:sp>
        <p:nvSpPr>
          <p:cNvPr id="9" name="テキスト ボックス 8">
            <a:extLst>
              <a:ext uri="{FF2B5EF4-FFF2-40B4-BE49-F238E27FC236}">
                <a16:creationId xmlns:a16="http://schemas.microsoft.com/office/drawing/2014/main" id="{E2278A59-B7BC-5C4D-7E95-00793AD27E66}"/>
              </a:ext>
            </a:extLst>
          </p:cNvPr>
          <p:cNvSpPr txBox="1"/>
          <p:nvPr/>
        </p:nvSpPr>
        <p:spPr>
          <a:xfrm>
            <a:off x="1070164" y="2090172"/>
            <a:ext cx="5025836" cy="3046988"/>
          </a:xfrm>
          <a:prstGeom prst="rect">
            <a:avLst/>
          </a:prstGeom>
          <a:noFill/>
        </p:spPr>
        <p:txBody>
          <a:bodyPr wrap="square">
            <a:spAutoFit/>
          </a:bodyPr>
          <a:lstStyle/>
          <a:p>
            <a:pPr>
              <a:buNone/>
            </a:pPr>
            <a:r>
              <a:rPr lang="en-US" altLang="ja-JP" sz="2400" dirty="0">
                <a:latin typeface="Helvetica Neue" panose="02000503000000020004" pitchFamily="2" charset="0"/>
                <a:ea typeface="Helvetica Neue" panose="02000503000000020004" pitchFamily="2" charset="0"/>
                <a:cs typeface="Helvetica Neue" panose="02000503000000020004" pitchFamily="2" charset="0"/>
              </a:rPr>
              <a:t>A car moves along a curved path. </a:t>
            </a:r>
          </a:p>
          <a:p>
            <a:pPr>
              <a:buNone/>
            </a:pPr>
            <a:r>
              <a:rPr lang="en-US" altLang="ja-JP" sz="2400" dirty="0">
                <a:latin typeface="Helvetica Neue" panose="02000503000000020004" pitchFamily="2" charset="0"/>
                <a:ea typeface="Helvetica Neue" panose="02000503000000020004" pitchFamily="2" charset="0"/>
                <a:cs typeface="Helvetica Neue" panose="02000503000000020004" pitchFamily="2" charset="0"/>
              </a:rPr>
              <a:t>At a certain instant:</a:t>
            </a:r>
          </a:p>
          <a:p>
            <a:pPr marL="342900" indent="-342900">
              <a:buFont typeface="Arial" panose="020B0604020202020204" pitchFamily="34" charset="0"/>
              <a:buChar char="•"/>
            </a:pPr>
            <a:r>
              <a:rPr lang="en-US" altLang="ja-JP" sz="2400" dirty="0">
                <a:latin typeface="Helvetica Neue" panose="02000503000000020004" pitchFamily="2" charset="0"/>
                <a:ea typeface="Helvetica Neue" panose="02000503000000020004" pitchFamily="2" charset="0"/>
                <a:cs typeface="Helvetica Neue" panose="02000503000000020004" pitchFamily="2" charset="0"/>
              </a:rPr>
              <a:t>Its speed is increasing</a:t>
            </a:r>
          </a:p>
          <a:p>
            <a:pPr marL="342900" indent="-342900">
              <a:buFont typeface="Arial" panose="020B0604020202020204" pitchFamily="34" charset="0"/>
              <a:buChar char="•"/>
            </a:pPr>
            <a:r>
              <a:rPr lang="en-US" altLang="ja-JP" sz="2400" dirty="0">
                <a:latin typeface="Helvetica Neue" panose="02000503000000020004" pitchFamily="2" charset="0"/>
                <a:ea typeface="Helvetica Neue" panose="02000503000000020004" pitchFamily="2" charset="0"/>
                <a:cs typeface="Helvetica Neue" panose="02000503000000020004" pitchFamily="2" charset="0"/>
              </a:rPr>
              <a:t>It is turning left</a:t>
            </a:r>
          </a:p>
          <a:p>
            <a:pPr>
              <a:buNone/>
            </a:pPr>
            <a:endParaRPr lang="en-US" altLang="ja-JP" sz="2400" dirty="0">
              <a:latin typeface="Helvetica Neue" panose="02000503000000020004" pitchFamily="2" charset="0"/>
              <a:ea typeface="Helvetica Neue" panose="02000503000000020004" pitchFamily="2" charset="0"/>
              <a:cs typeface="Helvetica Neue" panose="02000503000000020004" pitchFamily="2" charset="0"/>
            </a:endParaRPr>
          </a:p>
          <a:p>
            <a:pPr>
              <a:buNone/>
            </a:pPr>
            <a:r>
              <a:rPr lang="en-US" altLang="ja-JP" sz="2400" dirty="0">
                <a:latin typeface="Helvetica Neue" panose="02000503000000020004" pitchFamily="2" charset="0"/>
                <a:ea typeface="Helvetica Neue" panose="02000503000000020004" pitchFamily="2" charset="0"/>
                <a:cs typeface="Helvetica Neue" panose="02000503000000020004" pitchFamily="2" charset="0"/>
              </a:rPr>
              <a:t>Describe the directions of:</a:t>
            </a:r>
          </a:p>
          <a:p>
            <a:pPr>
              <a:buNone/>
            </a:pPr>
            <a:r>
              <a:rPr lang="en-US" altLang="ja-JP" sz="2400" dirty="0">
                <a:latin typeface="Helvetica Neue" panose="02000503000000020004" pitchFamily="2" charset="0"/>
                <a:ea typeface="Helvetica Neue" panose="02000503000000020004" pitchFamily="2" charset="0"/>
                <a:cs typeface="Helvetica Neue" panose="02000503000000020004" pitchFamily="2" charset="0"/>
              </a:rPr>
              <a:t>Tangential acceleration </a:t>
            </a:r>
            <a:r>
              <a:rPr lang="en-US" altLang="ja-JP" sz="2400" i="1" dirty="0">
                <a:latin typeface="Helvetica Neue" panose="02000503000000020004" pitchFamily="2" charset="0"/>
                <a:ea typeface="Helvetica Neue" panose="02000503000000020004" pitchFamily="2" charset="0"/>
                <a:cs typeface="Helvetica Neue" panose="02000503000000020004" pitchFamily="2" charset="0"/>
              </a:rPr>
              <a:t>a</a:t>
            </a:r>
            <a:r>
              <a:rPr lang="en-US" altLang="ja-JP" sz="2400" i="1" baseline="-25000" dirty="0">
                <a:latin typeface="Helvetica Neue" panose="02000503000000020004" pitchFamily="2" charset="0"/>
                <a:ea typeface="Helvetica Neue" panose="02000503000000020004" pitchFamily="2" charset="0"/>
                <a:cs typeface="Helvetica Neue" panose="02000503000000020004" pitchFamily="2" charset="0"/>
              </a:rPr>
              <a:t>t</a:t>
            </a:r>
          </a:p>
          <a:p>
            <a:pPr>
              <a:buNone/>
            </a:pPr>
            <a:r>
              <a:rPr lang="en-US" altLang="ja-JP" sz="2400" dirty="0">
                <a:latin typeface="Helvetica Neue" panose="02000503000000020004" pitchFamily="2" charset="0"/>
                <a:ea typeface="Helvetica Neue" panose="02000503000000020004" pitchFamily="2" charset="0"/>
                <a:cs typeface="Helvetica Neue" panose="02000503000000020004" pitchFamily="2" charset="0"/>
              </a:rPr>
              <a:t>Normal acceleration </a:t>
            </a:r>
            <a:r>
              <a:rPr lang="en-US" altLang="ja-JP" sz="2400" i="1" dirty="0">
                <a:latin typeface="Helvetica Neue" panose="02000503000000020004" pitchFamily="2" charset="0"/>
                <a:ea typeface="Helvetica Neue" panose="02000503000000020004" pitchFamily="2" charset="0"/>
                <a:cs typeface="Helvetica Neue" panose="02000503000000020004" pitchFamily="2" charset="0"/>
              </a:rPr>
              <a:t>a</a:t>
            </a:r>
            <a:r>
              <a:rPr lang="en-US" altLang="ja-JP" sz="2400" i="1" baseline="-25000" dirty="0">
                <a:latin typeface="Helvetica Neue" panose="02000503000000020004" pitchFamily="2" charset="0"/>
                <a:ea typeface="Helvetica Neue" panose="02000503000000020004" pitchFamily="2" charset="0"/>
                <a:cs typeface="Helvetica Neue" panose="02000503000000020004" pitchFamily="2" charset="0"/>
              </a:rPr>
              <a:t>n</a:t>
            </a:r>
          </a:p>
        </p:txBody>
      </p:sp>
      <p:sp>
        <p:nvSpPr>
          <p:cNvPr id="10" name="円/楕円 9">
            <a:extLst>
              <a:ext uri="{FF2B5EF4-FFF2-40B4-BE49-F238E27FC236}">
                <a16:creationId xmlns:a16="http://schemas.microsoft.com/office/drawing/2014/main" id="{CFE8DFAB-DA11-6418-0A87-0B98B62251E1}"/>
              </a:ext>
            </a:extLst>
          </p:cNvPr>
          <p:cNvSpPr/>
          <p:nvPr/>
        </p:nvSpPr>
        <p:spPr>
          <a:xfrm>
            <a:off x="8311336" y="5348242"/>
            <a:ext cx="443345" cy="416533"/>
          </a:xfrm>
          <a:prstGeom prst="ellipse">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右矢印 10">
            <a:extLst>
              <a:ext uri="{FF2B5EF4-FFF2-40B4-BE49-F238E27FC236}">
                <a16:creationId xmlns:a16="http://schemas.microsoft.com/office/drawing/2014/main" id="{AF9A9110-9C6B-CD6C-C631-AFDEE19CB3B8}"/>
              </a:ext>
            </a:extLst>
          </p:cNvPr>
          <p:cNvSpPr/>
          <p:nvPr/>
        </p:nvSpPr>
        <p:spPr>
          <a:xfrm rot="14124927">
            <a:off x="7888772" y="4953527"/>
            <a:ext cx="845127" cy="290945"/>
          </a:xfrm>
          <a:prstGeom prst="rightArrow">
            <a:avLst/>
          </a:prstGeom>
          <a:solidFill>
            <a:srgbClr val="467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右矢印 11">
            <a:extLst>
              <a:ext uri="{FF2B5EF4-FFF2-40B4-BE49-F238E27FC236}">
                <a16:creationId xmlns:a16="http://schemas.microsoft.com/office/drawing/2014/main" id="{D69E2E14-7E17-47B0-A571-E6D9AB0E8B13}"/>
              </a:ext>
            </a:extLst>
          </p:cNvPr>
          <p:cNvSpPr/>
          <p:nvPr/>
        </p:nvSpPr>
        <p:spPr>
          <a:xfrm rot="19641020" flipH="1">
            <a:off x="8011144" y="5466682"/>
            <a:ext cx="690234" cy="342505"/>
          </a:xfrm>
          <a:prstGeom prst="rightArrow">
            <a:avLst/>
          </a:prstGeom>
          <a:solidFill>
            <a:srgbClr val="467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3" name="直線コネクタ 12">
            <a:extLst>
              <a:ext uri="{FF2B5EF4-FFF2-40B4-BE49-F238E27FC236}">
                <a16:creationId xmlns:a16="http://schemas.microsoft.com/office/drawing/2014/main" id="{593F772D-49F5-9690-0580-0211E2FC9828}"/>
              </a:ext>
            </a:extLst>
          </p:cNvPr>
          <p:cNvCxnSpPr>
            <a:cxnSpLocks/>
            <a:stCxn id="22" idx="3"/>
          </p:cNvCxnSpPr>
          <p:nvPr/>
        </p:nvCxnSpPr>
        <p:spPr>
          <a:xfrm flipV="1">
            <a:off x="6101920" y="4490287"/>
            <a:ext cx="4095726" cy="2573169"/>
          </a:xfrm>
          <a:prstGeom prst="line">
            <a:avLst/>
          </a:prstGeom>
          <a:ln>
            <a:prstDash val="dash"/>
          </a:ln>
        </p:spPr>
        <p:style>
          <a:lnRef idx="1">
            <a:schemeClr val="accent3"/>
          </a:lnRef>
          <a:fillRef idx="0">
            <a:schemeClr val="accent3"/>
          </a:fillRef>
          <a:effectRef idx="0">
            <a:schemeClr val="accent3"/>
          </a:effectRef>
          <a:fontRef idx="minor">
            <a:schemeClr val="tx1"/>
          </a:fontRef>
        </p:style>
      </p:cxnSp>
      <p:cxnSp>
        <p:nvCxnSpPr>
          <p:cNvPr id="14" name="直線コネクタ 13">
            <a:extLst>
              <a:ext uri="{FF2B5EF4-FFF2-40B4-BE49-F238E27FC236}">
                <a16:creationId xmlns:a16="http://schemas.microsoft.com/office/drawing/2014/main" id="{CAB90246-1D84-D10C-DA4B-BFFA701E19DE}"/>
              </a:ext>
            </a:extLst>
          </p:cNvPr>
          <p:cNvCxnSpPr>
            <a:cxnSpLocks/>
          </p:cNvCxnSpPr>
          <p:nvPr/>
        </p:nvCxnSpPr>
        <p:spPr>
          <a:xfrm flipH="1" flipV="1">
            <a:off x="7717264" y="4224695"/>
            <a:ext cx="850840" cy="1270418"/>
          </a:xfrm>
          <a:prstGeom prst="line">
            <a:avLst/>
          </a:prstGeom>
          <a:ln>
            <a:prstDash val="dash"/>
          </a:ln>
        </p:spPr>
        <p:style>
          <a:lnRef idx="1">
            <a:schemeClr val="accent3"/>
          </a:lnRef>
          <a:fillRef idx="0">
            <a:schemeClr val="accent3"/>
          </a:fillRef>
          <a:effectRef idx="0">
            <a:schemeClr val="accent3"/>
          </a:effectRef>
          <a:fontRef idx="minor">
            <a:schemeClr val="tx1"/>
          </a:fontRef>
        </p:style>
      </p:cxnSp>
      <p:sp>
        <p:nvSpPr>
          <p:cNvPr id="15" name="正方形/長方形 14">
            <a:extLst>
              <a:ext uri="{FF2B5EF4-FFF2-40B4-BE49-F238E27FC236}">
                <a16:creationId xmlns:a16="http://schemas.microsoft.com/office/drawing/2014/main" id="{1EC69320-77F7-533E-87D9-2B4380003436}"/>
              </a:ext>
            </a:extLst>
          </p:cNvPr>
          <p:cNvSpPr/>
          <p:nvPr/>
        </p:nvSpPr>
        <p:spPr>
          <a:xfrm rot="14279854">
            <a:off x="8544543" y="5360926"/>
            <a:ext cx="95821" cy="125515"/>
          </a:xfrm>
          <a:prstGeom prst="rect">
            <a:avLst/>
          </a:prstGeom>
          <a:noFill/>
          <a:ln w="6350">
            <a:solidFill>
              <a:schemeClr val="bg1">
                <a:lumMod val="6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Text 3">
            <a:extLst>
              <a:ext uri="{FF2B5EF4-FFF2-40B4-BE49-F238E27FC236}">
                <a16:creationId xmlns:a16="http://schemas.microsoft.com/office/drawing/2014/main" id="{A8DA6C56-DB88-4C0F-A052-739CC69F06E0}"/>
              </a:ext>
            </a:extLst>
          </p:cNvPr>
          <p:cNvSpPr/>
          <p:nvPr/>
        </p:nvSpPr>
        <p:spPr>
          <a:xfrm>
            <a:off x="8390843" y="4496700"/>
            <a:ext cx="2368333" cy="837003"/>
          </a:xfrm>
          <a:prstGeom prst="rect">
            <a:avLst/>
          </a:prstGeom>
          <a:noFill/>
          <a:ln/>
        </p:spPr>
        <p:txBody>
          <a:bodyPr wrap="square" rtlCol="0" anchor="ctr"/>
          <a:lstStyle/>
          <a:p>
            <a:pPr>
              <a:buSzPct val="100000"/>
            </a:pPr>
            <a:r>
              <a:rPr lang="en-US" sz="2400" b="1" dirty="0">
                <a:solidFill>
                  <a:srgbClr val="46789B"/>
                </a:solidFill>
                <a:latin typeface="Helvetica Neue" panose="02000503000000020004" pitchFamily="2" charset="0"/>
                <a:ea typeface="Helvetica Neue" panose="02000503000000020004" pitchFamily="2" charset="0"/>
                <a:cs typeface="Helvetica Neue" panose="02000503000000020004" pitchFamily="2" charset="0"/>
              </a:rPr>
              <a:t>Tangential</a:t>
            </a:r>
          </a:p>
        </p:txBody>
      </p:sp>
      <p:sp>
        <p:nvSpPr>
          <p:cNvPr id="17" name="Text 3">
            <a:extLst>
              <a:ext uri="{FF2B5EF4-FFF2-40B4-BE49-F238E27FC236}">
                <a16:creationId xmlns:a16="http://schemas.microsoft.com/office/drawing/2014/main" id="{08D9A9AA-96DA-E057-1221-E61251D300FF}"/>
              </a:ext>
            </a:extLst>
          </p:cNvPr>
          <p:cNvSpPr/>
          <p:nvPr/>
        </p:nvSpPr>
        <p:spPr>
          <a:xfrm>
            <a:off x="8311336" y="5598701"/>
            <a:ext cx="2368333" cy="837003"/>
          </a:xfrm>
          <a:prstGeom prst="rect">
            <a:avLst/>
          </a:prstGeom>
          <a:noFill/>
          <a:ln/>
        </p:spPr>
        <p:txBody>
          <a:bodyPr wrap="square" rtlCol="0" anchor="ctr"/>
          <a:lstStyle/>
          <a:p>
            <a:pPr>
              <a:buSzPct val="100000"/>
            </a:pPr>
            <a:r>
              <a:rPr lang="en-US" sz="2400" b="1" dirty="0">
                <a:solidFill>
                  <a:srgbClr val="46789B"/>
                </a:solidFill>
                <a:latin typeface="Helvetica Neue" panose="02000503000000020004" pitchFamily="2" charset="0"/>
                <a:ea typeface="Helvetica Neue" panose="02000503000000020004" pitchFamily="2" charset="0"/>
                <a:cs typeface="Helvetica Neue" panose="02000503000000020004" pitchFamily="2" charset="0"/>
              </a:rPr>
              <a:t>Normal</a:t>
            </a:r>
          </a:p>
        </p:txBody>
      </p:sp>
      <p:sp>
        <p:nvSpPr>
          <p:cNvPr id="18" name="Text 3">
            <a:extLst>
              <a:ext uri="{FF2B5EF4-FFF2-40B4-BE49-F238E27FC236}">
                <a16:creationId xmlns:a16="http://schemas.microsoft.com/office/drawing/2014/main" id="{1FC4E37D-87A3-C0CB-6722-82A62EC31D0F}"/>
              </a:ext>
            </a:extLst>
          </p:cNvPr>
          <p:cNvSpPr/>
          <p:nvPr/>
        </p:nvSpPr>
        <p:spPr>
          <a:xfrm>
            <a:off x="8685499" y="4742464"/>
            <a:ext cx="2368333" cy="837003"/>
          </a:xfrm>
          <a:prstGeom prst="rect">
            <a:avLst/>
          </a:prstGeom>
          <a:noFill/>
          <a:ln/>
        </p:spPr>
        <p:txBody>
          <a:bodyPr wrap="square" rtlCol="0" anchor="ctr"/>
          <a:lstStyle/>
          <a:p>
            <a:pPr>
              <a:buSzPct val="100000"/>
            </a:pPr>
            <a:r>
              <a:rPr lang="en-US" sz="2400" i="1" dirty="0">
                <a:solidFill>
                  <a:srgbClr val="46789B"/>
                </a:solidFill>
                <a:latin typeface="Helvetica Neue" panose="02000503000000020004" pitchFamily="2" charset="0"/>
                <a:ea typeface="Helvetica Neue" panose="02000503000000020004" pitchFamily="2" charset="0"/>
                <a:cs typeface="Helvetica Neue" panose="02000503000000020004" pitchFamily="2" charset="0"/>
              </a:rPr>
              <a:t>a</a:t>
            </a:r>
            <a:r>
              <a:rPr lang="en-US" sz="2400" i="1" baseline="-25000" dirty="0">
                <a:solidFill>
                  <a:srgbClr val="46789B"/>
                </a:solidFill>
                <a:latin typeface="Helvetica Neue" panose="02000503000000020004" pitchFamily="2" charset="0"/>
                <a:ea typeface="Helvetica Neue" panose="02000503000000020004" pitchFamily="2" charset="0"/>
                <a:cs typeface="Helvetica Neue" panose="02000503000000020004" pitchFamily="2" charset="0"/>
              </a:rPr>
              <a:t>t</a:t>
            </a:r>
            <a:r>
              <a:rPr lang="en-US" sz="2400" i="1" dirty="0">
                <a:solidFill>
                  <a:srgbClr val="46789B"/>
                </a:solidFill>
                <a:latin typeface="Helvetica Neue" panose="02000503000000020004" pitchFamily="2" charset="0"/>
                <a:ea typeface="Helvetica Neue" panose="02000503000000020004" pitchFamily="2" charset="0"/>
                <a:cs typeface="Helvetica Neue" panose="02000503000000020004" pitchFamily="2" charset="0"/>
              </a:rPr>
              <a:t> </a:t>
            </a:r>
          </a:p>
        </p:txBody>
      </p:sp>
      <p:sp>
        <p:nvSpPr>
          <p:cNvPr id="19" name="Text 3">
            <a:extLst>
              <a:ext uri="{FF2B5EF4-FFF2-40B4-BE49-F238E27FC236}">
                <a16:creationId xmlns:a16="http://schemas.microsoft.com/office/drawing/2014/main" id="{A9BBDF3E-EEB0-7C37-B8A9-57CA0A150D7E}"/>
              </a:ext>
            </a:extLst>
          </p:cNvPr>
          <p:cNvSpPr/>
          <p:nvPr/>
        </p:nvSpPr>
        <p:spPr>
          <a:xfrm>
            <a:off x="8577556" y="6031741"/>
            <a:ext cx="2368333" cy="837003"/>
          </a:xfrm>
          <a:prstGeom prst="rect">
            <a:avLst/>
          </a:prstGeom>
          <a:noFill/>
          <a:ln/>
        </p:spPr>
        <p:txBody>
          <a:bodyPr wrap="square" rtlCol="0" anchor="ctr"/>
          <a:lstStyle/>
          <a:p>
            <a:pPr>
              <a:buSzPct val="100000"/>
            </a:pPr>
            <a:r>
              <a:rPr lang="en-US" sz="2400" i="1" dirty="0">
                <a:solidFill>
                  <a:srgbClr val="46789B"/>
                </a:solidFill>
                <a:latin typeface="Helvetica Neue" panose="02000503000000020004" pitchFamily="2" charset="0"/>
                <a:ea typeface="Helvetica Neue" panose="02000503000000020004" pitchFamily="2" charset="0"/>
                <a:cs typeface="Helvetica Neue" panose="02000503000000020004" pitchFamily="2" charset="0"/>
              </a:rPr>
              <a:t>a</a:t>
            </a:r>
            <a:r>
              <a:rPr lang="en-US" sz="2400" i="1" baseline="-25000" dirty="0">
                <a:solidFill>
                  <a:srgbClr val="46789B"/>
                </a:solidFill>
                <a:latin typeface="Helvetica Neue" panose="02000503000000020004" pitchFamily="2" charset="0"/>
                <a:ea typeface="Helvetica Neue" panose="02000503000000020004" pitchFamily="2" charset="0"/>
                <a:cs typeface="Helvetica Neue" panose="02000503000000020004" pitchFamily="2" charset="0"/>
              </a:rPr>
              <a:t>n</a:t>
            </a:r>
            <a:r>
              <a:rPr lang="en-US" sz="2400" i="1" dirty="0">
                <a:solidFill>
                  <a:srgbClr val="46789B"/>
                </a:solidFill>
                <a:latin typeface="Helvetica Neue" panose="02000503000000020004" pitchFamily="2" charset="0"/>
                <a:ea typeface="Helvetica Neue" panose="02000503000000020004" pitchFamily="2" charset="0"/>
                <a:cs typeface="Helvetica Neue" panose="02000503000000020004" pitchFamily="2" charset="0"/>
              </a:rPr>
              <a:t> </a:t>
            </a:r>
          </a:p>
        </p:txBody>
      </p:sp>
      <p:sp>
        <p:nvSpPr>
          <p:cNvPr id="20" name="Text 3">
            <a:extLst>
              <a:ext uri="{FF2B5EF4-FFF2-40B4-BE49-F238E27FC236}">
                <a16:creationId xmlns:a16="http://schemas.microsoft.com/office/drawing/2014/main" id="{0B3950F8-E388-1985-87C5-3D934D982532}"/>
              </a:ext>
            </a:extLst>
          </p:cNvPr>
          <p:cNvSpPr/>
          <p:nvPr/>
        </p:nvSpPr>
        <p:spPr>
          <a:xfrm>
            <a:off x="8118582" y="4070929"/>
            <a:ext cx="3286280" cy="837003"/>
          </a:xfrm>
          <a:prstGeom prst="rect">
            <a:avLst/>
          </a:prstGeom>
          <a:noFill/>
          <a:ln/>
        </p:spPr>
        <p:txBody>
          <a:bodyPr wrap="square" rtlCol="0" anchor="ctr"/>
          <a:lstStyle/>
          <a:p>
            <a:pPr>
              <a:buSzPct val="100000"/>
            </a:pPr>
            <a:r>
              <a:rPr lang="en-US" dirty="0">
                <a:solidFill>
                  <a:srgbClr val="9EB5D6"/>
                </a:solidFill>
                <a:latin typeface="Helvetica Neue" panose="02000503000000020004" pitchFamily="2" charset="0"/>
                <a:ea typeface="Helvetica Neue" panose="02000503000000020004" pitchFamily="2" charset="0"/>
                <a:cs typeface="Helvetica Neue" panose="02000503000000020004" pitchFamily="2" charset="0"/>
              </a:rPr>
              <a:t>Velocity direction</a:t>
            </a:r>
          </a:p>
        </p:txBody>
      </p:sp>
      <p:sp>
        <p:nvSpPr>
          <p:cNvPr id="21" name="フリーフォーム 20">
            <a:extLst>
              <a:ext uri="{FF2B5EF4-FFF2-40B4-BE49-F238E27FC236}">
                <a16:creationId xmlns:a16="http://schemas.microsoft.com/office/drawing/2014/main" id="{424240CA-6289-2C24-6A51-F13D115AAFDC}"/>
              </a:ext>
            </a:extLst>
          </p:cNvPr>
          <p:cNvSpPr/>
          <p:nvPr/>
        </p:nvSpPr>
        <p:spPr>
          <a:xfrm>
            <a:off x="7777178" y="4650904"/>
            <a:ext cx="787521" cy="2227741"/>
          </a:xfrm>
          <a:custGeom>
            <a:avLst/>
            <a:gdLst>
              <a:gd name="csX0" fmla="*/ 0 w 1055215"/>
              <a:gd name="csY0" fmla="*/ 0 h 3629891"/>
              <a:gd name="csX1" fmla="*/ 955963 w 1055215"/>
              <a:gd name="csY1" fmla="*/ 1427018 h 3629891"/>
              <a:gd name="csX2" fmla="*/ 1025236 w 1055215"/>
              <a:gd name="csY2" fmla="*/ 3629891 h 3629891"/>
              <a:gd name="csX3" fmla="*/ 1025236 w 1055215"/>
              <a:gd name="csY3" fmla="*/ 3629891 h 3629891"/>
              <a:gd name="csX0" fmla="*/ 0 w 1025237"/>
              <a:gd name="csY0" fmla="*/ 0 h 3629891"/>
              <a:gd name="csX1" fmla="*/ 1025236 w 1025237"/>
              <a:gd name="csY1" fmla="*/ 3629891 h 3629891"/>
              <a:gd name="csX2" fmla="*/ 1025236 w 1025237"/>
              <a:gd name="csY2" fmla="*/ 3629891 h 3629891"/>
              <a:gd name="csX0" fmla="*/ 0 w 1025235"/>
              <a:gd name="csY0" fmla="*/ 0 h 3629891"/>
              <a:gd name="csX1" fmla="*/ 1025236 w 1025235"/>
              <a:gd name="csY1" fmla="*/ 3629891 h 3629891"/>
              <a:gd name="csX2" fmla="*/ 1025236 w 1025235"/>
              <a:gd name="csY2" fmla="*/ 3629891 h 3629891"/>
              <a:gd name="csX0" fmla="*/ 0 w 1251452"/>
              <a:gd name="csY0" fmla="*/ 0 h 3629891"/>
              <a:gd name="csX1" fmla="*/ 1025236 w 1251452"/>
              <a:gd name="csY1" fmla="*/ 3629891 h 3629891"/>
              <a:gd name="csX2" fmla="*/ 1025236 w 1251452"/>
              <a:gd name="csY2" fmla="*/ 3629891 h 3629891"/>
            </a:gdLst>
            <a:ahLst/>
            <a:cxnLst>
              <a:cxn ang="0">
                <a:pos x="csX0" y="csY0"/>
              </a:cxn>
              <a:cxn ang="0">
                <a:pos x="csX1" y="csY1"/>
              </a:cxn>
              <a:cxn ang="0">
                <a:pos x="csX2" y="csY2"/>
              </a:cxn>
            </a:cxnLst>
            <a:rect l="l" t="t" r="r" b="b"/>
            <a:pathLst>
              <a:path w="1251452" h="3629891">
                <a:moveTo>
                  <a:pt x="0" y="0"/>
                </a:moveTo>
                <a:cubicBezTo>
                  <a:pt x="1522369" y="674521"/>
                  <a:pt x="1364620" y="2396649"/>
                  <a:pt x="1025236" y="3629891"/>
                </a:cubicBezTo>
                <a:lnTo>
                  <a:pt x="1025236" y="3629891"/>
                </a:lnTo>
              </a:path>
            </a:pathLst>
          </a:custGeom>
          <a:noFill/>
          <a:ln>
            <a:solidFill>
              <a:srgbClr val="46789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円/楕円 21">
            <a:extLst>
              <a:ext uri="{FF2B5EF4-FFF2-40B4-BE49-F238E27FC236}">
                <a16:creationId xmlns:a16="http://schemas.microsoft.com/office/drawing/2014/main" id="{462EB556-816A-F72B-E68B-31263E928D4D}"/>
              </a:ext>
            </a:extLst>
          </p:cNvPr>
          <p:cNvSpPr/>
          <p:nvPr/>
        </p:nvSpPr>
        <p:spPr>
          <a:xfrm>
            <a:off x="6081396" y="6949529"/>
            <a:ext cx="140147" cy="133474"/>
          </a:xfrm>
          <a:prstGeom prst="ellips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右矢印 22">
            <a:extLst>
              <a:ext uri="{FF2B5EF4-FFF2-40B4-BE49-F238E27FC236}">
                <a16:creationId xmlns:a16="http://schemas.microsoft.com/office/drawing/2014/main" id="{6BC5E13F-4B48-AEE5-C559-E694169FF4DF}"/>
              </a:ext>
            </a:extLst>
          </p:cNvPr>
          <p:cNvSpPr/>
          <p:nvPr/>
        </p:nvSpPr>
        <p:spPr>
          <a:xfrm rot="12458661">
            <a:off x="7658251" y="5101432"/>
            <a:ext cx="967270" cy="403526"/>
          </a:xfrm>
          <a:prstGeom prst="rightArrow">
            <a:avLst/>
          </a:prstGeom>
          <a:solidFill>
            <a:srgbClr val="B9BA9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Text 3">
            <a:extLst>
              <a:ext uri="{FF2B5EF4-FFF2-40B4-BE49-F238E27FC236}">
                <a16:creationId xmlns:a16="http://schemas.microsoft.com/office/drawing/2014/main" id="{6B5F3AC3-D44C-B7A3-D125-90BDABD5068E}"/>
              </a:ext>
            </a:extLst>
          </p:cNvPr>
          <p:cNvSpPr/>
          <p:nvPr/>
        </p:nvSpPr>
        <p:spPr>
          <a:xfrm>
            <a:off x="6593011" y="5103014"/>
            <a:ext cx="2368333" cy="837003"/>
          </a:xfrm>
          <a:prstGeom prst="rect">
            <a:avLst/>
          </a:prstGeom>
          <a:noFill/>
          <a:ln/>
        </p:spPr>
        <p:txBody>
          <a:bodyPr wrap="square" rtlCol="0" anchor="ctr"/>
          <a:lstStyle/>
          <a:p>
            <a:pPr>
              <a:buSzPct val="100000"/>
            </a:pPr>
            <a:r>
              <a:rPr lang="en-US" sz="2400" b="1" dirty="0">
                <a:solidFill>
                  <a:srgbClr val="B9BA99"/>
                </a:solidFill>
                <a:latin typeface="Helvetica Neue" panose="02000503000000020004" pitchFamily="2" charset="0"/>
                <a:ea typeface="Helvetica Neue" panose="02000503000000020004" pitchFamily="2" charset="0"/>
                <a:cs typeface="Helvetica Neue" panose="02000503000000020004" pitchFamily="2" charset="0"/>
              </a:rPr>
              <a:t>Total a</a:t>
            </a:r>
          </a:p>
        </p:txBody>
      </p:sp>
      <p:sp>
        <p:nvSpPr>
          <p:cNvPr id="25" name="Rectangle 8">
            <a:extLst>
              <a:ext uri="{FF2B5EF4-FFF2-40B4-BE49-F238E27FC236}">
                <a16:creationId xmlns:a16="http://schemas.microsoft.com/office/drawing/2014/main" id="{05B6D008-33D3-1591-2A0E-3F2404830EAB}"/>
              </a:ext>
            </a:extLst>
          </p:cNvPr>
          <p:cNvSpPr/>
          <p:nvPr/>
        </p:nvSpPr>
        <p:spPr>
          <a:xfrm>
            <a:off x="975207" y="5896208"/>
            <a:ext cx="1624972" cy="539496"/>
          </a:xfrm>
          <a:prstGeom prst="rect">
            <a:avLst/>
          </a:prstGeom>
          <a:solidFill>
            <a:srgbClr val="467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b="1" dirty="0">
                <a:latin typeface="Helvetica Neue" panose="02000503000000020004" pitchFamily="2" charset="0"/>
                <a:ea typeface="Helvetica Neue" panose="02000503000000020004" pitchFamily="2" charset="0"/>
                <a:cs typeface="Helvetica Neue" panose="02000503000000020004" pitchFamily="2" charset="0"/>
              </a:rPr>
              <a:t>So What</a:t>
            </a:r>
            <a:endParaRPr sz="2000" b="1"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26" name="Text 3">
            <a:extLst>
              <a:ext uri="{FF2B5EF4-FFF2-40B4-BE49-F238E27FC236}">
                <a16:creationId xmlns:a16="http://schemas.microsoft.com/office/drawing/2014/main" id="{7D08AB25-0E4D-E5CA-AB0F-FBD083B9AEA4}"/>
              </a:ext>
            </a:extLst>
          </p:cNvPr>
          <p:cNvSpPr/>
          <p:nvPr/>
        </p:nvSpPr>
        <p:spPr>
          <a:xfrm>
            <a:off x="2703020" y="5739655"/>
            <a:ext cx="3423606" cy="837003"/>
          </a:xfrm>
          <a:prstGeom prst="rect">
            <a:avLst/>
          </a:prstGeom>
          <a:noFill/>
          <a:ln/>
        </p:spPr>
        <p:txBody>
          <a:bodyPr wrap="square" rtlCol="0" anchor="ctr"/>
          <a:lstStyle/>
          <a:p>
            <a:pPr>
              <a:buSzPct val="100000"/>
            </a:pPr>
            <a:r>
              <a:rPr lang="en-US" altLang="ja-JP" sz="2000" i="1" dirty="0">
                <a:solidFill>
                  <a:srgbClr val="46789B"/>
                </a:solidFill>
                <a:latin typeface="Helvetica Neue" panose="02000503000000020004" pitchFamily="2" charset="0"/>
                <a:ea typeface="Helvetica Neue" panose="02000503000000020004" pitchFamily="2" charset="0"/>
                <a:cs typeface="Helvetica Neue" panose="02000503000000020004" pitchFamily="2" charset="0"/>
              </a:rPr>
              <a:t>a</a:t>
            </a:r>
            <a:r>
              <a:rPr lang="en-US" altLang="ja-JP" sz="2000" i="1" baseline="-25000" dirty="0">
                <a:solidFill>
                  <a:srgbClr val="46789B"/>
                </a:solidFill>
                <a:latin typeface="Helvetica Neue" panose="02000503000000020004" pitchFamily="2" charset="0"/>
                <a:ea typeface="Helvetica Neue" panose="02000503000000020004" pitchFamily="2" charset="0"/>
                <a:cs typeface="Helvetica Neue" panose="02000503000000020004" pitchFamily="2" charset="0"/>
              </a:rPr>
              <a:t>t </a:t>
            </a:r>
            <a:r>
              <a:rPr lang="en-US" altLang="ja-JP" sz="2000" dirty="0">
                <a:solidFill>
                  <a:srgbClr val="46789B"/>
                </a:solidFill>
                <a:latin typeface="Helvetica Neue" panose="02000503000000020004" pitchFamily="2" charset="0"/>
                <a:ea typeface="Helvetica Neue" panose="02000503000000020004" pitchFamily="2" charset="0"/>
                <a:cs typeface="Helvetica Neue" panose="02000503000000020004" pitchFamily="2" charset="0"/>
              </a:rPr>
              <a:t>&amp;</a:t>
            </a:r>
            <a:r>
              <a:rPr lang="en-US" altLang="ja-JP" sz="2000" i="1" baseline="-25000" dirty="0">
                <a:solidFill>
                  <a:srgbClr val="46789B"/>
                </a:solidFill>
                <a:latin typeface="Helvetica Neue" panose="02000503000000020004" pitchFamily="2" charset="0"/>
                <a:ea typeface="Helvetica Neue" panose="02000503000000020004" pitchFamily="2" charset="0"/>
                <a:cs typeface="Helvetica Neue" panose="02000503000000020004" pitchFamily="2" charset="0"/>
              </a:rPr>
              <a:t> </a:t>
            </a:r>
            <a:r>
              <a:rPr lang="en-US" sz="2000" i="1" dirty="0">
                <a:solidFill>
                  <a:srgbClr val="46789B"/>
                </a:solidFill>
                <a:latin typeface="Helvetica Neue" panose="02000503000000020004" pitchFamily="2" charset="0"/>
                <a:ea typeface="Helvetica Neue" panose="02000503000000020004" pitchFamily="2" charset="0"/>
                <a:cs typeface="Helvetica Neue" panose="02000503000000020004" pitchFamily="2" charset="0"/>
              </a:rPr>
              <a:t>a</a:t>
            </a:r>
            <a:r>
              <a:rPr lang="en-US" sz="2000" i="1" baseline="-25000" dirty="0">
                <a:solidFill>
                  <a:srgbClr val="46789B"/>
                </a:solidFill>
                <a:latin typeface="Helvetica Neue" panose="02000503000000020004" pitchFamily="2" charset="0"/>
                <a:ea typeface="Helvetica Neue" panose="02000503000000020004" pitchFamily="2" charset="0"/>
                <a:cs typeface="Helvetica Neue" panose="02000503000000020004" pitchFamily="2" charset="0"/>
              </a:rPr>
              <a:t>n </a:t>
            </a:r>
            <a:r>
              <a:rPr lang="en-US" sz="2000" dirty="0">
                <a:solidFill>
                  <a:srgbClr val="46789B"/>
                </a:solidFill>
                <a:latin typeface="Helvetica Neue" panose="02000503000000020004" pitchFamily="2" charset="0"/>
                <a:ea typeface="Helvetica Neue" panose="02000503000000020004" pitchFamily="2" charset="0"/>
                <a:cs typeface="Helvetica Neue" panose="02000503000000020004" pitchFamily="2" charset="0"/>
              </a:rPr>
              <a:t>are independent</a:t>
            </a:r>
            <a:r>
              <a:rPr lang="en-US" sz="2000" i="1" dirty="0">
                <a:solidFill>
                  <a:srgbClr val="46789B"/>
                </a:solidFill>
                <a:latin typeface="Helvetica Neue" panose="02000503000000020004" pitchFamily="2" charset="0"/>
                <a:ea typeface="Helvetica Neue" panose="02000503000000020004" pitchFamily="2" charset="0"/>
                <a:cs typeface="Helvetica Neue" panose="02000503000000020004" pitchFamily="2" charset="0"/>
              </a:rPr>
              <a:t> </a:t>
            </a:r>
          </a:p>
        </p:txBody>
      </p:sp>
      <p:pic>
        <p:nvPicPr>
          <p:cNvPr id="27" name="Class Voice (20)">
            <a:hlinkClick r:id="" action="ppaction://media"/>
            <a:extLst>
              <a:ext uri="{FF2B5EF4-FFF2-40B4-BE49-F238E27FC236}">
                <a16:creationId xmlns:a16="http://schemas.microsoft.com/office/drawing/2014/main" id="{A1382C09-38C2-0091-A8D6-AE0E359FC57C}"/>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539240" y="10160"/>
            <a:ext cx="812800" cy="812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1984"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7"/>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12192000" cy="457200"/>
          </a:xfrm>
          <a:prstGeom prst="rect">
            <a:avLst/>
          </a:prstGeom>
          <a:solidFill>
            <a:srgbClr val="DFDFB6"/>
          </a:solidFill>
          <a:ln/>
        </p:spPr>
        <p:txBody>
          <a:bodyPr/>
          <a:lstStyle/>
          <a:p>
            <a:endParaRPr lang="ja-JP" altLang="en-US"/>
          </a:p>
        </p:txBody>
      </p:sp>
      <p:sp>
        <p:nvSpPr>
          <p:cNvPr id="3" name="Text 1"/>
          <p:cNvSpPr/>
          <p:nvPr/>
        </p:nvSpPr>
        <p:spPr>
          <a:xfrm>
            <a:off x="640080" y="182880"/>
            <a:ext cx="3657600" cy="274320"/>
          </a:xfrm>
          <a:prstGeom prst="rect">
            <a:avLst/>
          </a:prstGeom>
          <a:noFill/>
          <a:ln/>
        </p:spPr>
        <p:txBody>
          <a:bodyPr wrap="square" rtlCol="0" anchor="ctr"/>
          <a:lstStyle/>
          <a:p>
            <a:pPr marL="0" indent="0">
              <a:buNone/>
            </a:pPr>
            <a:r>
              <a:rPr lang="en-US" sz="1400" dirty="0">
                <a:solidFill>
                  <a:srgbClr val="46789B"/>
                </a:solidFill>
                <a:latin typeface="Helvetica Neue" pitchFamily="34" charset="0"/>
                <a:ea typeface="Helvetica Neue" pitchFamily="34" charset="-122"/>
                <a:cs typeface="Helvetica Neue" pitchFamily="34" charset="-120"/>
              </a:rPr>
              <a:t>Lecture 2</a:t>
            </a:r>
            <a:endParaRPr lang="en-US" sz="1400" dirty="0"/>
          </a:p>
        </p:txBody>
      </p:sp>
      <p:sp>
        <p:nvSpPr>
          <p:cNvPr id="4" name="Text 2"/>
          <p:cNvSpPr/>
          <p:nvPr/>
        </p:nvSpPr>
        <p:spPr>
          <a:xfrm>
            <a:off x="640079" y="548640"/>
            <a:ext cx="11014891" cy="548640"/>
          </a:xfrm>
          <a:prstGeom prst="rect">
            <a:avLst/>
          </a:prstGeom>
          <a:noFill/>
          <a:ln/>
        </p:spPr>
        <p:txBody>
          <a:bodyPr wrap="square" rtlCol="0" anchor="ctr"/>
          <a:lstStyle/>
          <a:p>
            <a:pPr marL="0" indent="0">
              <a:buNone/>
            </a:pPr>
            <a:r>
              <a:rPr lang="en-US" sz="3600" b="1" dirty="0">
                <a:solidFill>
                  <a:srgbClr val="46789B"/>
                </a:solidFill>
                <a:latin typeface="Helvetica Neue" pitchFamily="34" charset="0"/>
                <a:ea typeface="Helvetica Neue" pitchFamily="34" charset="-122"/>
                <a:cs typeface="Helvetica Neue" pitchFamily="34" charset="-120"/>
              </a:rPr>
              <a:t>Basic 2 — Normal acceleration, constant speed</a:t>
            </a:r>
            <a:endParaRPr lang="en-US" sz="3600" dirty="0"/>
          </a:p>
        </p:txBody>
      </p:sp>
      <p:sp>
        <p:nvSpPr>
          <p:cNvPr id="5" name="Text 3"/>
          <p:cNvSpPr/>
          <p:nvPr/>
        </p:nvSpPr>
        <p:spPr>
          <a:xfrm>
            <a:off x="6190957" y="1656471"/>
            <a:ext cx="5025836" cy="3657600"/>
          </a:xfrm>
          <a:prstGeom prst="rect">
            <a:avLst/>
          </a:prstGeom>
          <a:noFill/>
          <a:ln/>
        </p:spPr>
        <p:txBody>
          <a:bodyPr wrap="square" rtlCol="0" anchor="ctr"/>
          <a:lstStyle/>
          <a:p>
            <a:pPr marL="342900" indent="-342900">
              <a:buSzPct val="100000"/>
              <a:buChar char="•"/>
            </a:pPr>
            <a:r>
              <a:rPr lang="en-US" sz="2400" i="1" dirty="0">
                <a:solidFill>
                  <a:srgbClr val="464646"/>
                </a:solidFill>
                <a:latin typeface="Helvetica Neue" pitchFamily="34" charset="0"/>
                <a:ea typeface="Helvetica Neue" pitchFamily="34" charset="-122"/>
                <a:cs typeface="Helvetica Neue" pitchFamily="34" charset="-120"/>
              </a:rPr>
              <a:t>a</a:t>
            </a:r>
            <a:r>
              <a:rPr lang="en-US" sz="2400" i="1" baseline="-25000" dirty="0">
                <a:solidFill>
                  <a:srgbClr val="464646"/>
                </a:solidFill>
                <a:latin typeface="Helvetica Neue" pitchFamily="34" charset="0"/>
                <a:ea typeface="Helvetica Neue" pitchFamily="34" charset="-122"/>
                <a:cs typeface="Helvetica Neue" pitchFamily="34" charset="-120"/>
              </a:rPr>
              <a:t>n</a:t>
            </a:r>
            <a:r>
              <a:rPr lang="en-US" sz="2400" i="1" dirty="0">
                <a:solidFill>
                  <a:srgbClr val="464646"/>
                </a:solidFill>
                <a:latin typeface="Helvetica Neue" pitchFamily="34" charset="0"/>
                <a:ea typeface="Helvetica Neue" pitchFamily="34" charset="-122"/>
                <a:cs typeface="Helvetica Neue" pitchFamily="34" charset="-120"/>
              </a:rPr>
              <a:t> = v²/r</a:t>
            </a:r>
            <a:r>
              <a:rPr lang="en-US" sz="2400" dirty="0">
                <a:solidFill>
                  <a:srgbClr val="464646"/>
                </a:solidFill>
                <a:latin typeface="Helvetica Neue" pitchFamily="34" charset="0"/>
                <a:ea typeface="Helvetica Neue" pitchFamily="34" charset="-122"/>
                <a:cs typeface="Helvetica Neue" pitchFamily="34" charset="-120"/>
              </a:rPr>
              <a:t> = 100/5 = 20 m/s²</a:t>
            </a:r>
          </a:p>
          <a:p>
            <a:pPr marL="342900" indent="-342900">
              <a:buSzPct val="100000"/>
              <a:buChar char="•"/>
            </a:pPr>
            <a:endParaRPr lang="en-US" sz="2400" dirty="0"/>
          </a:p>
          <a:p>
            <a:pPr marL="342900" indent="-342900">
              <a:buSzPct val="100000"/>
              <a:buChar char="•"/>
            </a:pPr>
            <a:r>
              <a:rPr lang="en-US" sz="2400" i="1" dirty="0">
                <a:solidFill>
                  <a:srgbClr val="464646"/>
                </a:solidFill>
                <a:latin typeface="Helvetica Neue" pitchFamily="34" charset="0"/>
                <a:ea typeface="Helvetica Neue" pitchFamily="34" charset="-122"/>
                <a:cs typeface="Helvetica Neue" pitchFamily="34" charset="-120"/>
              </a:rPr>
              <a:t>a</a:t>
            </a:r>
            <a:r>
              <a:rPr lang="en-US" sz="2400" i="1" baseline="-25000" dirty="0">
                <a:solidFill>
                  <a:srgbClr val="464646"/>
                </a:solidFill>
                <a:latin typeface="Helvetica Neue" pitchFamily="34" charset="0"/>
                <a:ea typeface="Helvetica Neue" pitchFamily="34" charset="-122"/>
                <a:cs typeface="Helvetica Neue" pitchFamily="34" charset="-120"/>
              </a:rPr>
              <a:t>t</a:t>
            </a:r>
            <a:r>
              <a:rPr lang="en-US" sz="2400" dirty="0">
                <a:solidFill>
                  <a:srgbClr val="464646"/>
                </a:solidFill>
                <a:latin typeface="Helvetica Neue" pitchFamily="34" charset="0"/>
                <a:ea typeface="Helvetica Neue" pitchFamily="34" charset="-122"/>
                <a:cs typeface="Helvetica Neue" pitchFamily="34" charset="-120"/>
              </a:rPr>
              <a:t> = dv/dt = 0</a:t>
            </a:r>
          </a:p>
          <a:p>
            <a:pPr>
              <a:buSzPct val="100000"/>
            </a:pPr>
            <a:endParaRPr lang="en-US" sz="2400" dirty="0"/>
          </a:p>
        </p:txBody>
      </p:sp>
      <p:sp>
        <p:nvSpPr>
          <p:cNvPr id="6" name="Rectangle 7">
            <a:extLst>
              <a:ext uri="{FF2B5EF4-FFF2-40B4-BE49-F238E27FC236}">
                <a16:creationId xmlns:a16="http://schemas.microsoft.com/office/drawing/2014/main" id="{94358D3A-364E-B201-11BC-85DC7F6622AF}"/>
              </a:ext>
            </a:extLst>
          </p:cNvPr>
          <p:cNvSpPr/>
          <p:nvPr/>
        </p:nvSpPr>
        <p:spPr>
          <a:xfrm>
            <a:off x="746607" y="1417319"/>
            <a:ext cx="5120640" cy="3886201"/>
          </a:xfrm>
          <a:prstGeom prst="rect">
            <a:avLst/>
          </a:prstGeom>
          <a:solidFill>
            <a:srgbClr val="FAFAFA"/>
          </a:solidFill>
          <a:ln w="1524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8">
            <a:extLst>
              <a:ext uri="{FF2B5EF4-FFF2-40B4-BE49-F238E27FC236}">
                <a16:creationId xmlns:a16="http://schemas.microsoft.com/office/drawing/2014/main" id="{CD1137E7-DDBB-6725-9E19-331666843EB7}"/>
              </a:ext>
            </a:extLst>
          </p:cNvPr>
          <p:cNvSpPr/>
          <p:nvPr/>
        </p:nvSpPr>
        <p:spPr>
          <a:xfrm>
            <a:off x="746607" y="1417320"/>
            <a:ext cx="5120640" cy="109728"/>
          </a:xfrm>
          <a:prstGeom prst="rect">
            <a:avLst/>
          </a:prstGeom>
          <a:solidFill>
            <a:srgbClr val="467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9">
            <a:extLst>
              <a:ext uri="{FF2B5EF4-FFF2-40B4-BE49-F238E27FC236}">
                <a16:creationId xmlns:a16="http://schemas.microsoft.com/office/drawing/2014/main" id="{D4B9D991-523E-FDC9-6E76-130831357583}"/>
              </a:ext>
            </a:extLst>
          </p:cNvPr>
          <p:cNvSpPr txBox="1"/>
          <p:nvPr/>
        </p:nvSpPr>
        <p:spPr>
          <a:xfrm>
            <a:off x="975207" y="1600200"/>
            <a:ext cx="4663440" cy="320040"/>
          </a:xfrm>
          <a:prstGeom prst="rect">
            <a:avLst/>
          </a:prstGeom>
          <a:noFill/>
        </p:spPr>
        <p:txBody>
          <a:bodyPr wrap="none" lIns="0" tIns="0" rIns="0" bIns="0" anchor="t">
            <a:spAutoFit/>
          </a:bodyPr>
          <a:lstStyle/>
          <a:p>
            <a:pPr algn="l"/>
            <a:r>
              <a:rPr sz="2000" b="1" dirty="0">
                <a:solidFill>
                  <a:srgbClr val="46789B"/>
                </a:solidFill>
                <a:latin typeface="Hiragino Sans W7"/>
              </a:rPr>
              <a:t>Problem</a:t>
            </a:r>
          </a:p>
        </p:txBody>
      </p:sp>
      <p:sp>
        <p:nvSpPr>
          <p:cNvPr id="9" name="テキスト ボックス 8">
            <a:extLst>
              <a:ext uri="{FF2B5EF4-FFF2-40B4-BE49-F238E27FC236}">
                <a16:creationId xmlns:a16="http://schemas.microsoft.com/office/drawing/2014/main" id="{70F33E17-EA68-5B5E-A100-A199EA35ADC3}"/>
              </a:ext>
            </a:extLst>
          </p:cNvPr>
          <p:cNvSpPr txBox="1"/>
          <p:nvPr/>
        </p:nvSpPr>
        <p:spPr>
          <a:xfrm>
            <a:off x="1070164" y="2090172"/>
            <a:ext cx="5025836" cy="1938992"/>
          </a:xfrm>
          <a:prstGeom prst="rect">
            <a:avLst/>
          </a:prstGeom>
          <a:noFill/>
        </p:spPr>
        <p:txBody>
          <a:bodyPr wrap="square">
            <a:spAutoFit/>
          </a:bodyPr>
          <a:lstStyle/>
          <a:p>
            <a:pPr>
              <a:buNone/>
            </a:pPr>
            <a:r>
              <a:rPr lang="en-US" altLang="ja-JP" sz="2400" dirty="0">
                <a:latin typeface="Helvetica Neue" panose="02000503000000020004" pitchFamily="2" charset="0"/>
                <a:ea typeface="Helvetica Neue" panose="02000503000000020004" pitchFamily="2" charset="0"/>
                <a:cs typeface="Helvetica Neue" panose="02000503000000020004" pitchFamily="2" charset="0"/>
              </a:rPr>
              <a:t>A particle moves in a circle of radius r = 5 </a:t>
            </a:r>
            <a:r>
              <a:rPr lang="el-GR" altLang="ja-JP" sz="2400" dirty="0">
                <a:latin typeface="Helvetica Neue" panose="02000503000000020004" pitchFamily="2" charset="0"/>
                <a:ea typeface="Helvetica Neue" panose="02000503000000020004" pitchFamily="2" charset="0"/>
                <a:cs typeface="Helvetica Neue" panose="02000503000000020004" pitchFamily="2" charset="0"/>
              </a:rPr>
              <a:t>(</a:t>
            </a:r>
            <a:r>
              <a:rPr lang="en-US" altLang="ja-JP" sz="2400" dirty="0">
                <a:latin typeface="Helvetica Neue" panose="02000503000000020004" pitchFamily="2" charset="0"/>
                <a:ea typeface="Helvetica Neue" panose="02000503000000020004" pitchFamily="2" charset="0"/>
                <a:cs typeface="Helvetica Neue" panose="02000503000000020004" pitchFamily="2" charset="0"/>
              </a:rPr>
              <a:t>m</a:t>
            </a:r>
            <a:r>
              <a:rPr lang="el-GR" altLang="ja-JP" sz="2400" dirty="0">
                <a:latin typeface="Helvetica Neue" panose="02000503000000020004" pitchFamily="2" charset="0"/>
                <a:ea typeface="Helvetica Neue" panose="02000503000000020004" pitchFamily="2" charset="0"/>
                <a:cs typeface="Helvetica Neue" panose="02000503000000020004" pitchFamily="2" charset="0"/>
              </a:rPr>
              <a:t>)</a:t>
            </a:r>
            <a:r>
              <a:rPr lang="en-US" altLang="ja-JP" sz="2400" dirty="0">
                <a:latin typeface="Helvetica Neue" panose="02000503000000020004" pitchFamily="2" charset="0"/>
                <a:ea typeface="Helvetica Neue" panose="02000503000000020004" pitchFamily="2" charset="0"/>
                <a:cs typeface="Helvetica Neue" panose="02000503000000020004" pitchFamily="2" charset="0"/>
              </a:rPr>
              <a:t> </a:t>
            </a:r>
          </a:p>
          <a:p>
            <a:pPr>
              <a:buNone/>
            </a:pPr>
            <a:r>
              <a:rPr lang="en-US" altLang="ja-JP" sz="2400" dirty="0">
                <a:latin typeface="Helvetica Neue" panose="02000503000000020004" pitchFamily="2" charset="0"/>
                <a:ea typeface="Helvetica Neue" panose="02000503000000020004" pitchFamily="2" charset="0"/>
                <a:cs typeface="Helvetica Neue" panose="02000503000000020004" pitchFamily="2" charset="0"/>
              </a:rPr>
              <a:t>with constant speed v = 10 </a:t>
            </a:r>
            <a:r>
              <a:rPr lang="el-GR" altLang="ja-JP" sz="2400" dirty="0">
                <a:latin typeface="Helvetica Neue" panose="02000503000000020004" pitchFamily="2" charset="0"/>
                <a:ea typeface="Helvetica Neue" panose="02000503000000020004" pitchFamily="2" charset="0"/>
                <a:cs typeface="Helvetica Neue" panose="02000503000000020004" pitchFamily="2" charset="0"/>
              </a:rPr>
              <a:t>(</a:t>
            </a:r>
            <a:r>
              <a:rPr lang="en-US" altLang="ja-JP" sz="2400" dirty="0">
                <a:latin typeface="Helvetica Neue" panose="02000503000000020004" pitchFamily="2" charset="0"/>
                <a:ea typeface="Helvetica Neue" panose="02000503000000020004" pitchFamily="2" charset="0"/>
                <a:cs typeface="Helvetica Neue" panose="02000503000000020004" pitchFamily="2" charset="0"/>
              </a:rPr>
              <a:t>m/s</a:t>
            </a:r>
            <a:r>
              <a:rPr lang="el-GR" altLang="ja-JP" sz="2400" dirty="0">
                <a:latin typeface="Helvetica Neue" panose="02000503000000020004" pitchFamily="2" charset="0"/>
                <a:ea typeface="Helvetica Neue" panose="02000503000000020004" pitchFamily="2" charset="0"/>
                <a:cs typeface="Helvetica Neue" panose="02000503000000020004" pitchFamily="2" charset="0"/>
              </a:rPr>
              <a:t>)</a:t>
            </a:r>
            <a:endParaRPr lang="en-US" altLang="ja-JP" sz="2400" dirty="0">
              <a:latin typeface="Helvetica Neue" panose="02000503000000020004" pitchFamily="2" charset="0"/>
              <a:ea typeface="Helvetica Neue" panose="02000503000000020004" pitchFamily="2" charset="0"/>
              <a:cs typeface="Helvetica Neue" panose="02000503000000020004" pitchFamily="2" charset="0"/>
            </a:endParaRPr>
          </a:p>
          <a:p>
            <a:pPr>
              <a:buNone/>
            </a:pPr>
            <a:endParaRPr lang="el-GR" altLang="ja-JP" sz="2400" dirty="0">
              <a:latin typeface="Helvetica Neue" panose="02000503000000020004" pitchFamily="2" charset="0"/>
              <a:ea typeface="Helvetica Neue" panose="02000503000000020004" pitchFamily="2" charset="0"/>
              <a:cs typeface="Helvetica Neue" panose="02000503000000020004" pitchFamily="2" charset="0"/>
            </a:endParaRPr>
          </a:p>
          <a:p>
            <a:pPr>
              <a:buNone/>
            </a:pPr>
            <a:r>
              <a:rPr lang="en-US" altLang="ja-JP" sz="2400" dirty="0">
                <a:latin typeface="Helvetica Neue" panose="02000503000000020004" pitchFamily="2" charset="0"/>
                <a:ea typeface="Helvetica Neue" panose="02000503000000020004" pitchFamily="2" charset="0"/>
                <a:cs typeface="Helvetica Neue" panose="02000503000000020004" pitchFamily="2" charset="0"/>
              </a:rPr>
              <a:t>Find the normal acceleration</a:t>
            </a:r>
          </a:p>
        </p:txBody>
      </p:sp>
      <p:sp>
        <p:nvSpPr>
          <p:cNvPr id="10" name="円/楕円 9">
            <a:extLst>
              <a:ext uri="{FF2B5EF4-FFF2-40B4-BE49-F238E27FC236}">
                <a16:creationId xmlns:a16="http://schemas.microsoft.com/office/drawing/2014/main" id="{7F875C24-9505-50E2-269B-72C80753CD9C}"/>
              </a:ext>
            </a:extLst>
          </p:cNvPr>
          <p:cNvSpPr/>
          <p:nvPr/>
        </p:nvSpPr>
        <p:spPr>
          <a:xfrm>
            <a:off x="6081396" y="6949529"/>
            <a:ext cx="140147" cy="133474"/>
          </a:xfrm>
          <a:prstGeom prst="ellips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Rectangle 8">
            <a:extLst>
              <a:ext uri="{FF2B5EF4-FFF2-40B4-BE49-F238E27FC236}">
                <a16:creationId xmlns:a16="http://schemas.microsoft.com/office/drawing/2014/main" id="{D3691335-6A60-F15D-FC42-F85818A1259D}"/>
              </a:ext>
            </a:extLst>
          </p:cNvPr>
          <p:cNvSpPr/>
          <p:nvPr/>
        </p:nvSpPr>
        <p:spPr>
          <a:xfrm>
            <a:off x="975207" y="5896208"/>
            <a:ext cx="1624972" cy="539496"/>
          </a:xfrm>
          <a:prstGeom prst="rect">
            <a:avLst/>
          </a:prstGeom>
          <a:solidFill>
            <a:srgbClr val="467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b="1" dirty="0">
                <a:latin typeface="Helvetica Neue" panose="02000503000000020004" pitchFamily="2" charset="0"/>
                <a:ea typeface="Helvetica Neue" panose="02000503000000020004" pitchFamily="2" charset="0"/>
                <a:cs typeface="Helvetica Neue" panose="02000503000000020004" pitchFamily="2" charset="0"/>
              </a:rPr>
              <a:t>So What</a:t>
            </a:r>
            <a:endParaRPr sz="2000" b="1"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2" name="Text 3">
            <a:extLst>
              <a:ext uri="{FF2B5EF4-FFF2-40B4-BE49-F238E27FC236}">
                <a16:creationId xmlns:a16="http://schemas.microsoft.com/office/drawing/2014/main" id="{5E192950-1820-1250-F28E-E93C28E885A4}"/>
              </a:ext>
            </a:extLst>
          </p:cNvPr>
          <p:cNvSpPr/>
          <p:nvPr/>
        </p:nvSpPr>
        <p:spPr>
          <a:xfrm>
            <a:off x="2703019" y="5739655"/>
            <a:ext cx="7847749" cy="837003"/>
          </a:xfrm>
          <a:prstGeom prst="rect">
            <a:avLst/>
          </a:prstGeom>
          <a:noFill/>
          <a:ln/>
        </p:spPr>
        <p:txBody>
          <a:bodyPr wrap="square" rtlCol="0" anchor="ctr"/>
          <a:lstStyle/>
          <a:p>
            <a:pPr>
              <a:buSzPct val="100000"/>
            </a:pPr>
            <a:r>
              <a:rPr lang="en-US" altLang="ja-JP" sz="2000" dirty="0">
                <a:solidFill>
                  <a:srgbClr val="46789B"/>
                </a:solidFill>
                <a:latin typeface="Helvetica Neue" pitchFamily="34" charset="0"/>
                <a:ea typeface="Helvetica Neue" pitchFamily="34" charset="-122"/>
                <a:cs typeface="Helvetica Neue" pitchFamily="34" charset="-120"/>
              </a:rPr>
              <a:t>Even at constant speed: acceleration exists and points inward</a:t>
            </a:r>
            <a:endParaRPr lang="en-US" altLang="ja-JP" sz="2000" dirty="0">
              <a:solidFill>
                <a:srgbClr val="46789B"/>
              </a:solidFill>
            </a:endParaRPr>
          </a:p>
        </p:txBody>
      </p:sp>
      <p:pic>
        <p:nvPicPr>
          <p:cNvPr id="13" name="Class Voice (21)">
            <a:hlinkClick r:id="" action="ppaction://media"/>
            <a:extLst>
              <a:ext uri="{FF2B5EF4-FFF2-40B4-BE49-F238E27FC236}">
                <a16:creationId xmlns:a16="http://schemas.microsoft.com/office/drawing/2014/main" id="{65E27892-F79F-EF95-6AB3-1BF577E03B7F}"/>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32840" y="10160"/>
            <a:ext cx="812800" cy="812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7152"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13"/>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12192000" cy="457200"/>
          </a:xfrm>
          <a:prstGeom prst="rect">
            <a:avLst/>
          </a:prstGeom>
          <a:solidFill>
            <a:srgbClr val="DFDFB6"/>
          </a:solidFill>
          <a:ln/>
        </p:spPr>
        <p:txBody>
          <a:bodyPr/>
          <a:lstStyle/>
          <a:p>
            <a:endParaRPr lang="ja-JP" altLang="en-US"/>
          </a:p>
        </p:txBody>
      </p:sp>
      <p:sp>
        <p:nvSpPr>
          <p:cNvPr id="3" name="Text 1"/>
          <p:cNvSpPr/>
          <p:nvPr/>
        </p:nvSpPr>
        <p:spPr>
          <a:xfrm>
            <a:off x="640080" y="182880"/>
            <a:ext cx="3657600" cy="274320"/>
          </a:xfrm>
          <a:prstGeom prst="rect">
            <a:avLst/>
          </a:prstGeom>
          <a:noFill/>
          <a:ln/>
        </p:spPr>
        <p:txBody>
          <a:bodyPr wrap="square" rtlCol="0" anchor="ctr"/>
          <a:lstStyle/>
          <a:p>
            <a:pPr marL="0" indent="0">
              <a:buNone/>
            </a:pPr>
            <a:r>
              <a:rPr lang="en-US" sz="1400" dirty="0">
                <a:solidFill>
                  <a:srgbClr val="46789B"/>
                </a:solidFill>
                <a:latin typeface="Helvetica Neue" pitchFamily="34" charset="0"/>
                <a:ea typeface="Helvetica Neue" pitchFamily="34" charset="-122"/>
                <a:cs typeface="Helvetica Neue" pitchFamily="34" charset="-120"/>
              </a:rPr>
              <a:t>Lecture 2</a:t>
            </a:r>
            <a:endParaRPr lang="en-US" sz="1400" dirty="0"/>
          </a:p>
        </p:txBody>
      </p:sp>
      <p:sp>
        <p:nvSpPr>
          <p:cNvPr id="4" name="Text 2"/>
          <p:cNvSpPr/>
          <p:nvPr/>
        </p:nvSpPr>
        <p:spPr>
          <a:xfrm>
            <a:off x="640080" y="548640"/>
            <a:ext cx="8229600" cy="548640"/>
          </a:xfrm>
          <a:prstGeom prst="rect">
            <a:avLst/>
          </a:prstGeom>
          <a:noFill/>
          <a:ln/>
        </p:spPr>
        <p:txBody>
          <a:bodyPr wrap="square" rtlCol="0" anchor="ctr"/>
          <a:lstStyle/>
          <a:p>
            <a:pPr marL="0" indent="0">
              <a:buNone/>
            </a:pPr>
            <a:r>
              <a:rPr lang="en-US" sz="3600" b="1" dirty="0">
                <a:solidFill>
                  <a:srgbClr val="46789B"/>
                </a:solidFill>
                <a:latin typeface="Helvetica Neue" pitchFamily="34" charset="0"/>
                <a:ea typeface="Helvetica Neue" pitchFamily="34" charset="-122"/>
                <a:cs typeface="Helvetica Neue" pitchFamily="34" charset="-120"/>
              </a:rPr>
              <a:t>Key takeaway</a:t>
            </a:r>
            <a:endParaRPr lang="en-US" sz="3600" dirty="0"/>
          </a:p>
        </p:txBody>
      </p:sp>
      <p:sp>
        <p:nvSpPr>
          <p:cNvPr id="5" name="Text 3"/>
          <p:cNvSpPr/>
          <p:nvPr/>
        </p:nvSpPr>
        <p:spPr>
          <a:xfrm>
            <a:off x="1371600" y="2011680"/>
            <a:ext cx="9144000" cy="1371600"/>
          </a:xfrm>
          <a:prstGeom prst="rect">
            <a:avLst/>
          </a:prstGeom>
          <a:noFill/>
          <a:ln/>
        </p:spPr>
        <p:txBody>
          <a:bodyPr wrap="square" rtlCol="0" anchor="ctr"/>
          <a:lstStyle/>
          <a:p>
            <a:pPr marL="0" indent="0" algn="ctr">
              <a:buNone/>
            </a:pPr>
            <a:r>
              <a:rPr lang="en-US" sz="3600" b="1" i="1" dirty="0">
                <a:solidFill>
                  <a:srgbClr val="464646"/>
                </a:solidFill>
                <a:latin typeface="Helvetica Neue" pitchFamily="34" charset="0"/>
                <a:ea typeface="Helvetica Neue" pitchFamily="34" charset="-122"/>
                <a:cs typeface="Helvetica Neue" pitchFamily="34" charset="-120"/>
              </a:rPr>
              <a:t>a</a:t>
            </a:r>
            <a:r>
              <a:rPr lang="en-US" sz="3600" b="1" i="1" baseline="-25000" dirty="0">
                <a:solidFill>
                  <a:srgbClr val="464646"/>
                </a:solidFill>
                <a:latin typeface="Helvetica Neue" pitchFamily="34" charset="0"/>
                <a:ea typeface="Helvetica Neue" pitchFamily="34" charset="-122"/>
                <a:cs typeface="Helvetica Neue" pitchFamily="34" charset="-120"/>
              </a:rPr>
              <a:t>t</a:t>
            </a:r>
            <a:r>
              <a:rPr lang="en-US" sz="3600" b="1" dirty="0">
                <a:solidFill>
                  <a:srgbClr val="464646"/>
                </a:solidFill>
                <a:latin typeface="Helvetica Neue" pitchFamily="34" charset="0"/>
                <a:ea typeface="Helvetica Neue" pitchFamily="34" charset="-122"/>
                <a:cs typeface="Helvetica Neue" pitchFamily="34" charset="-120"/>
              </a:rPr>
              <a:t> controls speed.</a:t>
            </a:r>
            <a:endParaRPr lang="en-US" sz="3600" dirty="0"/>
          </a:p>
          <a:p>
            <a:pPr marL="0" indent="0" algn="ctr">
              <a:buNone/>
            </a:pPr>
            <a:r>
              <a:rPr lang="en-US" sz="3600" b="1" i="1" dirty="0">
                <a:solidFill>
                  <a:srgbClr val="464646"/>
                </a:solidFill>
                <a:latin typeface="Helvetica Neue" pitchFamily="34" charset="0"/>
                <a:ea typeface="Helvetica Neue" pitchFamily="34" charset="-122"/>
                <a:cs typeface="Helvetica Neue" pitchFamily="34" charset="-120"/>
              </a:rPr>
              <a:t>a</a:t>
            </a:r>
            <a:r>
              <a:rPr lang="en-US" sz="3600" b="1" i="1" baseline="-25000" dirty="0">
                <a:solidFill>
                  <a:srgbClr val="464646"/>
                </a:solidFill>
                <a:latin typeface="Helvetica Neue" pitchFamily="34" charset="0"/>
                <a:ea typeface="Helvetica Neue" pitchFamily="34" charset="-122"/>
                <a:cs typeface="Helvetica Neue" pitchFamily="34" charset="-120"/>
              </a:rPr>
              <a:t>n</a:t>
            </a:r>
            <a:r>
              <a:rPr lang="en-US" sz="3600" b="1" dirty="0">
                <a:solidFill>
                  <a:srgbClr val="464646"/>
                </a:solidFill>
                <a:latin typeface="Helvetica Neue" pitchFamily="34" charset="0"/>
                <a:ea typeface="Helvetica Neue" pitchFamily="34" charset="-122"/>
                <a:cs typeface="Helvetica Neue" pitchFamily="34" charset="-120"/>
              </a:rPr>
              <a:t> controls direction.</a:t>
            </a:r>
            <a:endParaRPr lang="en-US" sz="3600" dirty="0"/>
          </a:p>
          <a:p>
            <a:pPr marL="0" indent="0" algn="ctr">
              <a:buNone/>
            </a:pPr>
            <a:r>
              <a:rPr lang="en-US" sz="3600" b="1" dirty="0">
                <a:solidFill>
                  <a:srgbClr val="464646"/>
                </a:solidFill>
                <a:latin typeface="Helvetica Neue" pitchFamily="34" charset="0"/>
                <a:ea typeface="Helvetica Neue" pitchFamily="34" charset="-122"/>
                <a:cs typeface="Helvetica Neue" pitchFamily="34" charset="-120"/>
              </a:rPr>
              <a:t>They are always perpendicular.</a:t>
            </a:r>
          </a:p>
          <a:p>
            <a:pPr marL="0" indent="0" algn="ctr">
              <a:buNone/>
            </a:pPr>
            <a:br>
              <a:rPr lang="en-US" sz="3600" b="1" dirty="0">
                <a:solidFill>
                  <a:srgbClr val="464646"/>
                </a:solidFill>
                <a:latin typeface="Helvetica Neue" pitchFamily="34" charset="0"/>
                <a:ea typeface="Helvetica Neue" pitchFamily="34" charset="-122"/>
                <a:cs typeface="Helvetica Neue" pitchFamily="34" charset="-120"/>
              </a:rPr>
            </a:br>
            <a:r>
              <a:rPr lang="en-US" sz="3600" b="1" dirty="0">
                <a:solidFill>
                  <a:srgbClr val="464646"/>
                </a:solidFill>
                <a:latin typeface="Helvetica Neue" pitchFamily="34" charset="0"/>
                <a:ea typeface="Helvetica Neue" pitchFamily="34" charset="-122"/>
                <a:cs typeface="Helvetica Neue" pitchFamily="34" charset="-120"/>
              </a:rPr>
              <a:t>Subtract vectors for relative motion</a:t>
            </a:r>
            <a:endParaRPr lang="en-US" sz="3600" dirty="0"/>
          </a:p>
        </p:txBody>
      </p:sp>
      <p:pic>
        <p:nvPicPr>
          <p:cNvPr id="6" name="Class Voice (22)">
            <a:hlinkClick r:id="" action="ppaction://media"/>
            <a:extLst>
              <a:ext uri="{FF2B5EF4-FFF2-40B4-BE49-F238E27FC236}">
                <a16:creationId xmlns:a16="http://schemas.microsoft.com/office/drawing/2014/main" id="{414AA57A-768E-4D87-423A-286EB76EC84A}"/>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99160" y="10160"/>
            <a:ext cx="812800" cy="812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1736"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6"/>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1095</TotalTime>
  <Words>1380</Words>
  <Application>Microsoft Macintosh PowerPoint</Application>
  <PresentationFormat>ワイド画面</PresentationFormat>
  <Paragraphs>129</Paragraphs>
  <Slides>10</Slides>
  <Notes>10</Notes>
  <HiddenSlides>0</HiddenSlides>
  <MMClips>10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10</vt:i4>
      </vt:variant>
    </vt:vector>
  </HeadingPairs>
  <TitlesOfParts>
    <vt:vector size="15" baseType="lpstr">
      <vt:lpstr>Hiragino Sans W7</vt:lpstr>
      <vt:lpstr>Arial</vt:lpstr>
      <vt:lpstr>Cambria Math</vt:lpstr>
      <vt:lpstr>Helvetica Neue</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鈴木　杏奈</cp:lastModifiedBy>
  <cp:revision>2</cp:revision>
  <dcterms:created xsi:type="dcterms:W3CDTF">2026-03-30T21:17:16Z</dcterms:created>
  <dcterms:modified xsi:type="dcterms:W3CDTF">2026-03-31T21:08:47Z</dcterms:modified>
</cp:coreProperties>
</file>