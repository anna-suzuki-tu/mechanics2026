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5" r:id="rId4"/>
    <p:sldId id="258" r:id="rId5"/>
    <p:sldId id="259" r:id="rId6"/>
    <p:sldId id="267" r:id="rId7"/>
    <p:sldId id="261" r:id="rId8"/>
    <p:sldId id="266"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9BA99"/>
    <a:srgbClr val="46789B"/>
    <a:srgbClr val="DFDFB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77808"/>
  </p:normalViewPr>
  <p:slideViewPr>
    <p:cSldViewPr snapToGrid="0" snapToObjects="1">
      <p:cViewPr varScale="1">
        <p:scale>
          <a:sx n="93" d="100"/>
          <a:sy n="93" d="100"/>
        </p:scale>
        <p:origin x="132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73093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Welcome to Lecture 1. This lecture is not about memorizing formulas of position, velocity, and acceleration. It is about understanding WHY those formulas exist, and when they fail. By the end, you will be able to derive any kinematic result from first principles — even if you forget every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Three fundamental quantities (position, velocity, acceleration) govern all motion. </a:t>
            </a:r>
          </a:p>
          <a:p>
            <a:r>
              <a:rPr lang="en-US" altLang="ja-JP" dirty="0"/>
              <a:t>First: position x(t) in meters. It tells you where. The slope of the x-t graph is velocity. </a:t>
            </a:r>
          </a:p>
          <a:p>
            <a:r>
              <a:rPr lang="en-US" altLang="ja-JP" dirty="0"/>
              <a:t>Second: velocity v = dx/dt in m/s. Rate of change of position. The slope of the v-t graph is acceleration. Area under the v-t graph is displacement. </a:t>
            </a:r>
          </a:p>
          <a:p>
            <a:r>
              <a:rPr lang="en-US" altLang="ja-JP" dirty="0"/>
              <a:t>Third: acceleration a = dv/dt in m/s squared. Rate of change of velocity. </a:t>
            </a:r>
          </a:p>
          <a:p>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B00C-619A-A7F6-CC48-39618EFCA6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DC3AC-82CC-5A7B-2F99-F7BDB3FDC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5301B7-7602-621F-16F8-09B38E85382F}"/>
              </a:ext>
            </a:extLst>
          </p:cNvPr>
          <p:cNvSpPr>
            <a:spLocks noGrp="1"/>
          </p:cNvSpPr>
          <p:nvPr>
            <p:ph type="body" idx="1"/>
          </p:nvPr>
        </p:nvSpPr>
        <p:spPr/>
        <p:txBody>
          <a:bodyPr/>
          <a:lstStyle/>
          <a:p>
            <a:endParaRPr lang="en-US" altLang="ja-JP" dirty="0"/>
          </a:p>
          <a:p>
            <a:r>
              <a:rPr lang="en-US" altLang="ja-JP" dirty="0"/>
              <a:t>So What: differentiation goes x to v to a. Integration goes a to v to x. These two operations are all you need for any kinematics problem. </a:t>
            </a:r>
          </a:p>
          <a:p>
            <a:r>
              <a:rPr lang="en-US" altLang="ja-JP" dirty="0"/>
              <a:t>So What on acceleration: v = 0 does NOT mean a = 0. A ball thrown upward has zero velocity at the peak — but gravity still pulls at 9.81 m/s squared. This is the most important single fact in kinematics.</a:t>
            </a:r>
            <a:endParaRPr lang="en-US" dirty="0"/>
          </a:p>
        </p:txBody>
      </p:sp>
      <p:sp>
        <p:nvSpPr>
          <p:cNvPr id="4" name="Slide Number Placeholder 3">
            <a:extLst>
              <a:ext uri="{FF2B5EF4-FFF2-40B4-BE49-F238E27FC236}">
                <a16:creationId xmlns:a16="http://schemas.microsoft.com/office/drawing/2014/main" id="{FFC853AA-995C-1F0F-6801-DA4C304EA7C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67573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Before writing any equation, identify what type of acceleration you have. If acceleration a is constant: use the three standard formulas directly. They are valid only when a does not change. If acceleration a is a function of time: integrate with respect to time t. velocity v equals the integral of a dt. Position x equals the integral of v dt. </a:t>
            </a:r>
          </a:p>
          <a:p>
            <a:r>
              <a:rPr lang="en-US" altLang="ja-JP" dirty="0"/>
              <a:t>If acceleration a is a function of position x: use the chain rule. Acceleration a equals velocity v times dv/dx. Rearrange: v dv equals a dx. Integrate both sides. </a:t>
            </a:r>
          </a:p>
          <a:p>
            <a:endParaRPr lang="en-US" altLang="ja-JP" dirty="0"/>
          </a:p>
          <a:p>
            <a:r>
              <a:rPr lang="en-US" altLang="ja-JP" dirty="0"/>
              <a:t>So What: using v equals v-zero plus </a:t>
            </a:r>
            <a:r>
              <a:rPr lang="en-US" altLang="ja-JP" dirty="0" err="1"/>
              <a:t>ei</a:t>
            </a:r>
            <a:r>
              <a:rPr lang="en-US" altLang="ja-JP" dirty="0"/>
              <a:t> t when a depends on x is wrong. That formula assumes a is constant. The type identification step prevents this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Let’s solve an example: basic 1.</a:t>
            </a:r>
          </a:p>
          <a:p>
            <a:endParaRPr lang="en-US" altLang="ja-JP" dirty="0"/>
          </a:p>
          <a:p>
            <a:r>
              <a:rPr lang="en-US" altLang="ja-JP" dirty="0"/>
              <a:t>Given position x of t equals 3t squared plus 2t. Find velocity and acceleration. </a:t>
            </a:r>
          </a:p>
          <a:p>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328C2-FE13-5D14-70EB-0384E7574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E2B5-9AB1-FB49-E6D9-6049925E6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9E576-2739-7B95-A5EC-04E2600CC27B}"/>
              </a:ext>
            </a:extLst>
          </p:cNvPr>
          <p:cNvSpPr>
            <a:spLocks noGrp="1"/>
          </p:cNvSpPr>
          <p:nvPr>
            <p:ph type="body" idx="1"/>
          </p:nvPr>
        </p:nvSpPr>
        <p:spPr/>
        <p:txBody>
          <a:bodyPr/>
          <a:lstStyle/>
          <a:p>
            <a:r>
              <a:rPr lang="en-US" altLang="ja-JP" dirty="0"/>
              <a:t>Step 1: v equals dx/dt equals 6t plus 2. Step 2: a equals dv/dt equals 6. Constant. So What: at t equals 0, v is 2 m/s — not zero. The plus 2t term means the particle is already moving when we start watching. So What: a equals 6 is constant, so the standard formulas are valid for this problem.</a:t>
            </a:r>
          </a:p>
        </p:txBody>
      </p:sp>
      <p:sp>
        <p:nvSpPr>
          <p:cNvPr id="4" name="Slide Number Placeholder 3">
            <a:extLst>
              <a:ext uri="{FF2B5EF4-FFF2-40B4-BE49-F238E27FC236}">
                <a16:creationId xmlns:a16="http://schemas.microsoft.com/office/drawing/2014/main" id="{7C198774-246F-E26A-0553-1CF2021181D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613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Given constant acceleration a equals 4 m/s squared, initial conditions v-zero and x-zero. Derive v of t and x of t by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FE175-B0E9-2F14-8BBA-300ADE2DD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9B030-81F1-BBCB-7027-B32F87BE8B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BE0D-09CD-1AAC-C40D-D5B92962FD6C}"/>
              </a:ext>
            </a:extLst>
          </p:cNvPr>
          <p:cNvSpPr>
            <a:spLocks noGrp="1"/>
          </p:cNvSpPr>
          <p:nvPr>
            <p:ph type="body" idx="1"/>
          </p:nvPr>
        </p:nvSpPr>
        <p:spPr/>
        <p:txBody>
          <a:bodyPr/>
          <a:lstStyle/>
          <a:p>
            <a:r>
              <a:rPr lang="en-US" altLang="ja-JP" dirty="0"/>
              <a:t>Step 1: dv equals 4 dt. Integrate both sides. v equals 4t plus C. Apply v of 0 equals v-zero. Get v equals v-zero plus 4t. Step 2: dx equals v-zero plus 4t times dt. Integrate. x equals x-zero plus v-zero times t plus 2t squared. Step 3: Eliminate t. Get v squared equals v-zero squared plus 8 times x minus x-zero. So What: you just re-derived the three constant-acceleration formulas from scratch. You never need to memorize them again — just integrate.</a:t>
            </a:r>
            <a:endParaRPr lang="en-US" dirty="0"/>
          </a:p>
        </p:txBody>
      </p:sp>
      <p:sp>
        <p:nvSpPr>
          <p:cNvPr id="4" name="Slide Number Placeholder 3">
            <a:extLst>
              <a:ext uri="{FF2B5EF4-FFF2-40B4-BE49-F238E27FC236}">
                <a16:creationId xmlns:a16="http://schemas.microsoft.com/office/drawing/2014/main" id="{05687CAC-EE38-839E-2F33-32B1F93120F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18514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dirty="0">
                <a:solidFill>
                  <a:srgbClr val="46789B"/>
                </a:solidFill>
                <a:latin typeface="Helvetica Neue" pitchFamily="34" charset="0"/>
                <a:ea typeface="Helvetica Neue" pitchFamily="34" charset="-122"/>
                <a:cs typeface="Helvetica Neue" pitchFamily="34" charset="-120"/>
              </a:rPr>
              <a:t>Key takeaway.</a:t>
            </a:r>
            <a:endParaRPr lang="en-US" altLang="ja-JP" sz="1200" dirty="0"/>
          </a:p>
          <a:p>
            <a:pPr marL="0" indent="0" algn="l">
              <a:buNone/>
            </a:pPr>
            <a:r>
              <a:rPr lang="en-US" altLang="ja-JP" sz="1200" b="1" dirty="0">
                <a:solidFill>
                  <a:srgbClr val="464646"/>
                </a:solidFill>
                <a:latin typeface="Helvetica Neue" pitchFamily="34" charset="0"/>
                <a:ea typeface="Helvetica Neue" pitchFamily="34" charset="-122"/>
                <a:cs typeface="Helvetica Neue" pitchFamily="34" charset="-120"/>
              </a:rPr>
              <a:t>Check acceleration “a” first.</a:t>
            </a:r>
            <a:endParaRPr lang="en-US" altLang="ja-JP" sz="1200" dirty="0"/>
          </a:p>
          <a:p>
            <a:pPr marL="0" indent="0" algn="l">
              <a:buNone/>
            </a:pPr>
            <a:r>
              <a:rPr lang="en-US" altLang="ja-JP" sz="1200" b="1" dirty="0">
                <a:solidFill>
                  <a:srgbClr val="464646"/>
                </a:solidFill>
                <a:latin typeface="Helvetica Neue" pitchFamily="34" charset="0"/>
                <a:ea typeface="Helvetica Neue" pitchFamily="34" charset="-122"/>
                <a:cs typeface="Helvetica Neue" pitchFamily="34" charset="-120"/>
              </a:rPr>
              <a:t>If it varies, differentiate.</a:t>
            </a:r>
            <a:endParaRPr lang="en-US" altLang="ja-JP" sz="1200" dirty="0"/>
          </a:p>
          <a:p>
            <a:pPr marL="0" indent="0" algn="l">
              <a:buNone/>
            </a:pPr>
            <a:r>
              <a:rPr lang="en-US" altLang="ja-JP" sz="1200" b="1" dirty="0">
                <a:solidFill>
                  <a:srgbClr val="464646"/>
                </a:solidFill>
                <a:latin typeface="Helvetica Neue" pitchFamily="34" charset="0"/>
                <a:ea typeface="Helvetica Neue" pitchFamily="34" charset="-122"/>
                <a:cs typeface="Helvetica Neue" pitchFamily="34" charset="-120"/>
              </a:rPr>
              <a:t>If constant, formulas OK but </a:t>
            </a:r>
            <a:r>
              <a:rPr lang="en-US" altLang="ja-JP" dirty="0"/>
              <a:t>You don’t need to memorize them.  just integrate.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1.png"/><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 | Chapter 11</a:t>
            </a:r>
            <a:endParaRPr lang="en-US" sz="1400" dirty="0"/>
          </a:p>
        </p:txBody>
      </p:sp>
      <p:sp>
        <p:nvSpPr>
          <p:cNvPr id="4" name="Text 2"/>
          <p:cNvSpPr/>
          <p:nvPr/>
        </p:nvSpPr>
        <p:spPr>
          <a:xfrm>
            <a:off x="640080" y="3154680"/>
            <a:ext cx="8229600" cy="548640"/>
          </a:xfrm>
          <a:prstGeom prst="rect">
            <a:avLst/>
          </a:prstGeom>
          <a:noFill/>
          <a:ln/>
        </p:spPr>
        <p:txBody>
          <a:bodyPr wrap="square" rtlCol="0" anchor="ctr"/>
          <a:lstStyle/>
          <a:p>
            <a:pPr marL="0" indent="0">
              <a:buNone/>
            </a:pPr>
            <a:r>
              <a:rPr lang="en-US" sz="4200" b="1" dirty="0">
                <a:solidFill>
                  <a:srgbClr val="46789B"/>
                </a:solidFill>
                <a:latin typeface="Helvetica Neue" pitchFamily="34" charset="0"/>
                <a:ea typeface="Helvetica Neue" pitchFamily="34" charset="-122"/>
                <a:cs typeface="Helvetica Neue" pitchFamily="34" charset="-120"/>
              </a:rPr>
              <a:t>Kinematics of a Particle</a:t>
            </a:r>
            <a:endParaRPr lang="en-US" sz="4200" dirty="0"/>
          </a:p>
        </p:txBody>
      </p:sp>
      <p:sp>
        <p:nvSpPr>
          <p:cNvPr id="5" name="Text 3"/>
          <p:cNvSpPr/>
          <p:nvPr/>
        </p:nvSpPr>
        <p:spPr>
          <a:xfrm>
            <a:off x="1340069" y="3886201"/>
            <a:ext cx="9144000" cy="1371600"/>
          </a:xfrm>
          <a:prstGeom prst="rect">
            <a:avLst/>
          </a:prstGeom>
          <a:noFill/>
          <a:ln/>
        </p:spPr>
        <p:txBody>
          <a:bodyPr wrap="square" rtlCol="0" anchor="ctr"/>
          <a:lstStyle/>
          <a:p>
            <a:pPr marL="0" indent="0" algn="ctr">
              <a:buNone/>
            </a:pPr>
            <a:r>
              <a:rPr lang="en-US" sz="2400" b="1" dirty="0">
                <a:solidFill>
                  <a:srgbClr val="B9BA99"/>
                </a:solidFill>
                <a:latin typeface="Helvetica Neue" pitchFamily="34" charset="0"/>
                <a:ea typeface="Helvetica Neue" pitchFamily="34" charset="-122"/>
                <a:cs typeface="Helvetica Neue" pitchFamily="34" charset="-120"/>
              </a:rPr>
              <a:t>Position · Velocity · Acceleration</a:t>
            </a:r>
            <a:endParaRPr lang="en-US" sz="2400" dirty="0">
              <a:solidFill>
                <a:srgbClr val="B9BA99"/>
              </a:solidFill>
            </a:endParaRPr>
          </a:p>
        </p:txBody>
      </p:sp>
      <p:pic>
        <p:nvPicPr>
          <p:cNvPr id="6" name="Class Voice (12)">
            <a:hlinkClick r:id="" action="ppaction://media"/>
            <a:extLst>
              <a:ext uri="{FF2B5EF4-FFF2-40B4-BE49-F238E27FC236}">
                <a16:creationId xmlns:a16="http://schemas.microsoft.com/office/drawing/2014/main" id="{C2026D3B-E019-B0E0-459D-05EAC2B1091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412875" y="18288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26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a:t>
            </a:r>
            <a:endParaRPr lang="en-US" sz="1400" dirty="0"/>
          </a:p>
        </p:txBody>
      </p:sp>
      <p:sp>
        <p:nvSpPr>
          <p:cNvPr id="4" name="Text 2"/>
          <p:cNvSpPr/>
          <p:nvPr/>
        </p:nvSpPr>
        <p:spPr>
          <a:xfrm>
            <a:off x="640079" y="548640"/>
            <a:ext cx="10265485"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KEY POINTS: The calculus chain of motion</a:t>
            </a:r>
            <a:endParaRPr lang="en-US" sz="3600" dirty="0"/>
          </a:p>
        </p:txBody>
      </p:sp>
      <p:sp>
        <p:nvSpPr>
          <p:cNvPr id="6" name="Text 3">
            <a:extLst>
              <a:ext uri="{FF2B5EF4-FFF2-40B4-BE49-F238E27FC236}">
                <a16:creationId xmlns:a16="http://schemas.microsoft.com/office/drawing/2014/main" id="{93DD76BB-B119-C8AD-0C09-E0E7E7993E4F}"/>
              </a:ext>
            </a:extLst>
          </p:cNvPr>
          <p:cNvSpPr/>
          <p:nvPr/>
        </p:nvSpPr>
        <p:spPr>
          <a:xfrm>
            <a:off x="1049983" y="1188720"/>
            <a:ext cx="9144000" cy="1371600"/>
          </a:xfrm>
          <a:prstGeom prst="rect">
            <a:avLst/>
          </a:prstGeom>
          <a:noFill/>
          <a:ln/>
        </p:spPr>
        <p:txBody>
          <a:bodyPr wrap="square" rtlCol="0" anchor="ctr"/>
          <a:lstStyle/>
          <a:p>
            <a:pPr marL="0" indent="0" algn="ctr">
              <a:buNone/>
            </a:pPr>
            <a:r>
              <a:rPr lang="en-US" sz="3600" b="1" dirty="0">
                <a:solidFill>
                  <a:srgbClr val="464646"/>
                </a:solidFill>
                <a:latin typeface="Helvetica Neue" pitchFamily="34" charset="0"/>
                <a:ea typeface="Helvetica Neue" pitchFamily="34" charset="-122"/>
                <a:cs typeface="Helvetica Neue" pitchFamily="34" charset="-120"/>
              </a:rPr>
              <a:t>Position · Velocity · Acceleration</a:t>
            </a:r>
            <a:endParaRPr lang="en-US" sz="3600" dirty="0"/>
          </a:p>
        </p:txBody>
      </p:sp>
      <p:sp>
        <p:nvSpPr>
          <p:cNvPr id="7" name="Text 3">
            <a:extLst>
              <a:ext uri="{FF2B5EF4-FFF2-40B4-BE49-F238E27FC236}">
                <a16:creationId xmlns:a16="http://schemas.microsoft.com/office/drawing/2014/main" id="{D84C939A-067F-15C5-2D3B-7866B6CE3324}"/>
              </a:ext>
            </a:extLst>
          </p:cNvPr>
          <p:cNvSpPr/>
          <p:nvPr/>
        </p:nvSpPr>
        <p:spPr>
          <a:xfrm>
            <a:off x="2721464" y="1836836"/>
            <a:ext cx="9144000" cy="1371600"/>
          </a:xfrm>
          <a:prstGeom prst="rect">
            <a:avLst/>
          </a:prstGeom>
          <a:noFill/>
          <a:ln/>
        </p:spPr>
        <p:txBody>
          <a:bodyPr wrap="square" rtlCol="0" anchor="ctr"/>
          <a:lstStyle/>
          <a:p>
            <a:pPr marL="0" indent="0">
              <a:buNone/>
            </a:pPr>
            <a:r>
              <a:rPr lang="en-US" sz="3600" dirty="0">
                <a:solidFill>
                  <a:srgbClr val="46789B"/>
                </a:solidFill>
                <a:latin typeface="Helvetica" pitchFamily="2" charset="0"/>
              </a:rPr>
              <a:t>x           v=dx/dt        a=dv/dt</a:t>
            </a:r>
          </a:p>
        </p:txBody>
      </p:sp>
      <p:pic>
        <p:nvPicPr>
          <p:cNvPr id="11" name="図 10">
            <a:extLst>
              <a:ext uri="{FF2B5EF4-FFF2-40B4-BE49-F238E27FC236}">
                <a16:creationId xmlns:a16="http://schemas.microsoft.com/office/drawing/2014/main" id="{C9AEC2A9-CDBA-3BA1-9E78-BAD79A3CD351}"/>
              </a:ext>
            </a:extLst>
          </p:cNvPr>
          <p:cNvPicPr>
            <a:picLocks noChangeAspect="1"/>
          </p:cNvPicPr>
          <p:nvPr/>
        </p:nvPicPr>
        <p:blipFill>
          <a:blip r:embed="rId5"/>
          <a:stretch>
            <a:fillRect/>
          </a:stretch>
        </p:blipFill>
        <p:spPr>
          <a:xfrm>
            <a:off x="1049983" y="3117185"/>
            <a:ext cx="4337033" cy="3261886"/>
          </a:xfrm>
          <a:prstGeom prst="rect">
            <a:avLst/>
          </a:prstGeom>
        </p:spPr>
      </p:pic>
      <p:cxnSp>
        <p:nvCxnSpPr>
          <p:cNvPr id="15" name="直線コネクタ 14">
            <a:extLst>
              <a:ext uri="{FF2B5EF4-FFF2-40B4-BE49-F238E27FC236}">
                <a16:creationId xmlns:a16="http://schemas.microsoft.com/office/drawing/2014/main" id="{84B03B3E-3C45-1F4A-6D94-7780BEFD7614}"/>
              </a:ext>
            </a:extLst>
          </p:cNvPr>
          <p:cNvCxnSpPr>
            <a:cxnSpLocks/>
          </p:cNvCxnSpPr>
          <p:nvPr/>
        </p:nvCxnSpPr>
        <p:spPr>
          <a:xfrm flipV="1">
            <a:off x="2482327" y="3299687"/>
            <a:ext cx="1815353" cy="168858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CAB807AF-38A3-758A-CFE1-836B46B04375}"/>
              </a:ext>
            </a:extLst>
          </p:cNvPr>
          <p:cNvSpPr txBox="1"/>
          <p:nvPr/>
        </p:nvSpPr>
        <p:spPr>
          <a:xfrm rot="16200000">
            <a:off x="362616" y="4563459"/>
            <a:ext cx="1005403" cy="369332"/>
          </a:xfrm>
          <a:prstGeom prst="rect">
            <a:avLst/>
          </a:prstGeom>
          <a:noFill/>
        </p:spPr>
        <p:txBody>
          <a:bodyPr wrap="none" rtlCol="0">
            <a:spAutoFit/>
          </a:bodyPr>
          <a:lstStyle/>
          <a:p>
            <a:r>
              <a:rPr kumimoji="1" lang="en-US" altLang="ja-JP" dirty="0">
                <a:latin typeface="Helvetica" pitchFamily="2" charset="0"/>
              </a:rPr>
              <a:t>Position</a:t>
            </a:r>
            <a:endParaRPr kumimoji="1" lang="ja-JP" altLang="en-US">
              <a:latin typeface="Helvetica" pitchFamily="2" charset="0"/>
            </a:endParaRPr>
          </a:p>
        </p:txBody>
      </p:sp>
      <p:sp>
        <p:nvSpPr>
          <p:cNvPr id="18" name="テキスト ボックス 17">
            <a:extLst>
              <a:ext uri="{FF2B5EF4-FFF2-40B4-BE49-F238E27FC236}">
                <a16:creationId xmlns:a16="http://schemas.microsoft.com/office/drawing/2014/main" id="{B0F72377-6128-9FE4-F6BA-DE224997C814}"/>
              </a:ext>
            </a:extLst>
          </p:cNvPr>
          <p:cNvSpPr txBox="1"/>
          <p:nvPr/>
        </p:nvSpPr>
        <p:spPr>
          <a:xfrm>
            <a:off x="3045421" y="6331037"/>
            <a:ext cx="689163" cy="369332"/>
          </a:xfrm>
          <a:prstGeom prst="rect">
            <a:avLst/>
          </a:prstGeom>
          <a:noFill/>
        </p:spPr>
        <p:txBody>
          <a:bodyPr wrap="none" rtlCol="0">
            <a:spAutoFit/>
          </a:bodyPr>
          <a:lstStyle/>
          <a:p>
            <a:r>
              <a:rPr kumimoji="1" lang="en-US" altLang="ja-JP" dirty="0">
                <a:latin typeface="Helvetica" pitchFamily="2" charset="0"/>
              </a:rPr>
              <a:t>Time</a:t>
            </a:r>
            <a:endParaRPr kumimoji="1" lang="ja-JP" altLang="en-US">
              <a:latin typeface="Helvetica" pitchFamily="2" charset="0"/>
            </a:endParaRPr>
          </a:p>
        </p:txBody>
      </p:sp>
      <p:sp>
        <p:nvSpPr>
          <p:cNvPr id="19" name="テキスト ボックス 18">
            <a:extLst>
              <a:ext uri="{FF2B5EF4-FFF2-40B4-BE49-F238E27FC236}">
                <a16:creationId xmlns:a16="http://schemas.microsoft.com/office/drawing/2014/main" id="{31DDEAA5-69A6-D40D-E4A4-9E24BE0E6BF5}"/>
              </a:ext>
            </a:extLst>
          </p:cNvPr>
          <p:cNvSpPr txBox="1"/>
          <p:nvPr/>
        </p:nvSpPr>
        <p:spPr>
          <a:xfrm>
            <a:off x="2231490" y="3963454"/>
            <a:ext cx="979948" cy="646331"/>
          </a:xfrm>
          <a:prstGeom prst="rect">
            <a:avLst/>
          </a:prstGeom>
          <a:noFill/>
        </p:spPr>
        <p:txBody>
          <a:bodyPr wrap="none" rtlCol="0">
            <a:spAutoFit/>
          </a:bodyPr>
          <a:lstStyle/>
          <a:p>
            <a:r>
              <a:rPr kumimoji="1" lang="en-US" altLang="ja-JP" dirty="0">
                <a:solidFill>
                  <a:schemeClr val="bg1"/>
                </a:solidFill>
                <a:latin typeface="Helvetica" pitchFamily="2" charset="0"/>
              </a:rPr>
              <a:t>Velocity</a:t>
            </a:r>
          </a:p>
          <a:p>
            <a:pPr algn="ctr"/>
            <a:r>
              <a:rPr kumimoji="1" lang="en-US" altLang="ja-JP" dirty="0">
                <a:solidFill>
                  <a:schemeClr val="bg1"/>
                </a:solidFill>
                <a:latin typeface="Helvetica" pitchFamily="2" charset="0"/>
              </a:rPr>
              <a:t>v</a:t>
            </a:r>
            <a:endParaRPr kumimoji="1" lang="ja-JP" altLang="en-US">
              <a:solidFill>
                <a:schemeClr val="bg1"/>
              </a:solidFill>
              <a:latin typeface="Helvetica" pitchFamily="2" charset="0"/>
            </a:endParaRPr>
          </a:p>
        </p:txBody>
      </p:sp>
      <p:sp>
        <p:nvSpPr>
          <p:cNvPr id="20" name="テキスト ボックス 19">
            <a:extLst>
              <a:ext uri="{FF2B5EF4-FFF2-40B4-BE49-F238E27FC236}">
                <a16:creationId xmlns:a16="http://schemas.microsoft.com/office/drawing/2014/main" id="{489B348A-E6C2-240E-7C6F-8385E42A1080}"/>
              </a:ext>
            </a:extLst>
          </p:cNvPr>
          <p:cNvSpPr txBox="1"/>
          <p:nvPr/>
        </p:nvSpPr>
        <p:spPr>
          <a:xfrm>
            <a:off x="8026639" y="4285764"/>
            <a:ext cx="1454244" cy="369332"/>
          </a:xfrm>
          <a:prstGeom prst="rect">
            <a:avLst/>
          </a:prstGeom>
          <a:noFill/>
        </p:spPr>
        <p:txBody>
          <a:bodyPr wrap="none" rtlCol="0">
            <a:spAutoFit/>
          </a:bodyPr>
          <a:lstStyle/>
          <a:p>
            <a:r>
              <a:rPr kumimoji="1" lang="en-US" altLang="ja-JP" dirty="0">
                <a:solidFill>
                  <a:schemeClr val="bg1"/>
                </a:solidFill>
                <a:latin typeface="Helvetica" pitchFamily="2" charset="0"/>
              </a:rPr>
              <a:t>Acceleration</a:t>
            </a:r>
            <a:endParaRPr kumimoji="1" lang="ja-JP" altLang="en-US">
              <a:solidFill>
                <a:schemeClr val="bg1"/>
              </a:solidFill>
              <a:latin typeface="Helvetica" pitchFamily="2" charset="0"/>
            </a:endParaRPr>
          </a:p>
        </p:txBody>
      </p:sp>
      <p:cxnSp>
        <p:nvCxnSpPr>
          <p:cNvPr id="21" name="直線コネクタ 20">
            <a:extLst>
              <a:ext uri="{FF2B5EF4-FFF2-40B4-BE49-F238E27FC236}">
                <a16:creationId xmlns:a16="http://schemas.microsoft.com/office/drawing/2014/main" id="{B79CA74F-C502-23C2-305E-FD7D958F4157}"/>
              </a:ext>
            </a:extLst>
          </p:cNvPr>
          <p:cNvCxnSpPr>
            <a:cxnSpLocks/>
          </p:cNvCxnSpPr>
          <p:nvPr/>
        </p:nvCxnSpPr>
        <p:spPr>
          <a:xfrm>
            <a:off x="7449671" y="4695437"/>
            <a:ext cx="2744312" cy="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7" name="図 26">
            <a:extLst>
              <a:ext uri="{FF2B5EF4-FFF2-40B4-BE49-F238E27FC236}">
                <a16:creationId xmlns:a16="http://schemas.microsoft.com/office/drawing/2014/main" id="{AFAA8A14-8F3C-E664-B93F-5FC11255EDA1}"/>
              </a:ext>
            </a:extLst>
          </p:cNvPr>
          <p:cNvPicPr>
            <a:picLocks noChangeAspect="1"/>
          </p:cNvPicPr>
          <p:nvPr/>
        </p:nvPicPr>
        <p:blipFill>
          <a:blip r:embed="rId6"/>
          <a:stretch>
            <a:fillRect/>
          </a:stretch>
        </p:blipFill>
        <p:spPr>
          <a:xfrm>
            <a:off x="6350817" y="3117185"/>
            <a:ext cx="4464590" cy="3275253"/>
          </a:xfrm>
          <a:prstGeom prst="rect">
            <a:avLst/>
          </a:prstGeom>
        </p:spPr>
      </p:pic>
      <p:sp>
        <p:nvSpPr>
          <p:cNvPr id="28" name="テキスト ボックス 27">
            <a:extLst>
              <a:ext uri="{FF2B5EF4-FFF2-40B4-BE49-F238E27FC236}">
                <a16:creationId xmlns:a16="http://schemas.microsoft.com/office/drawing/2014/main" id="{3216AB75-893A-0D72-86C7-3BB1BBFFBAE4}"/>
              </a:ext>
            </a:extLst>
          </p:cNvPr>
          <p:cNvSpPr txBox="1"/>
          <p:nvPr/>
        </p:nvSpPr>
        <p:spPr>
          <a:xfrm rot="16200000">
            <a:off x="5703433" y="4470430"/>
            <a:ext cx="979948" cy="369332"/>
          </a:xfrm>
          <a:prstGeom prst="rect">
            <a:avLst/>
          </a:prstGeom>
          <a:noFill/>
        </p:spPr>
        <p:txBody>
          <a:bodyPr wrap="none" rtlCol="0">
            <a:spAutoFit/>
          </a:bodyPr>
          <a:lstStyle/>
          <a:p>
            <a:r>
              <a:rPr kumimoji="1" lang="en-US" altLang="ja-JP" dirty="0">
                <a:latin typeface="Helvetica" pitchFamily="2" charset="0"/>
              </a:rPr>
              <a:t>Velocity</a:t>
            </a:r>
            <a:endParaRPr kumimoji="1" lang="ja-JP" altLang="en-US">
              <a:latin typeface="Helvetica" pitchFamily="2" charset="0"/>
            </a:endParaRPr>
          </a:p>
        </p:txBody>
      </p:sp>
      <p:sp>
        <p:nvSpPr>
          <p:cNvPr id="29" name="テキスト ボックス 28">
            <a:extLst>
              <a:ext uri="{FF2B5EF4-FFF2-40B4-BE49-F238E27FC236}">
                <a16:creationId xmlns:a16="http://schemas.microsoft.com/office/drawing/2014/main" id="{6F5E99B8-C73F-5539-69E0-500E40D73297}"/>
              </a:ext>
            </a:extLst>
          </p:cNvPr>
          <p:cNvSpPr txBox="1"/>
          <p:nvPr/>
        </p:nvSpPr>
        <p:spPr>
          <a:xfrm>
            <a:off x="8238530" y="6331037"/>
            <a:ext cx="689163" cy="369332"/>
          </a:xfrm>
          <a:prstGeom prst="rect">
            <a:avLst/>
          </a:prstGeom>
          <a:noFill/>
        </p:spPr>
        <p:txBody>
          <a:bodyPr wrap="none" rtlCol="0">
            <a:spAutoFit/>
          </a:bodyPr>
          <a:lstStyle/>
          <a:p>
            <a:r>
              <a:rPr kumimoji="1" lang="en-US" altLang="ja-JP" dirty="0">
                <a:latin typeface="Helvetica" pitchFamily="2" charset="0"/>
              </a:rPr>
              <a:t>Time</a:t>
            </a:r>
            <a:endParaRPr kumimoji="1" lang="ja-JP" altLang="en-US">
              <a:latin typeface="Helvetica" pitchFamily="2" charset="0"/>
            </a:endParaRPr>
          </a:p>
        </p:txBody>
      </p:sp>
      <p:cxnSp>
        <p:nvCxnSpPr>
          <p:cNvPr id="30" name="直線コネクタ 29">
            <a:extLst>
              <a:ext uri="{FF2B5EF4-FFF2-40B4-BE49-F238E27FC236}">
                <a16:creationId xmlns:a16="http://schemas.microsoft.com/office/drawing/2014/main" id="{135316A1-1476-D7EB-B6C4-9396FFCBD29F}"/>
              </a:ext>
            </a:extLst>
          </p:cNvPr>
          <p:cNvCxnSpPr>
            <a:cxnSpLocks/>
          </p:cNvCxnSpPr>
          <p:nvPr/>
        </p:nvCxnSpPr>
        <p:spPr>
          <a:xfrm flipH="1" flipV="1">
            <a:off x="8994306" y="3429000"/>
            <a:ext cx="1131849" cy="1266437"/>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AB802B55-706D-BACA-69B6-B934D1991D5E}"/>
              </a:ext>
            </a:extLst>
          </p:cNvPr>
          <p:cNvSpPr txBox="1"/>
          <p:nvPr/>
        </p:nvSpPr>
        <p:spPr>
          <a:xfrm>
            <a:off x="9361163" y="3449420"/>
            <a:ext cx="1454244" cy="646331"/>
          </a:xfrm>
          <a:prstGeom prst="rect">
            <a:avLst/>
          </a:prstGeom>
          <a:noFill/>
        </p:spPr>
        <p:txBody>
          <a:bodyPr wrap="none" rtlCol="0">
            <a:spAutoFit/>
          </a:bodyPr>
          <a:lstStyle/>
          <a:p>
            <a:r>
              <a:rPr kumimoji="1" lang="en-US" altLang="ja-JP" dirty="0">
                <a:solidFill>
                  <a:schemeClr val="bg1"/>
                </a:solidFill>
                <a:latin typeface="Helvetica" pitchFamily="2" charset="0"/>
              </a:rPr>
              <a:t>Acceleration</a:t>
            </a:r>
          </a:p>
          <a:p>
            <a:pPr algn="ctr"/>
            <a:r>
              <a:rPr kumimoji="1" lang="en-US" altLang="ja-JP" dirty="0">
                <a:solidFill>
                  <a:schemeClr val="bg1"/>
                </a:solidFill>
                <a:latin typeface="Helvetica" pitchFamily="2" charset="0"/>
              </a:rPr>
              <a:t>a</a:t>
            </a:r>
            <a:endParaRPr kumimoji="1" lang="ja-JP" altLang="en-US">
              <a:solidFill>
                <a:schemeClr val="bg1"/>
              </a:solidFill>
              <a:latin typeface="Helvetica" pitchFamily="2" charset="0"/>
            </a:endParaRPr>
          </a:p>
        </p:txBody>
      </p:sp>
      <p:sp>
        <p:nvSpPr>
          <p:cNvPr id="35" name="フリーフォーム 34">
            <a:extLst>
              <a:ext uri="{FF2B5EF4-FFF2-40B4-BE49-F238E27FC236}">
                <a16:creationId xmlns:a16="http://schemas.microsoft.com/office/drawing/2014/main" id="{3964D6D3-7C6F-B264-FBBC-03FF08243189}"/>
              </a:ext>
            </a:extLst>
          </p:cNvPr>
          <p:cNvSpPr/>
          <p:nvPr/>
        </p:nvSpPr>
        <p:spPr>
          <a:xfrm>
            <a:off x="7776067" y="3317261"/>
            <a:ext cx="588004" cy="1747389"/>
          </a:xfrm>
          <a:custGeom>
            <a:avLst/>
            <a:gdLst>
              <a:gd name="csX0" fmla="*/ 0 w 645459"/>
              <a:gd name="csY0" fmla="*/ 121023 h 1707776"/>
              <a:gd name="csX1" fmla="*/ 53788 w 645459"/>
              <a:gd name="csY1" fmla="*/ 1707776 h 1707776"/>
              <a:gd name="csX2" fmla="*/ 645459 w 645459"/>
              <a:gd name="csY2" fmla="*/ 1694329 h 1707776"/>
              <a:gd name="csX3" fmla="*/ 605117 w 645459"/>
              <a:gd name="csY3" fmla="*/ 0 h 1707776"/>
              <a:gd name="csX4" fmla="*/ 0 w 645459"/>
              <a:gd name="csY4" fmla="*/ 121023 h 1707776"/>
              <a:gd name="csX0" fmla="*/ 0 w 645459"/>
              <a:gd name="csY0" fmla="*/ 161365 h 1748118"/>
              <a:gd name="csX1" fmla="*/ 53788 w 645459"/>
              <a:gd name="csY1" fmla="*/ 1748118 h 1748118"/>
              <a:gd name="csX2" fmla="*/ 645459 w 645459"/>
              <a:gd name="csY2" fmla="*/ 1734671 h 1748118"/>
              <a:gd name="csX3" fmla="*/ 632012 w 645459"/>
              <a:gd name="csY3" fmla="*/ 0 h 1748118"/>
              <a:gd name="csX4" fmla="*/ 0 w 645459"/>
              <a:gd name="csY4" fmla="*/ 161365 h 1748118"/>
              <a:gd name="csX0" fmla="*/ 0 w 645459"/>
              <a:gd name="csY0" fmla="*/ 164882 h 1751635"/>
              <a:gd name="csX1" fmla="*/ 53788 w 645459"/>
              <a:gd name="csY1" fmla="*/ 1751635 h 1751635"/>
              <a:gd name="csX2" fmla="*/ 645459 w 645459"/>
              <a:gd name="csY2" fmla="*/ 1738188 h 1751635"/>
              <a:gd name="csX3" fmla="*/ 632012 w 645459"/>
              <a:gd name="csY3" fmla="*/ 3517 h 1751635"/>
              <a:gd name="csX4" fmla="*/ 0 w 645459"/>
              <a:gd name="csY4" fmla="*/ 164882 h 1751635"/>
              <a:gd name="csX0" fmla="*/ 0 w 632012"/>
              <a:gd name="csY0" fmla="*/ 164882 h 1751635"/>
              <a:gd name="csX1" fmla="*/ 53788 w 632012"/>
              <a:gd name="csY1" fmla="*/ 1751635 h 1751635"/>
              <a:gd name="csX2" fmla="*/ 606340 w 632012"/>
              <a:gd name="csY2" fmla="*/ 1743077 h 1751635"/>
              <a:gd name="csX3" fmla="*/ 632012 w 632012"/>
              <a:gd name="csY3" fmla="*/ 3517 h 1751635"/>
              <a:gd name="csX4" fmla="*/ 0 w 632012"/>
              <a:gd name="csY4" fmla="*/ 164882 h 1751635"/>
              <a:gd name="csX0" fmla="*/ 0 w 632012"/>
              <a:gd name="csY0" fmla="*/ 164882 h 1746745"/>
              <a:gd name="csX1" fmla="*/ 44008 w 632012"/>
              <a:gd name="csY1" fmla="*/ 1746745 h 1746745"/>
              <a:gd name="csX2" fmla="*/ 606340 w 632012"/>
              <a:gd name="csY2" fmla="*/ 1743077 h 1746745"/>
              <a:gd name="csX3" fmla="*/ 632012 w 632012"/>
              <a:gd name="csY3" fmla="*/ 3517 h 1746745"/>
              <a:gd name="csX4" fmla="*/ 0 w 632012"/>
              <a:gd name="csY4" fmla="*/ 164882 h 1746745"/>
              <a:gd name="csX0" fmla="*/ 1 w 588004"/>
              <a:gd name="csY0" fmla="*/ 145824 h 1747247"/>
              <a:gd name="csX1" fmla="*/ 0 w 588004"/>
              <a:gd name="csY1" fmla="*/ 1747247 h 1747247"/>
              <a:gd name="csX2" fmla="*/ 562332 w 588004"/>
              <a:gd name="csY2" fmla="*/ 1743579 h 1747247"/>
              <a:gd name="csX3" fmla="*/ 588004 w 588004"/>
              <a:gd name="csY3" fmla="*/ 4019 h 1747247"/>
              <a:gd name="csX4" fmla="*/ 1 w 588004"/>
              <a:gd name="csY4" fmla="*/ 145824 h 1747247"/>
              <a:gd name="csX0" fmla="*/ 1 w 588004"/>
              <a:gd name="csY0" fmla="*/ 145966 h 1747389"/>
              <a:gd name="csX1" fmla="*/ 0 w 588004"/>
              <a:gd name="csY1" fmla="*/ 1747389 h 1747389"/>
              <a:gd name="csX2" fmla="*/ 562332 w 588004"/>
              <a:gd name="csY2" fmla="*/ 1743721 h 1747389"/>
              <a:gd name="csX3" fmla="*/ 588004 w 588004"/>
              <a:gd name="csY3" fmla="*/ 4161 h 1747389"/>
              <a:gd name="csX4" fmla="*/ 1 w 588004"/>
              <a:gd name="csY4" fmla="*/ 145966 h 1747389"/>
            </a:gdLst>
            <a:ahLst/>
            <a:cxnLst>
              <a:cxn ang="0">
                <a:pos x="csX0" y="csY0"/>
              </a:cxn>
              <a:cxn ang="0">
                <a:pos x="csX1" y="csY1"/>
              </a:cxn>
              <a:cxn ang="0">
                <a:pos x="csX2" y="csY2"/>
              </a:cxn>
              <a:cxn ang="0">
                <a:pos x="csX3" y="csY3"/>
              </a:cxn>
              <a:cxn ang="0">
                <a:pos x="csX4" y="csY4"/>
              </a:cxn>
            </a:cxnLst>
            <a:rect l="l" t="t" r="r" b="b"/>
            <a:pathLst>
              <a:path w="588004" h="1747389">
                <a:moveTo>
                  <a:pt x="1" y="145966"/>
                </a:moveTo>
                <a:cubicBezTo>
                  <a:pt x="1" y="679774"/>
                  <a:pt x="0" y="1213581"/>
                  <a:pt x="0" y="1747389"/>
                </a:cubicBezTo>
                <a:lnTo>
                  <a:pt x="562332" y="1743721"/>
                </a:lnTo>
                <a:lnTo>
                  <a:pt x="588004" y="4161"/>
                </a:lnTo>
                <a:cubicBezTo>
                  <a:pt x="336992" y="-22734"/>
                  <a:pt x="122655" y="87288"/>
                  <a:pt x="1" y="145966"/>
                </a:cubicBezTo>
                <a:close/>
              </a:path>
            </a:pathLst>
          </a:custGeom>
          <a:solidFill>
            <a:srgbClr val="FFFFFF">
              <a:alpha val="5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992DAB3A-EED9-7E3D-8451-18FDDC5E5513}"/>
              </a:ext>
            </a:extLst>
          </p:cNvPr>
          <p:cNvSpPr txBox="1"/>
          <p:nvPr/>
        </p:nvSpPr>
        <p:spPr>
          <a:xfrm>
            <a:off x="7239343" y="4249119"/>
            <a:ext cx="1582484" cy="646331"/>
          </a:xfrm>
          <a:prstGeom prst="rect">
            <a:avLst/>
          </a:prstGeom>
          <a:noFill/>
        </p:spPr>
        <p:txBody>
          <a:bodyPr wrap="none" rtlCol="0">
            <a:spAutoFit/>
          </a:bodyPr>
          <a:lstStyle/>
          <a:p>
            <a:r>
              <a:rPr kumimoji="1" lang="en-US" altLang="ja-JP" dirty="0">
                <a:solidFill>
                  <a:schemeClr val="bg1"/>
                </a:solidFill>
                <a:latin typeface="Helvetica" pitchFamily="2" charset="0"/>
              </a:rPr>
              <a:t>Displacement</a:t>
            </a:r>
          </a:p>
          <a:p>
            <a:pPr algn="ctr"/>
            <a:r>
              <a:rPr kumimoji="1" lang="el-GR" altLang="ja-JP" dirty="0">
                <a:solidFill>
                  <a:schemeClr val="bg1"/>
                </a:solidFill>
                <a:latin typeface="Helvetica" pitchFamily="2" charset="0"/>
              </a:rPr>
              <a:t>Δ</a:t>
            </a:r>
            <a:r>
              <a:rPr kumimoji="1" lang="en-US" altLang="ja-JP" dirty="0">
                <a:solidFill>
                  <a:schemeClr val="bg1"/>
                </a:solidFill>
                <a:latin typeface="Helvetica" pitchFamily="2" charset="0"/>
              </a:rPr>
              <a:t>x</a:t>
            </a:r>
            <a:endParaRPr kumimoji="1" lang="ja-JP" altLang="en-US">
              <a:solidFill>
                <a:schemeClr val="bg1"/>
              </a:solidFill>
              <a:latin typeface="Helvetica" pitchFamily="2" charset="0"/>
            </a:endParaRPr>
          </a:p>
        </p:txBody>
      </p:sp>
      <p:cxnSp>
        <p:nvCxnSpPr>
          <p:cNvPr id="37" name="直線コネクタ 36">
            <a:extLst>
              <a:ext uri="{FF2B5EF4-FFF2-40B4-BE49-F238E27FC236}">
                <a16:creationId xmlns:a16="http://schemas.microsoft.com/office/drawing/2014/main" id="{75B3808D-2BDC-96A2-7EEC-FC33909F9434}"/>
              </a:ext>
            </a:extLst>
          </p:cNvPr>
          <p:cNvCxnSpPr>
            <a:cxnSpLocks/>
          </p:cNvCxnSpPr>
          <p:nvPr/>
        </p:nvCxnSpPr>
        <p:spPr>
          <a:xfrm flipH="1">
            <a:off x="7037816" y="5064650"/>
            <a:ext cx="3656688" cy="0"/>
          </a:xfrm>
          <a:prstGeom prst="line">
            <a:avLst/>
          </a:prstGeom>
          <a:ln w="12700">
            <a:solidFill>
              <a:schemeClr val="bg1"/>
            </a:solidFill>
            <a:prstDash val="solid"/>
          </a:ln>
        </p:spPr>
        <p:style>
          <a:lnRef idx="1">
            <a:schemeClr val="accent1"/>
          </a:lnRef>
          <a:fillRef idx="0">
            <a:schemeClr val="accent1"/>
          </a:fillRef>
          <a:effectRef idx="0">
            <a:schemeClr val="accent1"/>
          </a:effectRef>
          <a:fontRef idx="minor">
            <a:schemeClr val="tx1"/>
          </a:fontRef>
        </p:style>
      </p:cxnSp>
      <p:pic>
        <p:nvPicPr>
          <p:cNvPr id="41" name="Class Voice (4)">
            <a:hlinkClick r:id="" action="ppaction://media"/>
            <a:extLst>
              <a:ext uri="{FF2B5EF4-FFF2-40B4-BE49-F238E27FC236}">
                <a16:creationId xmlns:a16="http://schemas.microsoft.com/office/drawing/2014/main" id="{031E87D8-047A-9AD1-773B-6499E5A0053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539240" y="-8636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116"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354ED-3824-F65F-1815-92D3BE87013D}"/>
            </a:ext>
          </a:extLst>
        </p:cNvPr>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7F9DD47B-448C-4F63-3EB7-801A342DBEFC}"/>
              </a:ext>
            </a:extLst>
          </p:cNvPr>
          <p:cNvSpPr/>
          <p:nvPr/>
        </p:nvSpPr>
        <p:spPr>
          <a:xfrm>
            <a:off x="6786982" y="4399722"/>
            <a:ext cx="4612302" cy="3631095"/>
          </a:xfrm>
          <a:prstGeom prst="rect">
            <a:avLst/>
          </a:prstGeom>
          <a:solidFill>
            <a:srgbClr val="467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Shape 0">
            <a:extLst>
              <a:ext uri="{FF2B5EF4-FFF2-40B4-BE49-F238E27FC236}">
                <a16:creationId xmlns:a16="http://schemas.microsoft.com/office/drawing/2014/main" id="{D90A7C61-0B3B-1B29-88E0-B1A1EB226852}"/>
              </a:ext>
            </a:extLst>
          </p:cNvPr>
          <p:cNvSpPr/>
          <p:nvPr/>
        </p:nvSpPr>
        <p:spPr>
          <a:xfrm>
            <a:off x="0" y="0"/>
            <a:ext cx="12192000" cy="457200"/>
          </a:xfrm>
          <a:prstGeom prst="rect">
            <a:avLst/>
          </a:prstGeom>
          <a:solidFill>
            <a:srgbClr val="DFDFB6"/>
          </a:solidFill>
          <a:ln/>
        </p:spPr>
        <p:txBody>
          <a:bodyPr/>
          <a:lstStyle/>
          <a:p>
            <a:endParaRPr lang="ja-JP" altLang="en-US"/>
          </a:p>
        </p:txBody>
      </p:sp>
      <p:sp>
        <p:nvSpPr>
          <p:cNvPr id="3" name="Text 1">
            <a:extLst>
              <a:ext uri="{FF2B5EF4-FFF2-40B4-BE49-F238E27FC236}">
                <a16:creationId xmlns:a16="http://schemas.microsoft.com/office/drawing/2014/main" id="{9BD78430-0849-B415-467B-2A0D1C965E50}"/>
              </a:ext>
            </a:extLst>
          </p:cNvPr>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a:t>
            </a:r>
            <a:endParaRPr lang="en-US" sz="1400" dirty="0"/>
          </a:p>
        </p:txBody>
      </p:sp>
      <mc:AlternateContent xmlns:mc="http://schemas.openxmlformats.org/markup-compatibility/2006" xmlns:a14="http://schemas.microsoft.com/office/drawing/2010/main">
        <mc:Choice Requires="a14">
          <p:sp>
            <p:nvSpPr>
              <p:cNvPr id="5" name="Text 3">
                <a:extLst>
                  <a:ext uri="{FF2B5EF4-FFF2-40B4-BE49-F238E27FC236}">
                    <a16:creationId xmlns:a16="http://schemas.microsoft.com/office/drawing/2014/main" id="{97532A48-AC55-FDC9-9BFD-9D189E725A45}"/>
                  </a:ext>
                </a:extLst>
              </p:cNvPr>
              <p:cNvSpPr/>
              <p:nvPr/>
            </p:nvSpPr>
            <p:spPr>
              <a:xfrm>
                <a:off x="1165401" y="1911151"/>
                <a:ext cx="9601200" cy="3657600"/>
              </a:xfrm>
              <a:prstGeom prst="rect">
                <a:avLst/>
              </a:prstGeom>
              <a:noFill/>
              <a:ln/>
            </p:spPr>
            <p:txBody>
              <a:bodyPr wrap="square" rtlCol="0" anchor="ctr"/>
              <a:lstStyle/>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Differentiate:      x       →           v          →           a </a:t>
                </a:r>
              </a:p>
              <a:p>
                <a:pPr>
                  <a:buSzPct val="100000"/>
                </a:pPr>
                <a:r>
                  <a:rPr lang="en-US" sz="2400" dirty="0">
                    <a:solidFill>
                      <a:srgbClr val="464646"/>
                    </a:solidFill>
                    <a:latin typeface="Helvetica Neue" pitchFamily="34" charset="0"/>
                    <a:ea typeface="Helvetica Neue" pitchFamily="34" charset="-122"/>
                    <a:cs typeface="Helvetica Neue" pitchFamily="34" charset="-120"/>
                  </a:rPr>
                  <a:t>                                                   </a:t>
                </a:r>
                <a:r>
                  <a:rPr lang="en-US" altLang="ja-JP" sz="2400" dirty="0">
                    <a:solidFill>
                      <a:srgbClr val="46789B"/>
                    </a:solidFill>
                    <a:latin typeface="Helvetica Neue" pitchFamily="34" charset="0"/>
                    <a:ea typeface="Helvetica Neue" pitchFamily="34" charset="-122"/>
                    <a:cs typeface="Helvetica Neue" pitchFamily="34" charset="-120"/>
                  </a:rPr>
                  <a:t>(=</a:t>
                </a:r>
                <a14:m>
                  <m:oMath xmlns:m="http://schemas.openxmlformats.org/officeDocument/2006/math">
                    <m:f>
                      <m:fPr>
                        <m:ctrlPr>
                          <a:rPr lang="en-US" altLang="ja-JP" sz="2400" b="0" i="1" smtClean="0">
                            <a:solidFill>
                              <a:srgbClr val="46789B"/>
                            </a:solidFill>
                            <a:latin typeface="Cambria Math" panose="02040503050406030204" pitchFamily="18" charset="0"/>
                            <a:ea typeface="Helvetica Neue" pitchFamily="34" charset="-122"/>
                            <a:cs typeface="Helvetica Neue" pitchFamily="34" charset="-120"/>
                          </a:rPr>
                        </m:ctrlPr>
                      </m:fPr>
                      <m:num>
                        <m:r>
                          <a:rPr lang="en-US" altLang="ja-JP" sz="2400" b="0" i="1" smtClean="0">
                            <a:solidFill>
                              <a:srgbClr val="46789B"/>
                            </a:solidFill>
                            <a:latin typeface="Cambria Math" panose="02040503050406030204" pitchFamily="18" charset="0"/>
                            <a:ea typeface="Helvetica Neue" pitchFamily="34" charset="-122"/>
                            <a:cs typeface="Helvetica Neue" pitchFamily="34" charset="-120"/>
                          </a:rPr>
                          <m:t>𝑑𝑥</m:t>
                        </m:r>
                      </m:num>
                      <m:den>
                        <m:r>
                          <a:rPr lang="en-US" altLang="ja-JP" sz="2400" b="0" i="1" smtClean="0">
                            <a:solidFill>
                              <a:srgbClr val="46789B"/>
                            </a:solidFill>
                            <a:latin typeface="Cambria Math" panose="02040503050406030204" pitchFamily="18" charset="0"/>
                            <a:ea typeface="Helvetica Neue" pitchFamily="34" charset="-122"/>
                            <a:cs typeface="Helvetica Neue" pitchFamily="34" charset="-120"/>
                          </a:rPr>
                          <m:t>𝑑𝑡</m:t>
                        </m:r>
                      </m:den>
                    </m:f>
                  </m:oMath>
                </a14:m>
                <a:r>
                  <a:rPr lang="en-US" altLang="ja-JP" sz="2400" dirty="0">
                    <a:solidFill>
                      <a:srgbClr val="46789B"/>
                    </a:solidFill>
                    <a:latin typeface="Helvetica Neue" pitchFamily="34" charset="0"/>
                    <a:ea typeface="Helvetica Neue" pitchFamily="34" charset="-122"/>
                    <a:cs typeface="Helvetica Neue" pitchFamily="34" charset="-120"/>
                  </a:rPr>
                  <a:t>)                   (=</a:t>
                </a:r>
                <a14:m>
                  <m:oMath xmlns:m="http://schemas.openxmlformats.org/officeDocument/2006/math">
                    <m:f>
                      <m:fPr>
                        <m:ctrlPr>
                          <a:rPr lang="en-US" altLang="ja-JP" sz="2400" i="1">
                            <a:solidFill>
                              <a:srgbClr val="46789B"/>
                            </a:solidFill>
                            <a:latin typeface="Cambria Math" panose="02040503050406030204" pitchFamily="18" charset="0"/>
                            <a:ea typeface="Helvetica Neue" pitchFamily="34" charset="-122"/>
                            <a:cs typeface="Helvetica Neue" pitchFamily="34" charset="-120"/>
                          </a:rPr>
                        </m:ctrlPr>
                      </m:fPr>
                      <m:num>
                        <m:r>
                          <a:rPr lang="en-US" altLang="ja-JP" sz="2400" i="1">
                            <a:solidFill>
                              <a:srgbClr val="46789B"/>
                            </a:solidFill>
                            <a:latin typeface="Cambria Math" panose="02040503050406030204" pitchFamily="18" charset="0"/>
                            <a:ea typeface="Helvetica Neue" pitchFamily="34" charset="-122"/>
                            <a:cs typeface="Helvetica Neue" pitchFamily="34" charset="-120"/>
                          </a:rPr>
                          <m:t>𝑑</m:t>
                        </m:r>
                        <m:r>
                          <a:rPr lang="en-US" altLang="ja-JP" sz="2400" b="0" i="1" smtClean="0">
                            <a:solidFill>
                              <a:srgbClr val="46789B"/>
                            </a:solidFill>
                            <a:latin typeface="Cambria Math" panose="02040503050406030204" pitchFamily="18" charset="0"/>
                            <a:ea typeface="Helvetica Neue" pitchFamily="34" charset="-122"/>
                            <a:cs typeface="Helvetica Neue" pitchFamily="34" charset="-120"/>
                          </a:rPr>
                          <m:t>𝑣</m:t>
                        </m:r>
                      </m:num>
                      <m:den>
                        <m:r>
                          <a:rPr lang="en-US" altLang="ja-JP" sz="2400" i="1">
                            <a:solidFill>
                              <a:srgbClr val="46789B"/>
                            </a:solidFill>
                            <a:latin typeface="Cambria Math" panose="02040503050406030204" pitchFamily="18" charset="0"/>
                            <a:ea typeface="Helvetica Neue" pitchFamily="34" charset="-122"/>
                            <a:cs typeface="Helvetica Neue" pitchFamily="34" charset="-120"/>
                          </a:rPr>
                          <m:t>𝑑𝑡</m:t>
                        </m:r>
                      </m:den>
                    </m:f>
                  </m:oMath>
                </a14:m>
                <a:r>
                  <a:rPr lang="en-US" altLang="ja-JP" sz="2400" dirty="0">
                    <a:solidFill>
                      <a:srgbClr val="46789B"/>
                    </a:solidFill>
                    <a:latin typeface="Helvetica Neue" pitchFamily="34" charset="0"/>
                    <a:ea typeface="Helvetica Neue" pitchFamily="34" charset="-122"/>
                    <a:cs typeface="Helvetica Neue" pitchFamily="34" charset="-120"/>
                  </a:rPr>
                  <a:t>)</a:t>
                </a:r>
                <a:endParaRPr lang="en-US" altLang="ja-JP" sz="2400" dirty="0"/>
              </a:p>
              <a:p>
                <a:pPr>
                  <a:buSzPct val="100000"/>
                </a:pPr>
                <a:endParaRPr lang="en-US" sz="2400" dirty="0"/>
              </a:p>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Integrate:           a       →           v          →            x</a:t>
                </a:r>
              </a:p>
              <a:p>
                <a:pPr>
                  <a:buSzPct val="100000"/>
                </a:pPr>
                <a:r>
                  <a:rPr lang="en-US" sz="2400" dirty="0">
                    <a:solidFill>
                      <a:srgbClr val="46789B"/>
                    </a:solidFill>
                    <a:latin typeface="Helvetica Neue" pitchFamily="34" charset="0"/>
                    <a:ea typeface="Helvetica Neue" pitchFamily="34" charset="-122"/>
                    <a:cs typeface="Helvetica Neue" pitchFamily="34" charset="-120"/>
                  </a:rPr>
                  <a:t>                                                 (=</a:t>
                </a:r>
                <a14:m>
                  <m:oMath xmlns:m="http://schemas.openxmlformats.org/officeDocument/2006/math">
                    <m:nary>
                      <m:naryPr>
                        <m:limLoc m:val="undOvr"/>
                        <m:subHide m:val="on"/>
                        <m:supHide m:val="on"/>
                        <m:ctrlPr>
                          <a:rPr lang="en-US" altLang="ja-JP" sz="2400" i="1" smtClean="0">
                            <a:solidFill>
                              <a:srgbClr val="46789B"/>
                            </a:solidFill>
                            <a:latin typeface="Cambria Math" panose="02040503050406030204" pitchFamily="18" charset="0"/>
                            <a:ea typeface="Helvetica Neue" pitchFamily="34" charset="-122"/>
                            <a:cs typeface="Helvetica Neue" pitchFamily="34" charset="-120"/>
                          </a:rPr>
                        </m:ctrlPr>
                      </m:naryPr>
                      <m:sub/>
                      <m:sup/>
                      <m:e>
                        <m:r>
                          <a:rPr lang="en-US" altLang="ja-JP" sz="2400" b="0" i="1" smtClean="0">
                            <a:solidFill>
                              <a:srgbClr val="46789B"/>
                            </a:solidFill>
                            <a:latin typeface="Cambria Math" panose="02040503050406030204" pitchFamily="18" charset="0"/>
                            <a:ea typeface="Helvetica Neue" pitchFamily="34" charset="-122"/>
                            <a:cs typeface="Helvetica Neue" pitchFamily="34" charset="-120"/>
                          </a:rPr>
                          <m:t>𝑎</m:t>
                        </m:r>
                      </m:e>
                    </m:nary>
                    <m:r>
                      <a:rPr lang="en-US" altLang="ja-JP" sz="2400" b="0" i="1" smtClean="0">
                        <a:solidFill>
                          <a:srgbClr val="46789B"/>
                        </a:solidFill>
                        <a:latin typeface="Cambria Math" panose="02040503050406030204" pitchFamily="18" charset="0"/>
                        <a:ea typeface="Helvetica Neue" pitchFamily="34" charset="-122"/>
                        <a:cs typeface="Helvetica Neue" pitchFamily="34" charset="-120"/>
                      </a:rPr>
                      <m:t>𝑑𝑡</m:t>
                    </m:r>
                  </m:oMath>
                </a14:m>
                <a:r>
                  <a:rPr lang="en-US" sz="2400" dirty="0">
                    <a:solidFill>
                      <a:srgbClr val="46789B"/>
                    </a:solidFill>
                    <a:latin typeface="Helvetica Neue" pitchFamily="34" charset="0"/>
                    <a:ea typeface="Helvetica Neue" pitchFamily="34" charset="-122"/>
                    <a:cs typeface="Helvetica Neue" pitchFamily="34" charset="-120"/>
                  </a:rPr>
                  <a:t>)               </a:t>
                </a:r>
                <a:r>
                  <a:rPr lang="en-US" altLang="ja-JP" sz="2400" dirty="0">
                    <a:solidFill>
                      <a:srgbClr val="46789B"/>
                    </a:solidFill>
                    <a:latin typeface="Helvetica Neue" pitchFamily="34" charset="0"/>
                    <a:ea typeface="Helvetica Neue" pitchFamily="34" charset="-122"/>
                    <a:cs typeface="Helvetica Neue" pitchFamily="34" charset="-120"/>
                  </a:rPr>
                  <a:t>(=</a:t>
                </a:r>
                <a14:m>
                  <m:oMath xmlns:m="http://schemas.openxmlformats.org/officeDocument/2006/math">
                    <m:nary>
                      <m:naryPr>
                        <m:limLoc m:val="undOvr"/>
                        <m:subHide m:val="on"/>
                        <m:supHide m:val="on"/>
                        <m:ctrlPr>
                          <a:rPr lang="en-US" altLang="ja-JP" sz="2400" i="1">
                            <a:solidFill>
                              <a:srgbClr val="46789B"/>
                            </a:solidFill>
                            <a:latin typeface="Cambria Math" panose="02040503050406030204" pitchFamily="18" charset="0"/>
                            <a:ea typeface="Helvetica Neue" pitchFamily="34" charset="-122"/>
                            <a:cs typeface="Helvetica Neue" pitchFamily="34" charset="-120"/>
                          </a:rPr>
                        </m:ctrlPr>
                      </m:naryPr>
                      <m:sub/>
                      <m:sup/>
                      <m:e>
                        <m:r>
                          <a:rPr lang="en-US" altLang="ja-JP" sz="2400" b="0" i="1" smtClean="0">
                            <a:solidFill>
                              <a:srgbClr val="46789B"/>
                            </a:solidFill>
                            <a:latin typeface="Cambria Math" panose="02040503050406030204" pitchFamily="18" charset="0"/>
                            <a:ea typeface="Helvetica Neue" pitchFamily="34" charset="-122"/>
                            <a:cs typeface="Helvetica Neue" pitchFamily="34" charset="-120"/>
                          </a:rPr>
                          <m:t>𝑣</m:t>
                        </m:r>
                      </m:e>
                    </m:nary>
                    <m:r>
                      <a:rPr lang="en-US" altLang="ja-JP" sz="2400" i="1">
                        <a:solidFill>
                          <a:srgbClr val="46789B"/>
                        </a:solidFill>
                        <a:latin typeface="Cambria Math" panose="02040503050406030204" pitchFamily="18" charset="0"/>
                        <a:ea typeface="Helvetica Neue" pitchFamily="34" charset="-122"/>
                        <a:cs typeface="Helvetica Neue" pitchFamily="34" charset="-120"/>
                      </a:rPr>
                      <m:t>𝑑𝑡</m:t>
                    </m:r>
                  </m:oMath>
                </a14:m>
                <a:r>
                  <a:rPr lang="en-US" altLang="ja-JP" sz="2400" dirty="0">
                    <a:solidFill>
                      <a:srgbClr val="46789B"/>
                    </a:solidFill>
                    <a:latin typeface="Helvetica Neue" pitchFamily="34" charset="0"/>
                    <a:ea typeface="Helvetica Neue" pitchFamily="34" charset="-122"/>
                    <a:cs typeface="Helvetica Neue" pitchFamily="34" charset="-120"/>
                  </a:rPr>
                  <a:t>)</a:t>
                </a:r>
                <a:endParaRPr lang="en-US" sz="2400" dirty="0">
                  <a:solidFill>
                    <a:srgbClr val="46789B"/>
                  </a:solidFill>
                  <a:latin typeface="Helvetica Neue" pitchFamily="34" charset="0"/>
                  <a:ea typeface="Helvetica Neue" pitchFamily="34" charset="-122"/>
                  <a:cs typeface="Helvetica Neue" pitchFamily="34" charset="-120"/>
                </a:endParaRPr>
              </a:p>
              <a:p>
                <a:pPr>
                  <a:buSzPct val="100000"/>
                </a:pPr>
                <a:endParaRPr lang="en-US" sz="2400" dirty="0"/>
              </a:p>
              <a:p>
                <a:pPr>
                  <a:buSzPct val="100000"/>
                </a:pPr>
                <a:endParaRPr lang="en-US" sz="2400" dirty="0"/>
              </a:p>
              <a:p>
                <a:pPr>
                  <a:buSzPct val="100000"/>
                </a:pPr>
                <a:endParaRPr lang="en-US" sz="2400" dirty="0"/>
              </a:p>
              <a:p>
                <a:pPr>
                  <a:buSzPct val="100000"/>
                </a:pPr>
                <a:endParaRPr lang="en-US" sz="2400" dirty="0"/>
              </a:p>
              <a:p>
                <a:pPr marL="342900" indent="-342900">
                  <a:buSzPct val="100000"/>
                  <a:buChar char="•"/>
                </a:pPr>
                <a:r>
                  <a:rPr lang="en-US" sz="2400" dirty="0">
                    <a:solidFill>
                      <a:srgbClr val="464646"/>
                    </a:solidFill>
                    <a:latin typeface="Helvetica Neue" pitchFamily="34" charset="0"/>
                    <a:ea typeface="Helvetica Neue" pitchFamily="34" charset="-122"/>
                    <a:cs typeface="Helvetica Neue" pitchFamily="34" charset="-120"/>
                  </a:rPr>
                  <a:t>⚠  v = 0   </a:t>
                </a:r>
                <a:r>
                  <a:rPr lang="el-GR" sz="2400" dirty="0">
                    <a:solidFill>
                      <a:srgbClr val="464646"/>
                    </a:solidFill>
                    <a:latin typeface="Helvetica Neue" pitchFamily="34" charset="0"/>
                    <a:ea typeface="Helvetica Neue" pitchFamily="34" charset="-122"/>
                    <a:cs typeface="Helvetica Neue" pitchFamily="34" charset="-120"/>
                  </a:rPr>
                  <a:t>≠</a:t>
                </a:r>
                <a:r>
                  <a:rPr lang="ja-JP" altLang="en-US" sz="2400">
                    <a:solidFill>
                      <a:srgbClr val="464646"/>
                    </a:solidFill>
                    <a:latin typeface="Helvetica Neue" pitchFamily="34" charset="0"/>
                    <a:ea typeface="Helvetica Neue" pitchFamily="34" charset="-122"/>
                    <a:cs typeface="Helvetica Neue" pitchFamily="34" charset="-120"/>
                  </a:rPr>
                  <a:t>　</a:t>
                </a:r>
                <a:r>
                  <a:rPr lang="en-US" sz="2400" dirty="0">
                    <a:solidFill>
                      <a:srgbClr val="464646"/>
                    </a:solidFill>
                    <a:latin typeface="Helvetica Neue" pitchFamily="34" charset="0"/>
                    <a:ea typeface="Helvetica Neue" pitchFamily="34" charset="-122"/>
                    <a:cs typeface="Helvetica Neue" pitchFamily="34" charset="-120"/>
                  </a:rPr>
                  <a:t> a = 0</a:t>
                </a:r>
                <a:endParaRPr lang="en-US" sz="2400" dirty="0"/>
              </a:p>
            </p:txBody>
          </p:sp>
        </mc:Choice>
        <mc:Fallback xmlns="">
          <p:sp>
            <p:nvSpPr>
              <p:cNvPr id="5" name="Text 3">
                <a:extLst>
                  <a:ext uri="{FF2B5EF4-FFF2-40B4-BE49-F238E27FC236}">
                    <a16:creationId xmlns:a16="http://schemas.microsoft.com/office/drawing/2014/main" id="{97532A48-AC55-FDC9-9BFD-9D189E725A45}"/>
                  </a:ext>
                </a:extLst>
              </p:cNvPr>
              <p:cNvSpPr>
                <a:spLocks noRot="1" noChangeAspect="1" noMove="1" noResize="1" noEditPoints="1" noAdjustHandles="1" noChangeArrowheads="1" noChangeShapeType="1" noTextEdit="1"/>
              </p:cNvSpPr>
              <p:nvPr/>
            </p:nvSpPr>
            <p:spPr>
              <a:xfrm>
                <a:off x="1165401" y="1911151"/>
                <a:ext cx="9601200" cy="3657600"/>
              </a:xfrm>
              <a:prstGeom prst="rect">
                <a:avLst/>
              </a:prstGeom>
              <a:blipFill>
                <a:blip r:embed="rId5"/>
                <a:stretch>
                  <a:fillRect l="-925" t="-5882" b="-8304"/>
                </a:stretch>
              </a:blipFill>
              <a:ln/>
            </p:spPr>
            <p:txBody>
              <a:bodyPr/>
              <a:lstStyle/>
              <a:p>
                <a:r>
                  <a:rPr lang="ja-JP" altLang="en-US">
                    <a:noFill/>
                  </a:rPr>
                  <a:t> </a:t>
                </a:r>
              </a:p>
            </p:txBody>
          </p:sp>
        </mc:Fallback>
      </mc:AlternateContent>
      <p:cxnSp>
        <p:nvCxnSpPr>
          <p:cNvPr id="6" name="直線コネクタ 5">
            <a:extLst>
              <a:ext uri="{FF2B5EF4-FFF2-40B4-BE49-F238E27FC236}">
                <a16:creationId xmlns:a16="http://schemas.microsoft.com/office/drawing/2014/main" id="{4A071F4F-FDD3-ACB0-4236-F37087CE7B36}"/>
              </a:ext>
            </a:extLst>
          </p:cNvPr>
          <p:cNvCxnSpPr/>
          <p:nvPr/>
        </p:nvCxnSpPr>
        <p:spPr>
          <a:xfrm>
            <a:off x="7796323" y="5044748"/>
            <a:ext cx="2269474" cy="0"/>
          </a:xfrm>
          <a:prstGeom prst="line">
            <a:avLst/>
          </a:prstGeom>
          <a:ln>
            <a:solidFill>
              <a:schemeClr val="bg1"/>
            </a:solidFill>
            <a:prstDash val="dash"/>
          </a:ln>
          <a:effectLst/>
        </p:spPr>
        <p:style>
          <a:lnRef idx="2">
            <a:schemeClr val="accent1"/>
          </a:lnRef>
          <a:fillRef idx="0">
            <a:schemeClr val="accent1"/>
          </a:fillRef>
          <a:effectRef idx="1">
            <a:schemeClr val="accent1"/>
          </a:effectRef>
          <a:fontRef idx="minor">
            <a:schemeClr val="tx1"/>
          </a:fontRef>
        </p:style>
      </p:cxnSp>
      <p:sp>
        <p:nvSpPr>
          <p:cNvPr id="7" name="円/楕円 6">
            <a:extLst>
              <a:ext uri="{FF2B5EF4-FFF2-40B4-BE49-F238E27FC236}">
                <a16:creationId xmlns:a16="http://schemas.microsoft.com/office/drawing/2014/main" id="{4BCC6E1F-A9A0-F6BD-30B0-C237CC2D17E2}"/>
              </a:ext>
            </a:extLst>
          </p:cNvPr>
          <p:cNvSpPr/>
          <p:nvPr/>
        </p:nvSpPr>
        <p:spPr>
          <a:xfrm>
            <a:off x="8869680" y="4806228"/>
            <a:ext cx="463569" cy="473725"/>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solidFill>
                <a:schemeClr val="bg1"/>
              </a:solidFill>
            </a:endParaRPr>
          </a:p>
        </p:txBody>
      </p:sp>
      <p:sp>
        <p:nvSpPr>
          <p:cNvPr id="8" name="U ターン矢印 7">
            <a:extLst>
              <a:ext uri="{FF2B5EF4-FFF2-40B4-BE49-F238E27FC236}">
                <a16:creationId xmlns:a16="http://schemas.microsoft.com/office/drawing/2014/main" id="{977FC7A8-E0AD-36FB-5C2E-A0E346C1476C}"/>
              </a:ext>
            </a:extLst>
          </p:cNvPr>
          <p:cNvSpPr/>
          <p:nvPr/>
        </p:nvSpPr>
        <p:spPr>
          <a:xfrm>
            <a:off x="8869680" y="5467240"/>
            <a:ext cx="550843" cy="1641513"/>
          </a:xfrm>
          <a:prstGeom prst="uturnArrow">
            <a:avLst>
              <a:gd name="adj1" fmla="val 25000"/>
              <a:gd name="adj2" fmla="val 25000"/>
              <a:gd name="adj3" fmla="val 25000"/>
              <a:gd name="adj4" fmla="val 43750"/>
              <a:gd name="adj5" fmla="val 30034"/>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solidFill>
                <a:schemeClr val="bg1"/>
              </a:solidFill>
            </a:endParaRPr>
          </a:p>
        </p:txBody>
      </p:sp>
      <p:sp>
        <p:nvSpPr>
          <p:cNvPr id="9" name="TextBox 2">
            <a:extLst>
              <a:ext uri="{FF2B5EF4-FFF2-40B4-BE49-F238E27FC236}">
                <a16:creationId xmlns:a16="http://schemas.microsoft.com/office/drawing/2014/main" id="{490659FC-CBA6-2455-F989-0AAADDB69892}"/>
              </a:ext>
            </a:extLst>
          </p:cNvPr>
          <p:cNvSpPr txBox="1"/>
          <p:nvPr/>
        </p:nvSpPr>
        <p:spPr>
          <a:xfrm>
            <a:off x="6786982" y="4827160"/>
            <a:ext cx="1381894" cy="640080"/>
          </a:xfrm>
          <a:prstGeom prst="rect">
            <a:avLst/>
          </a:prstGeom>
          <a:noFill/>
        </p:spPr>
        <p:txBody>
          <a:bodyPr wrap="square">
            <a:normAutofit/>
          </a:bodyPr>
          <a:lstStyle/>
          <a:p>
            <a:pPr algn="ctr"/>
            <a:r>
              <a:rPr lang="en-US" sz="2000" b="1" dirty="0">
                <a:solidFill>
                  <a:schemeClr val="bg1"/>
                </a:solidFill>
                <a:latin typeface="Helvetica Neue"/>
              </a:rPr>
              <a:t>peak</a:t>
            </a:r>
            <a:endParaRPr sz="2000" b="1" dirty="0">
              <a:solidFill>
                <a:schemeClr val="bg1"/>
              </a:solidFill>
              <a:latin typeface="Helvetica Neue"/>
            </a:endParaRPr>
          </a:p>
        </p:txBody>
      </p:sp>
      <p:sp>
        <p:nvSpPr>
          <p:cNvPr id="10" name="TextBox 2">
            <a:extLst>
              <a:ext uri="{FF2B5EF4-FFF2-40B4-BE49-F238E27FC236}">
                <a16:creationId xmlns:a16="http://schemas.microsoft.com/office/drawing/2014/main" id="{8AA5B835-CA0D-BB0A-14C6-0E71BB5CA3B9}"/>
              </a:ext>
            </a:extLst>
          </p:cNvPr>
          <p:cNvSpPr txBox="1"/>
          <p:nvPr/>
        </p:nvSpPr>
        <p:spPr>
          <a:xfrm>
            <a:off x="7632961" y="5089299"/>
            <a:ext cx="1381894" cy="640080"/>
          </a:xfrm>
          <a:prstGeom prst="rect">
            <a:avLst/>
          </a:prstGeom>
          <a:noFill/>
        </p:spPr>
        <p:txBody>
          <a:bodyPr wrap="square">
            <a:normAutofit/>
          </a:bodyPr>
          <a:lstStyle/>
          <a:p>
            <a:pPr algn="ctr"/>
            <a:r>
              <a:rPr lang="en-US" sz="2000" dirty="0">
                <a:solidFill>
                  <a:schemeClr val="bg1"/>
                </a:solidFill>
                <a:latin typeface="Helvetica Neue"/>
              </a:rPr>
              <a:t>v = 0 </a:t>
            </a:r>
            <a:endParaRPr sz="2000" dirty="0">
              <a:solidFill>
                <a:schemeClr val="bg1"/>
              </a:solidFill>
              <a:latin typeface="Helvetica Neue"/>
            </a:endParaRPr>
          </a:p>
        </p:txBody>
      </p:sp>
      <p:sp>
        <p:nvSpPr>
          <p:cNvPr id="11" name="下矢印 10">
            <a:extLst>
              <a:ext uri="{FF2B5EF4-FFF2-40B4-BE49-F238E27FC236}">
                <a16:creationId xmlns:a16="http://schemas.microsoft.com/office/drawing/2014/main" id="{34C9D308-34C7-C528-305F-819FF53EF153}"/>
              </a:ext>
            </a:extLst>
          </p:cNvPr>
          <p:cNvSpPr/>
          <p:nvPr/>
        </p:nvSpPr>
        <p:spPr>
          <a:xfrm>
            <a:off x="10215758" y="4855408"/>
            <a:ext cx="550843" cy="713343"/>
          </a:xfrm>
          <a:prstGeom prst="downArrow">
            <a:avLst/>
          </a:prstGeom>
          <a:solidFill>
            <a:srgbClr val="DFDFB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solidFill>
                <a:srgbClr val="DFDFB6"/>
              </a:solidFill>
            </a:endParaRPr>
          </a:p>
        </p:txBody>
      </p:sp>
      <p:sp>
        <p:nvSpPr>
          <p:cNvPr id="12" name="TextBox 2">
            <a:extLst>
              <a:ext uri="{FF2B5EF4-FFF2-40B4-BE49-F238E27FC236}">
                <a16:creationId xmlns:a16="http://schemas.microsoft.com/office/drawing/2014/main" id="{047436E1-1580-F44E-8ACA-B6CD1988F8CD}"/>
              </a:ext>
            </a:extLst>
          </p:cNvPr>
          <p:cNvSpPr txBox="1"/>
          <p:nvPr/>
        </p:nvSpPr>
        <p:spPr>
          <a:xfrm>
            <a:off x="9800232" y="5726843"/>
            <a:ext cx="1381894" cy="640080"/>
          </a:xfrm>
          <a:prstGeom prst="rect">
            <a:avLst/>
          </a:prstGeom>
          <a:noFill/>
        </p:spPr>
        <p:txBody>
          <a:bodyPr wrap="square">
            <a:normAutofit/>
          </a:bodyPr>
          <a:lstStyle/>
          <a:p>
            <a:pPr algn="ctr"/>
            <a:r>
              <a:rPr lang="en-US" sz="2000" dirty="0">
                <a:solidFill>
                  <a:srgbClr val="DFDFB6"/>
                </a:solidFill>
                <a:latin typeface="Helvetica Neue"/>
              </a:rPr>
              <a:t>g</a:t>
            </a:r>
            <a:endParaRPr sz="2000" dirty="0">
              <a:solidFill>
                <a:srgbClr val="DFDFB6"/>
              </a:solidFill>
              <a:latin typeface="Helvetica Neue"/>
            </a:endParaRPr>
          </a:p>
        </p:txBody>
      </p:sp>
      <p:sp>
        <p:nvSpPr>
          <p:cNvPr id="14" name="Text 2">
            <a:extLst>
              <a:ext uri="{FF2B5EF4-FFF2-40B4-BE49-F238E27FC236}">
                <a16:creationId xmlns:a16="http://schemas.microsoft.com/office/drawing/2014/main" id="{2EFD5C84-8A94-5712-D2AD-165669ADFB6E}"/>
              </a:ext>
            </a:extLst>
          </p:cNvPr>
          <p:cNvSpPr/>
          <p:nvPr/>
        </p:nvSpPr>
        <p:spPr>
          <a:xfrm>
            <a:off x="640079" y="548640"/>
            <a:ext cx="10265485"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KEY POINTS: The calculus chain of motion</a:t>
            </a:r>
            <a:endParaRPr lang="en-US" sz="3600" dirty="0"/>
          </a:p>
        </p:txBody>
      </p:sp>
      <p:pic>
        <p:nvPicPr>
          <p:cNvPr id="15" name="Class Voice (5)">
            <a:hlinkClick r:id="" action="ppaction://media"/>
            <a:extLst>
              <a:ext uri="{FF2B5EF4-FFF2-40B4-BE49-F238E27FC236}">
                <a16:creationId xmlns:a16="http://schemas.microsoft.com/office/drawing/2014/main" id="{32BE659F-44B6-7B59-B02C-9D381BC9611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315671" y="10160"/>
            <a:ext cx="812800" cy="812800"/>
          </a:xfrm>
          <a:prstGeom prst="rect">
            <a:avLst/>
          </a:prstGeom>
        </p:spPr>
      </p:pic>
    </p:spTree>
    <p:extLst>
      <p:ext uri="{BB962C8B-B14F-4D97-AF65-F5344CB8AC3E}">
        <p14:creationId xmlns:p14="http://schemas.microsoft.com/office/powerpoint/2010/main" val="243689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75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a:t>
            </a:r>
            <a:endParaRPr lang="en-US" sz="1400" dirty="0"/>
          </a:p>
        </p:txBody>
      </p:sp>
      <p:sp>
        <p:nvSpPr>
          <p:cNvPr id="4" name="Text 2"/>
          <p:cNvSpPr/>
          <p:nvPr/>
        </p:nvSpPr>
        <p:spPr>
          <a:xfrm>
            <a:off x="640080" y="640080"/>
            <a:ext cx="12983155"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STRATEGY : </a:t>
            </a:r>
            <a:r>
              <a:rPr lang="en-US" sz="3200" b="1" dirty="0">
                <a:solidFill>
                  <a:srgbClr val="46789B"/>
                </a:solidFill>
                <a:latin typeface="Helvetica Neue" pitchFamily="34" charset="0"/>
                <a:ea typeface="Helvetica Neue" pitchFamily="34" charset="-122"/>
                <a:cs typeface="Helvetica Neue" pitchFamily="34" charset="-120"/>
              </a:rPr>
              <a:t>Classify acceleration BEFORE calculating</a:t>
            </a:r>
            <a:endParaRPr lang="en-US" sz="3200" dirty="0"/>
          </a:p>
        </p:txBody>
      </p:sp>
      <p:sp>
        <p:nvSpPr>
          <p:cNvPr id="5" name="Shape 3"/>
          <p:cNvSpPr/>
          <p:nvPr/>
        </p:nvSpPr>
        <p:spPr>
          <a:xfrm>
            <a:off x="940904" y="1828800"/>
            <a:ext cx="10058400" cy="3200400"/>
          </a:xfrm>
          <a:prstGeom prst="rect">
            <a:avLst/>
          </a:prstGeom>
          <a:solidFill>
            <a:srgbClr val="DFDFB6"/>
          </a:solidFill>
          <a:ln/>
        </p:spPr>
        <p:txBody>
          <a:bodyPr/>
          <a:lstStyle/>
          <a:p>
            <a:endParaRPr lang="ja-JP" altLang="en-US"/>
          </a:p>
        </p:txBody>
      </p:sp>
      <p:sp>
        <p:nvSpPr>
          <p:cNvPr id="6" name="Text 4"/>
          <p:cNvSpPr/>
          <p:nvPr/>
        </p:nvSpPr>
        <p:spPr>
          <a:xfrm>
            <a:off x="1123784" y="2011680"/>
            <a:ext cx="9601200" cy="548640"/>
          </a:xfrm>
          <a:prstGeom prst="rect">
            <a:avLst/>
          </a:prstGeom>
          <a:noFill/>
          <a:ln/>
        </p:spPr>
        <p:txBody>
          <a:bodyPr wrap="square" rtlCol="0" anchor="ctr"/>
          <a:lstStyle/>
          <a:p>
            <a:pPr marL="0" indent="0" algn="ctr">
              <a:buNone/>
            </a:pPr>
            <a:r>
              <a:rPr lang="en-US" sz="2400" b="1" dirty="0">
                <a:solidFill>
                  <a:srgbClr val="46789B"/>
                </a:solidFill>
                <a:latin typeface="Helvetica Neue" pitchFamily="34" charset="0"/>
                <a:ea typeface="Helvetica Neue" pitchFamily="34" charset="-122"/>
                <a:cs typeface="Helvetica Neue" pitchFamily="34" charset="-120"/>
              </a:rPr>
              <a:t>What kind of acceleration do you have?</a:t>
            </a:r>
            <a:endParaRPr lang="en-US" sz="2400" dirty="0"/>
          </a:p>
        </p:txBody>
      </p:sp>
      <p:sp>
        <p:nvSpPr>
          <p:cNvPr id="7" name="Text 5"/>
          <p:cNvSpPr/>
          <p:nvPr/>
        </p:nvSpPr>
        <p:spPr>
          <a:xfrm>
            <a:off x="1097280" y="1645920"/>
            <a:ext cx="9601200" cy="3657600"/>
          </a:xfrm>
          <a:prstGeom prst="rect">
            <a:avLst/>
          </a:prstGeom>
          <a:noFill/>
          <a:ln/>
        </p:spPr>
        <p:txBody>
          <a:bodyPr wrap="square" rtlCol="0" anchor="ctr"/>
          <a:lstStyle/>
          <a:p>
            <a:pPr marL="342900" indent="-342900">
              <a:buSzPct val="100000"/>
              <a:buChar char="•"/>
            </a:pPr>
            <a:r>
              <a:rPr lang="en-US" sz="2400" b="1" dirty="0">
                <a:solidFill>
                  <a:srgbClr val="464646"/>
                </a:solidFill>
                <a:latin typeface="Helvetica Neue" pitchFamily="34" charset="0"/>
                <a:ea typeface="Helvetica Neue" pitchFamily="34" charset="-122"/>
                <a:cs typeface="Helvetica Neue" pitchFamily="34" charset="-120"/>
              </a:rPr>
              <a:t>a = constant</a:t>
            </a:r>
            <a:r>
              <a:rPr lang="en-US" sz="2400" dirty="0">
                <a:solidFill>
                  <a:srgbClr val="464646"/>
                </a:solidFill>
                <a:latin typeface="Helvetica Neue" pitchFamily="34" charset="0"/>
                <a:ea typeface="Helvetica Neue" pitchFamily="34" charset="-122"/>
                <a:cs typeface="Helvetica Neue" pitchFamily="34" charset="-120"/>
              </a:rPr>
              <a:t>  →  use           </a:t>
            </a:r>
            <a:r>
              <a:rPr lang="en-US" sz="2400" i="1" dirty="0">
                <a:solidFill>
                  <a:srgbClr val="464646"/>
                </a:solidFill>
                <a:latin typeface="Times New Roman" panose="02020603050405020304" pitchFamily="18" charset="0"/>
                <a:ea typeface="Helvetica Neue" pitchFamily="34" charset="-122"/>
                <a:cs typeface="Times New Roman" panose="02020603050405020304" pitchFamily="18" charset="0"/>
              </a:rPr>
              <a:t>v = v₀ + at</a:t>
            </a:r>
            <a:r>
              <a:rPr lang="en-US" sz="2400" dirty="0">
                <a:solidFill>
                  <a:srgbClr val="464646"/>
                </a:solidFill>
                <a:latin typeface="Helvetica Neue" pitchFamily="34" charset="0"/>
                <a:ea typeface="Helvetica Neue" pitchFamily="34" charset="-122"/>
                <a:cs typeface="Helvetica Neue" pitchFamily="34" charset="-120"/>
              </a:rPr>
              <a:t>                </a:t>
            </a:r>
            <a:r>
              <a:rPr lang="en-US" sz="2400" i="1" dirty="0">
                <a:solidFill>
                  <a:srgbClr val="464646"/>
                </a:solidFill>
                <a:latin typeface="Times New Roman" panose="02020603050405020304" pitchFamily="18" charset="0"/>
                <a:ea typeface="Helvetica Neue" pitchFamily="34" charset="-122"/>
                <a:cs typeface="Times New Roman" panose="02020603050405020304" pitchFamily="18" charset="0"/>
              </a:rPr>
              <a:t>x = x₀ + v₀t + ½at²</a:t>
            </a:r>
          </a:p>
          <a:p>
            <a:pPr>
              <a:buSzPct val="100000"/>
            </a:pPr>
            <a:endParaRPr lang="en-US" sz="2400" dirty="0"/>
          </a:p>
          <a:p>
            <a:pPr marL="342900" indent="-342900">
              <a:buSzPct val="100000"/>
              <a:buChar char="•"/>
            </a:pPr>
            <a:r>
              <a:rPr lang="en-US" sz="2400" b="1" dirty="0">
                <a:solidFill>
                  <a:srgbClr val="464646"/>
                </a:solidFill>
                <a:latin typeface="Helvetica Neue" pitchFamily="34" charset="0"/>
                <a:ea typeface="Helvetica Neue" pitchFamily="34" charset="-122"/>
                <a:cs typeface="Helvetica Neue" pitchFamily="34" charset="-120"/>
              </a:rPr>
              <a:t>a = f(t)</a:t>
            </a:r>
            <a:r>
              <a:rPr lang="en-US" sz="2400" dirty="0">
                <a:solidFill>
                  <a:srgbClr val="464646"/>
                </a:solidFill>
                <a:latin typeface="Helvetica Neue" pitchFamily="34" charset="0"/>
                <a:ea typeface="Helvetica Neue" pitchFamily="34" charset="-122"/>
                <a:cs typeface="Helvetica Neue" pitchFamily="34" charset="-120"/>
              </a:rPr>
              <a:t>       →  integrate:       </a:t>
            </a:r>
            <a:r>
              <a:rPr lang="en-US" sz="2400" i="1" dirty="0">
                <a:solidFill>
                  <a:srgbClr val="464646"/>
                </a:solidFill>
                <a:latin typeface="Times New Roman" panose="02020603050405020304" pitchFamily="18" charset="0"/>
                <a:ea typeface="Helvetica Neue" pitchFamily="34" charset="-122"/>
                <a:cs typeface="Times New Roman" panose="02020603050405020304" pitchFamily="18" charset="0"/>
              </a:rPr>
              <a:t>v = ∫a dt              </a:t>
            </a:r>
            <a:r>
              <a:rPr lang="en-US" sz="2400" dirty="0">
                <a:solidFill>
                  <a:srgbClr val="464646"/>
                </a:solidFill>
                <a:latin typeface="Helvetica Neue" pitchFamily="34" charset="0"/>
                <a:ea typeface="Helvetica Neue" pitchFamily="34" charset="-122"/>
                <a:cs typeface="Helvetica Neue" pitchFamily="34" charset="-120"/>
              </a:rPr>
              <a:t>      </a:t>
            </a:r>
            <a:r>
              <a:rPr lang="en-US" sz="2400" i="1" dirty="0">
                <a:solidFill>
                  <a:srgbClr val="464646"/>
                </a:solidFill>
                <a:latin typeface="Times New Roman" panose="02020603050405020304" pitchFamily="18" charset="0"/>
                <a:ea typeface="Helvetica Neue" pitchFamily="34" charset="-122"/>
                <a:cs typeface="Times New Roman" panose="02020603050405020304" pitchFamily="18" charset="0"/>
              </a:rPr>
              <a:t>x= </a:t>
            </a:r>
            <a:r>
              <a:rPr lang="en-US" altLang="ja-JP" sz="2400" i="1" dirty="0">
                <a:solidFill>
                  <a:srgbClr val="464646"/>
                </a:solidFill>
                <a:latin typeface="Times New Roman" panose="02020603050405020304" pitchFamily="18" charset="0"/>
                <a:ea typeface="Helvetica Neue" pitchFamily="34" charset="-122"/>
                <a:cs typeface="Times New Roman" panose="02020603050405020304" pitchFamily="18" charset="0"/>
              </a:rPr>
              <a:t>∫v dt</a:t>
            </a:r>
            <a:endParaRPr lang="en-US" sz="2400" i="1" dirty="0">
              <a:solidFill>
                <a:srgbClr val="464646"/>
              </a:solidFill>
              <a:latin typeface="Times New Roman" panose="02020603050405020304" pitchFamily="18" charset="0"/>
              <a:ea typeface="Helvetica Neue" pitchFamily="34" charset="-122"/>
              <a:cs typeface="Times New Roman" panose="02020603050405020304" pitchFamily="18" charset="0"/>
            </a:endParaRPr>
          </a:p>
          <a:p>
            <a:pPr>
              <a:buSzPct val="100000"/>
            </a:pPr>
            <a:endParaRPr lang="en-US" sz="2400" dirty="0"/>
          </a:p>
          <a:p>
            <a:pPr marL="342900" indent="-342900">
              <a:buSzPct val="100000"/>
              <a:buChar char="•"/>
            </a:pPr>
            <a:r>
              <a:rPr lang="en-US" sz="2400" b="1" dirty="0">
                <a:solidFill>
                  <a:srgbClr val="464646"/>
                </a:solidFill>
                <a:latin typeface="Helvetica Neue" pitchFamily="34" charset="0"/>
                <a:ea typeface="Helvetica Neue" pitchFamily="34" charset="-122"/>
                <a:cs typeface="Helvetica Neue" pitchFamily="34" charset="-120"/>
              </a:rPr>
              <a:t>a = f(x)</a:t>
            </a:r>
            <a:r>
              <a:rPr lang="en-US" sz="2400" dirty="0">
                <a:solidFill>
                  <a:srgbClr val="464646"/>
                </a:solidFill>
                <a:latin typeface="Helvetica Neue" pitchFamily="34" charset="0"/>
                <a:ea typeface="Helvetica Neue" pitchFamily="34" charset="-122"/>
                <a:cs typeface="Helvetica Neue" pitchFamily="34" charset="-120"/>
              </a:rPr>
              <a:t>       →  use chain rule: a = v dv/dx  ➡  ︎  </a:t>
            </a:r>
            <a:r>
              <a:rPr lang="en-US" sz="2400" i="1" dirty="0" err="1">
                <a:solidFill>
                  <a:srgbClr val="464646"/>
                </a:solidFill>
                <a:latin typeface="Times New Roman" panose="02020603050405020304" pitchFamily="18" charset="0"/>
                <a:ea typeface="Helvetica Neue" pitchFamily="34" charset="-122"/>
                <a:cs typeface="Times New Roman" panose="02020603050405020304" pitchFamily="18" charset="0"/>
              </a:rPr>
              <a:t>vdv</a:t>
            </a:r>
            <a:r>
              <a:rPr lang="en-US" sz="2400" i="1" dirty="0">
                <a:solidFill>
                  <a:srgbClr val="464646"/>
                </a:solidFill>
                <a:latin typeface="Times New Roman" panose="02020603050405020304" pitchFamily="18" charset="0"/>
                <a:ea typeface="Helvetica Neue" pitchFamily="34" charset="-122"/>
                <a:cs typeface="Times New Roman" panose="02020603050405020304" pitchFamily="18" charset="0"/>
              </a:rPr>
              <a:t> = </a:t>
            </a:r>
            <a:r>
              <a:rPr lang="en-US" sz="2400" i="1" dirty="0" err="1">
                <a:solidFill>
                  <a:srgbClr val="464646"/>
                </a:solidFill>
                <a:latin typeface="Times New Roman" panose="02020603050405020304" pitchFamily="18" charset="0"/>
                <a:ea typeface="Helvetica Neue" pitchFamily="34" charset="-122"/>
                <a:cs typeface="Times New Roman" panose="02020603050405020304" pitchFamily="18" charset="0"/>
              </a:rPr>
              <a:t>adx</a:t>
            </a:r>
            <a:endParaRPr lang="en-US" sz="2400" i="1" dirty="0">
              <a:latin typeface="Times New Roman" panose="02020603050405020304" pitchFamily="18" charset="0"/>
              <a:cs typeface="Times New Roman" panose="02020603050405020304" pitchFamily="18" charset="0"/>
            </a:endParaRPr>
          </a:p>
        </p:txBody>
      </p:sp>
      <p:pic>
        <p:nvPicPr>
          <p:cNvPr id="12" name="Class Voice (6)">
            <a:hlinkClick r:id="" action="ppaction://media"/>
            <a:extLst>
              <a:ext uri="{FF2B5EF4-FFF2-40B4-BE49-F238E27FC236}">
                <a16:creationId xmlns:a16="http://schemas.microsoft.com/office/drawing/2014/main" id="{93956BAB-0737-E089-954E-AE7374781EF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99160" y="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252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C0BC1E-2B11-1B7F-5F2C-37189E073685}"/>
              </a:ext>
            </a:extLst>
          </p:cNvPr>
          <p:cNvSpPr/>
          <p:nvPr/>
        </p:nvSpPr>
        <p:spPr>
          <a:xfrm>
            <a:off x="746607" y="1417319"/>
            <a:ext cx="5120640" cy="3629465"/>
          </a:xfrm>
          <a:prstGeom prst="rect">
            <a:avLst/>
          </a:prstGeom>
          <a:solidFill>
            <a:srgbClr val="FAFAFA"/>
          </a:solidFill>
          <a:ln w="1524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DCFCB91A-C710-A01F-1074-1BF4B2ECE3DD}"/>
              </a:ext>
            </a:extLst>
          </p:cNvPr>
          <p:cNvSpPr/>
          <p:nvPr/>
        </p:nvSpPr>
        <p:spPr>
          <a:xfrm>
            <a:off x="746607" y="1417320"/>
            <a:ext cx="5120640" cy="109728"/>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10B824AF-AC6C-CE2D-FCB8-A279C9D129E0}"/>
              </a:ext>
            </a:extLst>
          </p:cNvPr>
          <p:cNvSpPr txBox="1"/>
          <p:nvPr/>
        </p:nvSpPr>
        <p:spPr>
          <a:xfrm>
            <a:off x="975207" y="1600200"/>
            <a:ext cx="4663440" cy="320040"/>
          </a:xfrm>
          <a:prstGeom prst="rect">
            <a:avLst/>
          </a:prstGeom>
          <a:noFill/>
        </p:spPr>
        <p:txBody>
          <a:bodyPr wrap="none" lIns="0" tIns="0" rIns="0" bIns="0" anchor="t">
            <a:spAutoFit/>
          </a:bodyPr>
          <a:lstStyle/>
          <a:p>
            <a:pPr algn="l"/>
            <a:r>
              <a:rPr sz="2000" b="1">
                <a:solidFill>
                  <a:srgbClr val="46789B"/>
                </a:solidFill>
                <a:latin typeface="Hiragino Sans W7"/>
              </a:rPr>
              <a:t>Problem</a:t>
            </a:r>
          </a:p>
        </p:txBody>
      </p:sp>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a:t>
            </a:r>
            <a:endParaRPr lang="en-US" sz="1400" dirty="0"/>
          </a:p>
        </p:txBody>
      </p:sp>
      <p:sp>
        <p:nvSpPr>
          <p:cNvPr id="4" name="Text 2"/>
          <p:cNvSpPr/>
          <p:nvPr/>
        </p:nvSpPr>
        <p:spPr>
          <a:xfrm>
            <a:off x="640080" y="548640"/>
            <a:ext cx="8229600"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Example — Basic 1</a:t>
            </a:r>
            <a:endParaRPr lang="en-US" sz="3600" dirty="0"/>
          </a:p>
        </p:txBody>
      </p:sp>
      <p:sp>
        <p:nvSpPr>
          <p:cNvPr id="7" name="テキスト ボックス 6">
            <a:extLst>
              <a:ext uri="{FF2B5EF4-FFF2-40B4-BE49-F238E27FC236}">
                <a16:creationId xmlns:a16="http://schemas.microsoft.com/office/drawing/2014/main" id="{0EA2334D-6853-B2E8-76BA-0D6166B690E6}"/>
              </a:ext>
            </a:extLst>
          </p:cNvPr>
          <p:cNvSpPr txBox="1"/>
          <p:nvPr/>
        </p:nvSpPr>
        <p:spPr>
          <a:xfrm>
            <a:off x="1070164" y="2090172"/>
            <a:ext cx="6096000" cy="2677656"/>
          </a:xfrm>
          <a:prstGeom prst="rect">
            <a:avLst/>
          </a:prstGeom>
          <a:noFill/>
        </p:spPr>
        <p:txBody>
          <a:bodyPr wrap="square">
            <a:spAutoFit/>
          </a:bodyPr>
          <a:lstStyle/>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A particle’s position is given by</a:t>
            </a:r>
          </a:p>
          <a:p>
            <a:pPr>
              <a:buNone/>
            </a:pPr>
            <a:endParaRPr lang="en-US" altLang="ja-JP" sz="2400" dirty="0">
              <a:latin typeface="Helvetica Neue" panose="02000503000000020004" pitchFamily="2" charset="0"/>
              <a:ea typeface="Helvetica Neue" panose="02000503000000020004" pitchFamily="2" charset="0"/>
              <a:cs typeface="Helvetica Neue" panose="02000503000000020004" pitchFamily="2" charset="0"/>
            </a:endParaRPr>
          </a:p>
          <a:p>
            <a:pPr>
              <a:buNone/>
            </a:pPr>
            <a:r>
              <a:rPr lang="en-US" altLang="ja-JP" sz="2400" b="1" i="1" dirty="0">
                <a:latin typeface="Times New Roman" panose="02020603050405020304" pitchFamily="18" charset="0"/>
                <a:ea typeface="Helvetica Neue" panose="02000503000000020004" pitchFamily="2" charset="0"/>
                <a:cs typeface="Times New Roman" panose="02020603050405020304" pitchFamily="18" charset="0"/>
              </a:rPr>
              <a:t>     x</a:t>
            </a:r>
            <a:r>
              <a:rPr lang="en-US" altLang="ja-JP" sz="2400" b="1" dirty="0">
                <a:latin typeface="Times New Roman" panose="02020603050405020304" pitchFamily="18" charset="0"/>
                <a:ea typeface="Helvetica Neue" panose="02000503000000020004" pitchFamily="2" charset="0"/>
                <a:cs typeface="Times New Roman" panose="02020603050405020304" pitchFamily="18" charset="0"/>
              </a:rPr>
              <a:t>(</a:t>
            </a:r>
            <a:r>
              <a:rPr lang="en-US" altLang="ja-JP" sz="2400" b="1" i="1" dirty="0">
                <a:latin typeface="Times New Roman" panose="02020603050405020304" pitchFamily="18" charset="0"/>
                <a:ea typeface="Helvetica Neue" panose="02000503000000020004" pitchFamily="2" charset="0"/>
                <a:cs typeface="Times New Roman" panose="02020603050405020304" pitchFamily="18" charset="0"/>
              </a:rPr>
              <a:t>t</a:t>
            </a:r>
            <a:r>
              <a:rPr lang="en-US" altLang="ja-JP" sz="2400" b="1" dirty="0">
                <a:latin typeface="Times New Roman" panose="02020603050405020304" pitchFamily="18" charset="0"/>
                <a:ea typeface="Helvetica Neue" panose="02000503000000020004" pitchFamily="2" charset="0"/>
                <a:cs typeface="Times New Roman" panose="02020603050405020304" pitchFamily="18" charset="0"/>
              </a:rPr>
              <a:t>)</a:t>
            </a:r>
            <a:r>
              <a:rPr lang="en-US" altLang="ja-JP" sz="2400" b="1" i="1" dirty="0">
                <a:latin typeface="Times New Roman" panose="02020603050405020304" pitchFamily="18" charset="0"/>
                <a:ea typeface="Helvetica Neue" panose="02000503000000020004" pitchFamily="2" charset="0"/>
                <a:cs typeface="Times New Roman" panose="02020603050405020304" pitchFamily="18" charset="0"/>
              </a:rPr>
              <a:t> = 3t</a:t>
            </a:r>
            <a:r>
              <a:rPr lang="en-US" altLang="ja-JP" sz="2400" b="1" i="1" baseline="30000" dirty="0">
                <a:latin typeface="Times New Roman" panose="02020603050405020304" pitchFamily="18" charset="0"/>
                <a:ea typeface="Helvetica Neue" panose="02000503000000020004" pitchFamily="2" charset="0"/>
                <a:cs typeface="Times New Roman" panose="02020603050405020304" pitchFamily="18" charset="0"/>
              </a:rPr>
              <a:t>2</a:t>
            </a:r>
            <a:r>
              <a:rPr lang="en-US" altLang="ja-JP" sz="2400" b="1" i="1" dirty="0">
                <a:latin typeface="Times New Roman" panose="02020603050405020304" pitchFamily="18" charset="0"/>
                <a:ea typeface="Helvetica Neue" panose="02000503000000020004" pitchFamily="2" charset="0"/>
                <a:cs typeface="Times New Roman" panose="02020603050405020304" pitchFamily="18" charset="0"/>
              </a:rPr>
              <a:t> + 2t</a:t>
            </a:r>
          </a:p>
          <a:p>
            <a:pPr>
              <a:buNone/>
            </a:pPr>
            <a:endParaRPr lang="en-US" altLang="ja-JP" sz="2400" i="1" dirty="0">
              <a:latin typeface="Times New Roman" panose="02020603050405020304" pitchFamily="18" charset="0"/>
              <a:ea typeface="Helvetica Neue" panose="02000503000000020004" pitchFamily="2" charset="0"/>
              <a:cs typeface="Times New Roman" panose="02020603050405020304" pitchFamily="18" charset="0"/>
            </a:endParaRPr>
          </a:p>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Find:</a:t>
            </a:r>
          </a:p>
          <a:p>
            <a:pPr>
              <a:buFont typeface="+mj-lt"/>
              <a:buAutoNum type="arabicPeriod"/>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The velocity v(t)</a:t>
            </a:r>
          </a:p>
          <a:p>
            <a:pPr>
              <a:buFont typeface="+mj-lt"/>
              <a:buAutoNum type="arabicPeriod"/>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The acceleration a(t)</a:t>
            </a:r>
          </a:p>
        </p:txBody>
      </p:sp>
      <p:pic>
        <p:nvPicPr>
          <p:cNvPr id="12" name="Class Voice (7)">
            <a:hlinkClick r:id="" action="ppaction://media"/>
            <a:extLst>
              <a:ext uri="{FF2B5EF4-FFF2-40B4-BE49-F238E27FC236}">
                <a16:creationId xmlns:a16="http://schemas.microsoft.com/office/drawing/2014/main" id="{19B31728-0D9B-E4A0-90DC-BEA8BB01E63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99160" y="5080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4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F0A81-6F18-62AC-6D18-C40A7112A17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C5B6893-0A92-3D20-6B1B-2B94B46735AF}"/>
              </a:ext>
            </a:extLst>
          </p:cNvPr>
          <p:cNvSpPr/>
          <p:nvPr/>
        </p:nvSpPr>
        <p:spPr>
          <a:xfrm>
            <a:off x="746607" y="1417319"/>
            <a:ext cx="5120640" cy="3629465"/>
          </a:xfrm>
          <a:prstGeom prst="rect">
            <a:avLst/>
          </a:prstGeom>
          <a:solidFill>
            <a:srgbClr val="FAFAFA"/>
          </a:solidFill>
          <a:ln w="1524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AC99390F-C977-5305-59FA-56EA9B5CAD54}"/>
              </a:ext>
            </a:extLst>
          </p:cNvPr>
          <p:cNvSpPr/>
          <p:nvPr/>
        </p:nvSpPr>
        <p:spPr>
          <a:xfrm>
            <a:off x="746607" y="1417320"/>
            <a:ext cx="5120640" cy="109728"/>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DE52729F-B1DA-3655-FD41-4ACE549C04C6}"/>
              </a:ext>
            </a:extLst>
          </p:cNvPr>
          <p:cNvSpPr txBox="1"/>
          <p:nvPr/>
        </p:nvSpPr>
        <p:spPr>
          <a:xfrm>
            <a:off x="975207" y="1600200"/>
            <a:ext cx="4663440" cy="320040"/>
          </a:xfrm>
          <a:prstGeom prst="rect">
            <a:avLst/>
          </a:prstGeom>
          <a:noFill/>
        </p:spPr>
        <p:txBody>
          <a:bodyPr wrap="none" lIns="0" tIns="0" rIns="0" bIns="0" anchor="t">
            <a:spAutoFit/>
          </a:bodyPr>
          <a:lstStyle/>
          <a:p>
            <a:pPr algn="l"/>
            <a:r>
              <a:rPr sz="2000" b="1">
                <a:solidFill>
                  <a:srgbClr val="46789B"/>
                </a:solidFill>
                <a:latin typeface="Hiragino Sans W7"/>
              </a:rPr>
              <a:t>Problem</a:t>
            </a:r>
          </a:p>
        </p:txBody>
      </p:sp>
      <p:sp>
        <p:nvSpPr>
          <p:cNvPr id="2" name="Shape 0">
            <a:extLst>
              <a:ext uri="{FF2B5EF4-FFF2-40B4-BE49-F238E27FC236}">
                <a16:creationId xmlns:a16="http://schemas.microsoft.com/office/drawing/2014/main" id="{123D3AE0-37CE-72AC-5BB8-3C21B2237233}"/>
              </a:ext>
            </a:extLst>
          </p:cNvPr>
          <p:cNvSpPr/>
          <p:nvPr/>
        </p:nvSpPr>
        <p:spPr>
          <a:xfrm>
            <a:off x="0" y="0"/>
            <a:ext cx="12192000" cy="457200"/>
          </a:xfrm>
          <a:prstGeom prst="rect">
            <a:avLst/>
          </a:prstGeom>
          <a:solidFill>
            <a:srgbClr val="DFDFB6"/>
          </a:solidFill>
          <a:ln/>
        </p:spPr>
        <p:txBody>
          <a:bodyPr/>
          <a:lstStyle/>
          <a:p>
            <a:endParaRPr lang="ja-JP" altLang="en-US"/>
          </a:p>
        </p:txBody>
      </p:sp>
      <p:sp>
        <p:nvSpPr>
          <p:cNvPr id="3" name="Text 1">
            <a:extLst>
              <a:ext uri="{FF2B5EF4-FFF2-40B4-BE49-F238E27FC236}">
                <a16:creationId xmlns:a16="http://schemas.microsoft.com/office/drawing/2014/main" id="{A13531D2-36CD-3D83-DEF5-5C6DB461FC86}"/>
              </a:ext>
            </a:extLst>
          </p:cNvPr>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a:t>
            </a:r>
            <a:endParaRPr lang="en-US" sz="1400" dirty="0"/>
          </a:p>
        </p:txBody>
      </p:sp>
      <p:sp>
        <p:nvSpPr>
          <p:cNvPr id="4" name="Text 2">
            <a:extLst>
              <a:ext uri="{FF2B5EF4-FFF2-40B4-BE49-F238E27FC236}">
                <a16:creationId xmlns:a16="http://schemas.microsoft.com/office/drawing/2014/main" id="{C71BAB52-5952-9013-CC1F-7AA3656FA075}"/>
              </a:ext>
            </a:extLst>
          </p:cNvPr>
          <p:cNvSpPr/>
          <p:nvPr/>
        </p:nvSpPr>
        <p:spPr>
          <a:xfrm>
            <a:off x="640080" y="548640"/>
            <a:ext cx="8229600"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Example — Basic 1</a:t>
            </a:r>
            <a:endParaRPr lang="en-US" sz="3600" dirty="0"/>
          </a:p>
        </p:txBody>
      </p:sp>
      <p:sp>
        <p:nvSpPr>
          <p:cNvPr id="7" name="テキスト ボックス 6">
            <a:extLst>
              <a:ext uri="{FF2B5EF4-FFF2-40B4-BE49-F238E27FC236}">
                <a16:creationId xmlns:a16="http://schemas.microsoft.com/office/drawing/2014/main" id="{D32590F9-EA02-7D21-278E-79F0C6AD835C}"/>
              </a:ext>
            </a:extLst>
          </p:cNvPr>
          <p:cNvSpPr txBox="1"/>
          <p:nvPr/>
        </p:nvSpPr>
        <p:spPr>
          <a:xfrm>
            <a:off x="1070164" y="2090172"/>
            <a:ext cx="6096000" cy="2677656"/>
          </a:xfrm>
          <a:prstGeom prst="rect">
            <a:avLst/>
          </a:prstGeom>
          <a:noFill/>
        </p:spPr>
        <p:txBody>
          <a:bodyPr wrap="square">
            <a:spAutoFit/>
          </a:bodyPr>
          <a:lstStyle/>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A particle’s position is given by</a:t>
            </a:r>
          </a:p>
          <a:p>
            <a:pPr>
              <a:buNone/>
            </a:pPr>
            <a:endParaRPr lang="en-US" altLang="ja-JP" sz="2400" dirty="0">
              <a:latin typeface="Helvetica Neue" panose="02000503000000020004" pitchFamily="2" charset="0"/>
              <a:ea typeface="Helvetica Neue" panose="02000503000000020004" pitchFamily="2" charset="0"/>
              <a:cs typeface="Helvetica Neue" panose="02000503000000020004" pitchFamily="2" charset="0"/>
            </a:endParaRPr>
          </a:p>
          <a:p>
            <a:pPr>
              <a:buNone/>
            </a:pPr>
            <a:r>
              <a:rPr lang="en-US" altLang="ja-JP" sz="2400" b="1" i="1" dirty="0">
                <a:latin typeface="Times New Roman" panose="02020603050405020304" pitchFamily="18" charset="0"/>
                <a:ea typeface="Helvetica Neue" panose="02000503000000020004" pitchFamily="2" charset="0"/>
                <a:cs typeface="Times New Roman" panose="02020603050405020304" pitchFamily="18" charset="0"/>
              </a:rPr>
              <a:t>     x</a:t>
            </a:r>
            <a:r>
              <a:rPr lang="en-US" altLang="ja-JP" sz="2400" b="1" dirty="0">
                <a:latin typeface="Times New Roman" panose="02020603050405020304" pitchFamily="18" charset="0"/>
                <a:ea typeface="Helvetica Neue" panose="02000503000000020004" pitchFamily="2" charset="0"/>
                <a:cs typeface="Times New Roman" panose="02020603050405020304" pitchFamily="18" charset="0"/>
              </a:rPr>
              <a:t>(</a:t>
            </a:r>
            <a:r>
              <a:rPr lang="en-US" altLang="ja-JP" sz="2400" b="1" i="1" dirty="0">
                <a:latin typeface="Times New Roman" panose="02020603050405020304" pitchFamily="18" charset="0"/>
                <a:ea typeface="Helvetica Neue" panose="02000503000000020004" pitchFamily="2" charset="0"/>
                <a:cs typeface="Times New Roman" panose="02020603050405020304" pitchFamily="18" charset="0"/>
              </a:rPr>
              <a:t>t</a:t>
            </a:r>
            <a:r>
              <a:rPr lang="en-US" altLang="ja-JP" sz="2400" b="1" dirty="0">
                <a:latin typeface="Times New Roman" panose="02020603050405020304" pitchFamily="18" charset="0"/>
                <a:ea typeface="Helvetica Neue" panose="02000503000000020004" pitchFamily="2" charset="0"/>
                <a:cs typeface="Times New Roman" panose="02020603050405020304" pitchFamily="18" charset="0"/>
              </a:rPr>
              <a:t>)</a:t>
            </a:r>
            <a:r>
              <a:rPr lang="en-US" altLang="ja-JP" sz="2400" b="1" i="1" dirty="0">
                <a:latin typeface="Times New Roman" panose="02020603050405020304" pitchFamily="18" charset="0"/>
                <a:ea typeface="Helvetica Neue" panose="02000503000000020004" pitchFamily="2" charset="0"/>
                <a:cs typeface="Times New Roman" panose="02020603050405020304" pitchFamily="18" charset="0"/>
              </a:rPr>
              <a:t> = 3t</a:t>
            </a:r>
            <a:r>
              <a:rPr lang="en-US" altLang="ja-JP" sz="2400" b="1" i="1" baseline="30000" dirty="0">
                <a:latin typeface="Times New Roman" panose="02020603050405020304" pitchFamily="18" charset="0"/>
                <a:ea typeface="Helvetica Neue" panose="02000503000000020004" pitchFamily="2" charset="0"/>
                <a:cs typeface="Times New Roman" panose="02020603050405020304" pitchFamily="18" charset="0"/>
              </a:rPr>
              <a:t>2</a:t>
            </a:r>
            <a:r>
              <a:rPr lang="en-US" altLang="ja-JP" sz="2400" b="1" i="1" dirty="0">
                <a:latin typeface="Times New Roman" panose="02020603050405020304" pitchFamily="18" charset="0"/>
                <a:ea typeface="Helvetica Neue" panose="02000503000000020004" pitchFamily="2" charset="0"/>
                <a:cs typeface="Times New Roman" panose="02020603050405020304" pitchFamily="18" charset="0"/>
              </a:rPr>
              <a:t> + 2t</a:t>
            </a:r>
          </a:p>
          <a:p>
            <a:pPr>
              <a:buNone/>
            </a:pPr>
            <a:endParaRPr lang="en-US" altLang="ja-JP" sz="2400" i="1" dirty="0">
              <a:latin typeface="Times New Roman" panose="02020603050405020304" pitchFamily="18" charset="0"/>
              <a:ea typeface="Helvetica Neue" panose="02000503000000020004" pitchFamily="2" charset="0"/>
              <a:cs typeface="Times New Roman" panose="02020603050405020304" pitchFamily="18" charset="0"/>
            </a:endParaRPr>
          </a:p>
          <a:p>
            <a:pPr>
              <a:buNone/>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Find:</a:t>
            </a:r>
          </a:p>
          <a:p>
            <a:pPr>
              <a:buFont typeface="+mj-lt"/>
              <a:buAutoNum type="arabicPeriod"/>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The velocity v(t)</a:t>
            </a:r>
          </a:p>
          <a:p>
            <a:pPr>
              <a:buFont typeface="+mj-lt"/>
              <a:buAutoNum type="arabicPeriod"/>
            </a:pP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The acceleration a(t)</a:t>
            </a:r>
          </a:p>
        </p:txBody>
      </p:sp>
      <p:sp>
        <p:nvSpPr>
          <p:cNvPr id="5" name="テキスト ボックス 4">
            <a:extLst>
              <a:ext uri="{FF2B5EF4-FFF2-40B4-BE49-F238E27FC236}">
                <a16:creationId xmlns:a16="http://schemas.microsoft.com/office/drawing/2014/main" id="{673191AF-295E-B027-1ED9-2F9C0BE18B23}"/>
              </a:ext>
            </a:extLst>
          </p:cNvPr>
          <p:cNvSpPr txBox="1"/>
          <p:nvPr/>
        </p:nvSpPr>
        <p:spPr>
          <a:xfrm>
            <a:off x="6190804" y="2090172"/>
            <a:ext cx="6096000" cy="1938992"/>
          </a:xfrm>
          <a:prstGeom prst="rect">
            <a:avLst/>
          </a:prstGeom>
          <a:noFill/>
        </p:spPr>
        <p:txBody>
          <a:bodyPr wrap="square">
            <a:spAutoFit/>
          </a:bodyPr>
          <a:lstStyle/>
          <a:p>
            <a:pPr>
              <a:buNone/>
            </a:pPr>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STEP 1</a:t>
            </a: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v = dx/dt = 6t + 2. </a:t>
            </a:r>
          </a:p>
          <a:p>
            <a:endPar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STEP2</a:t>
            </a: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a = dv/dt = 6 </a:t>
            </a:r>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(const.)</a:t>
            </a:r>
          </a:p>
        </p:txBody>
      </p:sp>
      <p:sp>
        <p:nvSpPr>
          <p:cNvPr id="6" name="Rectangle 8">
            <a:extLst>
              <a:ext uri="{FF2B5EF4-FFF2-40B4-BE49-F238E27FC236}">
                <a16:creationId xmlns:a16="http://schemas.microsoft.com/office/drawing/2014/main" id="{AD16FEAA-DE6B-77A8-E43F-11E996A11D59}"/>
              </a:ext>
            </a:extLst>
          </p:cNvPr>
          <p:cNvSpPr/>
          <p:nvPr/>
        </p:nvSpPr>
        <p:spPr>
          <a:xfrm>
            <a:off x="2032628" y="5216716"/>
            <a:ext cx="1624972" cy="539496"/>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latin typeface="Helvetica Neue" panose="02000503000000020004" pitchFamily="2" charset="0"/>
                <a:ea typeface="Helvetica Neue" panose="02000503000000020004" pitchFamily="2" charset="0"/>
                <a:cs typeface="Helvetica Neue" panose="02000503000000020004" pitchFamily="2" charset="0"/>
              </a:rPr>
              <a:t>So What</a:t>
            </a:r>
            <a:endParaRPr sz="20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テキスト ボックス 11">
            <a:extLst>
              <a:ext uri="{FF2B5EF4-FFF2-40B4-BE49-F238E27FC236}">
                <a16:creationId xmlns:a16="http://schemas.microsoft.com/office/drawing/2014/main" id="{35369E01-5103-CECD-126D-65021798D0A7}"/>
              </a:ext>
            </a:extLst>
          </p:cNvPr>
          <p:cNvSpPr txBox="1"/>
          <p:nvPr/>
        </p:nvSpPr>
        <p:spPr>
          <a:xfrm>
            <a:off x="2468879" y="5883322"/>
            <a:ext cx="8029135" cy="1323439"/>
          </a:xfrm>
          <a:prstGeom prst="rect">
            <a:avLst/>
          </a:prstGeom>
          <a:noFill/>
        </p:spPr>
        <p:txBody>
          <a:bodyPr wrap="square">
            <a:spAutoFit/>
          </a:bodyPr>
          <a:lstStyle/>
          <a:p>
            <a:r>
              <a:rPr lang="en-US" altLang="ja-JP" sz="2000" dirty="0">
                <a:latin typeface="Helvetica Neue" panose="02000503000000020004" pitchFamily="2" charset="0"/>
                <a:ea typeface="Helvetica Neue" panose="02000503000000020004" pitchFamily="2" charset="0"/>
                <a:cs typeface="Helvetica Neue" panose="02000503000000020004" pitchFamily="2" charset="0"/>
              </a:rPr>
              <a:t>a = const.  </a:t>
            </a:r>
          </a:p>
          <a:p>
            <a:r>
              <a:rPr lang="ja-JP" altLang="en-US" sz="2000">
                <a:solidFill>
                  <a:srgbClr val="B9BA99"/>
                </a:solidFill>
                <a:latin typeface="Helvetica Neue" panose="02000503000000020004" pitchFamily="2" charset="0"/>
                <a:ea typeface="Helvetica Neue" panose="02000503000000020004" pitchFamily="2" charset="0"/>
                <a:cs typeface="Helvetica Neue" panose="02000503000000020004" pitchFamily="2" charset="0"/>
              </a:rPr>
              <a:t>　↑ </a:t>
            </a:r>
            <a:r>
              <a:rPr lang="en-US" altLang="ja-JP" sz="2000" dirty="0">
                <a:solidFill>
                  <a:srgbClr val="B9BA99"/>
                </a:solidFill>
                <a:latin typeface="Helvetica Neue" panose="02000503000000020004" pitchFamily="2" charset="0"/>
                <a:ea typeface="Helvetica Neue" panose="02000503000000020004" pitchFamily="2" charset="0"/>
                <a:cs typeface="Helvetica Neue" panose="02000503000000020004" pitchFamily="2" charset="0"/>
              </a:rPr>
              <a:t>standard formulas </a:t>
            </a:r>
            <a:r>
              <a:rPr lang="ja-JP" altLang="en-US" sz="2000">
                <a:solidFill>
                  <a:srgbClr val="B9BA99"/>
                </a:solidFill>
                <a:latin typeface="Helvetica Neue" panose="02000503000000020004" pitchFamily="2" charset="0"/>
                <a:ea typeface="Helvetica Neue" panose="02000503000000020004" pitchFamily="2" charset="0"/>
                <a:cs typeface="Helvetica Neue" panose="02000503000000020004" pitchFamily="2" charset="0"/>
              </a:rPr>
              <a:t>（</a:t>
            </a:r>
            <a:r>
              <a:rPr lang="en-US" altLang="ja-JP" sz="2000" i="1" dirty="0">
                <a:solidFill>
                  <a:srgbClr val="B9BA99"/>
                </a:solidFill>
                <a:latin typeface="Times New Roman" panose="02020603050405020304" pitchFamily="18" charset="0"/>
                <a:ea typeface="Helvetica Neue" pitchFamily="34" charset="-122"/>
                <a:cs typeface="Times New Roman" panose="02020603050405020304" pitchFamily="18" charset="0"/>
              </a:rPr>
              <a:t>v = v₀ + at,</a:t>
            </a:r>
            <a:r>
              <a:rPr lang="en-US" altLang="ja-JP" sz="2000" dirty="0">
                <a:solidFill>
                  <a:srgbClr val="B9BA99"/>
                </a:solidFill>
                <a:latin typeface="Helvetica Neue" pitchFamily="34" charset="0"/>
                <a:ea typeface="Helvetica Neue" pitchFamily="34" charset="-122"/>
                <a:cs typeface="Helvetica Neue" pitchFamily="34" charset="-120"/>
              </a:rPr>
              <a:t>  </a:t>
            </a:r>
            <a:r>
              <a:rPr lang="en-US" altLang="ja-JP" sz="2000" i="1" dirty="0">
                <a:solidFill>
                  <a:srgbClr val="B9BA99"/>
                </a:solidFill>
                <a:latin typeface="Times New Roman" panose="02020603050405020304" pitchFamily="18" charset="0"/>
                <a:ea typeface="Helvetica Neue" pitchFamily="34" charset="-122"/>
                <a:cs typeface="Times New Roman" panose="02020603050405020304" pitchFamily="18" charset="0"/>
              </a:rPr>
              <a:t>x = x₀ + </a:t>
            </a:r>
            <a:r>
              <a:rPr lang="en-US" altLang="ja-JP" sz="2000" i="1" dirty="0" err="1">
                <a:solidFill>
                  <a:srgbClr val="B9BA99"/>
                </a:solidFill>
                <a:latin typeface="Times New Roman" panose="02020603050405020304" pitchFamily="18" charset="0"/>
                <a:ea typeface="Helvetica Neue" pitchFamily="34" charset="-122"/>
                <a:cs typeface="Times New Roman" panose="02020603050405020304" pitchFamily="18" charset="0"/>
              </a:rPr>
              <a:t>v₀t</a:t>
            </a:r>
            <a:r>
              <a:rPr lang="en-US" altLang="ja-JP" sz="2000" i="1" dirty="0">
                <a:solidFill>
                  <a:srgbClr val="B9BA99"/>
                </a:solidFill>
                <a:latin typeface="Times New Roman" panose="02020603050405020304" pitchFamily="18" charset="0"/>
                <a:ea typeface="Helvetica Neue" pitchFamily="34" charset="-122"/>
                <a:cs typeface="Times New Roman" panose="02020603050405020304" pitchFamily="18" charset="0"/>
              </a:rPr>
              <a:t> + ½at²</a:t>
            </a:r>
            <a:r>
              <a:rPr lang="ja-JP" altLang="en-US" sz="2000">
                <a:solidFill>
                  <a:srgbClr val="B9BA99"/>
                </a:solidFill>
                <a:latin typeface="Helvetica Neue" panose="02000503000000020004" pitchFamily="2" charset="0"/>
                <a:ea typeface="Helvetica Neue" panose="02000503000000020004" pitchFamily="2" charset="0"/>
                <a:cs typeface="Helvetica Neue" panose="02000503000000020004" pitchFamily="2" charset="0"/>
              </a:rPr>
              <a:t>）</a:t>
            </a:r>
            <a:r>
              <a:rPr lang="en-US" altLang="ja-JP" sz="2000" dirty="0">
                <a:solidFill>
                  <a:srgbClr val="B9BA99"/>
                </a:solidFill>
                <a:latin typeface="Helvetica Neue" panose="02000503000000020004" pitchFamily="2" charset="0"/>
                <a:ea typeface="Helvetica Neue" panose="02000503000000020004" pitchFamily="2" charset="0"/>
                <a:cs typeface="Helvetica Neue" panose="02000503000000020004" pitchFamily="2" charset="0"/>
              </a:rPr>
              <a:t>are valid</a:t>
            </a:r>
          </a:p>
          <a:p>
            <a:endParaRPr lang="en-US" altLang="ja-JP" sz="2000" dirty="0">
              <a:latin typeface="Helvetica Neue" panose="02000503000000020004" pitchFamily="2" charset="0"/>
              <a:ea typeface="Helvetica Neue" panose="02000503000000020004" pitchFamily="2" charset="0"/>
              <a:cs typeface="Helvetica Neue" panose="02000503000000020004" pitchFamily="2" charset="0"/>
            </a:endParaRPr>
          </a:p>
          <a:p>
            <a:pPr>
              <a:buNone/>
            </a:pPr>
            <a:endParaRPr lang="en-US" altLang="ja-JP" sz="20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3" name="Class Voice (8)">
            <a:hlinkClick r:id="" action="ppaction://media"/>
            <a:extLst>
              <a:ext uri="{FF2B5EF4-FFF2-40B4-BE49-F238E27FC236}">
                <a16:creationId xmlns:a16="http://schemas.microsoft.com/office/drawing/2014/main" id="{61B41363-92C0-AD6B-0B5B-97A70C6D17F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32840" y="10160"/>
            <a:ext cx="812800" cy="812800"/>
          </a:xfrm>
          <a:prstGeom prst="rect">
            <a:avLst/>
          </a:prstGeom>
        </p:spPr>
      </p:pic>
    </p:spTree>
    <p:extLst>
      <p:ext uri="{BB962C8B-B14F-4D97-AF65-F5344CB8AC3E}">
        <p14:creationId xmlns:p14="http://schemas.microsoft.com/office/powerpoint/2010/main" val="370057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9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a:t>
            </a:r>
            <a:endParaRPr lang="en-US" sz="1400" dirty="0"/>
          </a:p>
        </p:txBody>
      </p:sp>
      <p:sp>
        <p:nvSpPr>
          <p:cNvPr id="4" name="Text 2"/>
          <p:cNvSpPr/>
          <p:nvPr/>
        </p:nvSpPr>
        <p:spPr>
          <a:xfrm>
            <a:off x="640080" y="548640"/>
            <a:ext cx="8229600"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Example — Basic 2</a:t>
            </a:r>
            <a:endParaRPr lang="en-US" sz="3600" dirty="0"/>
          </a:p>
        </p:txBody>
      </p:sp>
      <p:sp>
        <p:nvSpPr>
          <p:cNvPr id="6" name="Rectangle 7">
            <a:extLst>
              <a:ext uri="{FF2B5EF4-FFF2-40B4-BE49-F238E27FC236}">
                <a16:creationId xmlns:a16="http://schemas.microsoft.com/office/drawing/2014/main" id="{EA2636CB-59D3-A823-CEDA-3A1C7C4A2910}"/>
              </a:ext>
            </a:extLst>
          </p:cNvPr>
          <p:cNvSpPr/>
          <p:nvPr/>
        </p:nvSpPr>
        <p:spPr>
          <a:xfrm>
            <a:off x="746607" y="1417319"/>
            <a:ext cx="6096000" cy="3629465"/>
          </a:xfrm>
          <a:prstGeom prst="rect">
            <a:avLst/>
          </a:prstGeom>
          <a:solidFill>
            <a:srgbClr val="FAFAFA"/>
          </a:solidFill>
          <a:ln w="1524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8">
            <a:extLst>
              <a:ext uri="{FF2B5EF4-FFF2-40B4-BE49-F238E27FC236}">
                <a16:creationId xmlns:a16="http://schemas.microsoft.com/office/drawing/2014/main" id="{E633277B-A63F-1D6E-7716-41E5B0341D8C}"/>
              </a:ext>
            </a:extLst>
          </p:cNvPr>
          <p:cNvSpPr/>
          <p:nvPr/>
        </p:nvSpPr>
        <p:spPr>
          <a:xfrm>
            <a:off x="746607" y="1417320"/>
            <a:ext cx="6096000" cy="133588"/>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9">
            <a:extLst>
              <a:ext uri="{FF2B5EF4-FFF2-40B4-BE49-F238E27FC236}">
                <a16:creationId xmlns:a16="http://schemas.microsoft.com/office/drawing/2014/main" id="{B8893DDA-6B9C-4A50-0029-476F305F883A}"/>
              </a:ext>
            </a:extLst>
          </p:cNvPr>
          <p:cNvSpPr txBox="1"/>
          <p:nvPr/>
        </p:nvSpPr>
        <p:spPr>
          <a:xfrm>
            <a:off x="975207" y="1600200"/>
            <a:ext cx="4663440" cy="320040"/>
          </a:xfrm>
          <a:prstGeom prst="rect">
            <a:avLst/>
          </a:prstGeom>
          <a:noFill/>
        </p:spPr>
        <p:txBody>
          <a:bodyPr wrap="none" lIns="0" tIns="0" rIns="0" bIns="0" anchor="t">
            <a:spAutoFit/>
          </a:bodyPr>
          <a:lstStyle/>
          <a:p>
            <a:pPr algn="l"/>
            <a:r>
              <a:rPr sz="2000" b="1">
                <a:solidFill>
                  <a:srgbClr val="46789B"/>
                </a:solidFill>
                <a:latin typeface="Hiragino Sans W7"/>
              </a:rPr>
              <a:t>Problem</a:t>
            </a:r>
          </a:p>
        </p:txBody>
      </p:sp>
      <p:sp>
        <p:nvSpPr>
          <p:cNvPr id="9" name="テキスト ボックス 8">
            <a:extLst>
              <a:ext uri="{FF2B5EF4-FFF2-40B4-BE49-F238E27FC236}">
                <a16:creationId xmlns:a16="http://schemas.microsoft.com/office/drawing/2014/main" id="{17FCB4E8-71BB-3EAE-288D-FF4BD93FEABC}"/>
              </a:ext>
            </a:extLst>
          </p:cNvPr>
          <p:cNvSpPr txBox="1"/>
          <p:nvPr/>
        </p:nvSpPr>
        <p:spPr>
          <a:xfrm>
            <a:off x="975207" y="2144684"/>
            <a:ext cx="6096000" cy="2308324"/>
          </a:xfrm>
          <a:prstGeom prst="rect">
            <a:avLst/>
          </a:prstGeom>
          <a:noFill/>
        </p:spPr>
        <p:txBody>
          <a:bodyPr wrap="square">
            <a:spAutoFit/>
          </a:bodyPr>
          <a:lstStyle/>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Given constant acceleration </a:t>
            </a:r>
            <a:r>
              <a:rPr lang="en-US" altLang="ja-JP" sz="2400" i="1" dirty="0">
                <a:latin typeface="Helvetica Neue" panose="02000503000000020004" pitchFamily="2" charset="0"/>
                <a:ea typeface="Helvetica Neue" panose="02000503000000020004" pitchFamily="2" charset="0"/>
                <a:cs typeface="Helvetica Neue" panose="02000503000000020004" pitchFamily="2" charset="0"/>
              </a:rPr>
              <a:t>a</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 = 4 m/s</a:t>
            </a:r>
            <a:r>
              <a:rPr lang="en-US" altLang="ja-JP" sz="2400" baseline="30000" dirty="0">
                <a:latin typeface="Helvetica Neue" panose="02000503000000020004" pitchFamily="2" charset="0"/>
                <a:ea typeface="Helvetica Neue" panose="02000503000000020004" pitchFamily="2" charset="0"/>
                <a:cs typeface="Helvetica Neue" panose="02000503000000020004" pitchFamily="2" charset="0"/>
              </a:rPr>
              <a:t>2</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a:t>
            </a:r>
          </a:p>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initial conditions: v(0)=v</a:t>
            </a:r>
            <a:r>
              <a:rPr lang="en-US" altLang="ja-JP" sz="2400" baseline="-25000" dirty="0">
                <a:latin typeface="Helvetica Neue" panose="02000503000000020004" pitchFamily="2" charset="0"/>
                <a:ea typeface="Helvetica Neue" panose="02000503000000020004" pitchFamily="2" charset="0"/>
                <a:cs typeface="Helvetica Neue" panose="02000503000000020004" pitchFamily="2" charset="0"/>
              </a:rPr>
              <a:t>0</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 x(0)=x</a:t>
            </a:r>
            <a:r>
              <a:rPr lang="en-US" altLang="ja-JP" sz="2400" baseline="-25000" dirty="0">
                <a:latin typeface="Helvetica Neue" panose="02000503000000020004" pitchFamily="2" charset="0"/>
                <a:ea typeface="Helvetica Neue" panose="02000503000000020004" pitchFamily="2" charset="0"/>
                <a:cs typeface="Helvetica Neue" panose="02000503000000020004" pitchFamily="2" charset="0"/>
              </a:rPr>
              <a:t>0</a:t>
            </a:r>
          </a:p>
          <a:p>
            <a:endParaRPr lang="en-US" altLang="ja-JP" sz="2400" dirty="0">
              <a:latin typeface="Helvetica Neue" panose="02000503000000020004" pitchFamily="2" charset="0"/>
              <a:ea typeface="Helvetica Neue" panose="02000503000000020004" pitchFamily="2" charset="0"/>
              <a:cs typeface="Helvetica Neue" panose="02000503000000020004" pitchFamily="2" charset="0"/>
            </a:endParaRPr>
          </a:p>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Find:</a:t>
            </a:r>
          </a:p>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v(t), x(t)</a:t>
            </a:r>
          </a:p>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using integration.</a:t>
            </a:r>
          </a:p>
        </p:txBody>
      </p:sp>
      <p:pic>
        <p:nvPicPr>
          <p:cNvPr id="10" name="Class Voice (9)">
            <a:hlinkClick r:id="" action="ppaction://media"/>
            <a:extLst>
              <a:ext uri="{FF2B5EF4-FFF2-40B4-BE49-F238E27FC236}">
                <a16:creationId xmlns:a16="http://schemas.microsoft.com/office/drawing/2014/main" id="{819270AA-6BE6-1257-8399-DB4FB72473E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72871" y="372403"/>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54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6371E-8433-8DD5-CE78-EB3ABD69B7D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A1CB87-300A-B6F9-F954-864555FAF183}"/>
              </a:ext>
            </a:extLst>
          </p:cNvPr>
          <p:cNvSpPr/>
          <p:nvPr/>
        </p:nvSpPr>
        <p:spPr>
          <a:xfrm>
            <a:off x="0" y="0"/>
            <a:ext cx="12192000" cy="457200"/>
          </a:xfrm>
          <a:prstGeom prst="rect">
            <a:avLst/>
          </a:prstGeom>
          <a:solidFill>
            <a:srgbClr val="DFDFB6"/>
          </a:solidFill>
          <a:ln/>
        </p:spPr>
        <p:txBody>
          <a:bodyPr/>
          <a:lstStyle/>
          <a:p>
            <a:endParaRPr lang="ja-JP" altLang="en-US"/>
          </a:p>
        </p:txBody>
      </p:sp>
      <p:sp>
        <p:nvSpPr>
          <p:cNvPr id="3" name="Text 1">
            <a:extLst>
              <a:ext uri="{FF2B5EF4-FFF2-40B4-BE49-F238E27FC236}">
                <a16:creationId xmlns:a16="http://schemas.microsoft.com/office/drawing/2014/main" id="{5FFA651B-1293-C764-3A48-F24B9BA79EBB}"/>
              </a:ext>
            </a:extLst>
          </p:cNvPr>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a:t>
            </a:r>
            <a:endParaRPr lang="en-US" sz="1400" dirty="0"/>
          </a:p>
        </p:txBody>
      </p:sp>
      <p:sp>
        <p:nvSpPr>
          <p:cNvPr id="4" name="Text 2">
            <a:extLst>
              <a:ext uri="{FF2B5EF4-FFF2-40B4-BE49-F238E27FC236}">
                <a16:creationId xmlns:a16="http://schemas.microsoft.com/office/drawing/2014/main" id="{761A74D7-A3CD-1CA5-73F5-2C1631CEE4B5}"/>
              </a:ext>
            </a:extLst>
          </p:cNvPr>
          <p:cNvSpPr/>
          <p:nvPr/>
        </p:nvSpPr>
        <p:spPr>
          <a:xfrm>
            <a:off x="640080" y="548640"/>
            <a:ext cx="8229600"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Example — Basic 2</a:t>
            </a:r>
            <a:endParaRPr lang="en-US" sz="3600" dirty="0"/>
          </a:p>
        </p:txBody>
      </p:sp>
      <p:sp>
        <p:nvSpPr>
          <p:cNvPr id="6" name="Rectangle 7">
            <a:extLst>
              <a:ext uri="{FF2B5EF4-FFF2-40B4-BE49-F238E27FC236}">
                <a16:creationId xmlns:a16="http://schemas.microsoft.com/office/drawing/2014/main" id="{56F762CC-40B1-8034-936E-B5C050FA1A47}"/>
              </a:ext>
            </a:extLst>
          </p:cNvPr>
          <p:cNvSpPr/>
          <p:nvPr/>
        </p:nvSpPr>
        <p:spPr>
          <a:xfrm>
            <a:off x="746607" y="1417319"/>
            <a:ext cx="6096000" cy="3629465"/>
          </a:xfrm>
          <a:prstGeom prst="rect">
            <a:avLst/>
          </a:prstGeom>
          <a:solidFill>
            <a:srgbClr val="FAFAFA"/>
          </a:solidFill>
          <a:ln w="1524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8">
            <a:extLst>
              <a:ext uri="{FF2B5EF4-FFF2-40B4-BE49-F238E27FC236}">
                <a16:creationId xmlns:a16="http://schemas.microsoft.com/office/drawing/2014/main" id="{AE1F4EA7-C2A3-5827-EE04-AA9E14CA8242}"/>
              </a:ext>
            </a:extLst>
          </p:cNvPr>
          <p:cNvSpPr/>
          <p:nvPr/>
        </p:nvSpPr>
        <p:spPr>
          <a:xfrm>
            <a:off x="746607" y="1417320"/>
            <a:ext cx="6096000" cy="133588"/>
          </a:xfrm>
          <a:prstGeom prst="rect">
            <a:avLst/>
          </a:prstGeom>
          <a:solidFill>
            <a:srgbClr val="467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9">
            <a:extLst>
              <a:ext uri="{FF2B5EF4-FFF2-40B4-BE49-F238E27FC236}">
                <a16:creationId xmlns:a16="http://schemas.microsoft.com/office/drawing/2014/main" id="{66C22738-B46D-BFD9-9CE7-C413187A3716}"/>
              </a:ext>
            </a:extLst>
          </p:cNvPr>
          <p:cNvSpPr txBox="1"/>
          <p:nvPr/>
        </p:nvSpPr>
        <p:spPr>
          <a:xfrm>
            <a:off x="975207" y="1600200"/>
            <a:ext cx="4663440" cy="320040"/>
          </a:xfrm>
          <a:prstGeom prst="rect">
            <a:avLst/>
          </a:prstGeom>
          <a:noFill/>
        </p:spPr>
        <p:txBody>
          <a:bodyPr wrap="none" lIns="0" tIns="0" rIns="0" bIns="0" anchor="t">
            <a:spAutoFit/>
          </a:bodyPr>
          <a:lstStyle/>
          <a:p>
            <a:pPr algn="l"/>
            <a:r>
              <a:rPr sz="2000" b="1">
                <a:solidFill>
                  <a:srgbClr val="46789B"/>
                </a:solidFill>
                <a:latin typeface="Hiragino Sans W7"/>
              </a:rPr>
              <a:t>Problem</a:t>
            </a:r>
          </a:p>
        </p:txBody>
      </p:sp>
      <p:sp>
        <p:nvSpPr>
          <p:cNvPr id="9" name="テキスト ボックス 8">
            <a:extLst>
              <a:ext uri="{FF2B5EF4-FFF2-40B4-BE49-F238E27FC236}">
                <a16:creationId xmlns:a16="http://schemas.microsoft.com/office/drawing/2014/main" id="{C03AAD00-DBBA-61BF-0B22-9D99EA3BF776}"/>
              </a:ext>
            </a:extLst>
          </p:cNvPr>
          <p:cNvSpPr txBox="1"/>
          <p:nvPr/>
        </p:nvSpPr>
        <p:spPr>
          <a:xfrm>
            <a:off x="975207" y="2144684"/>
            <a:ext cx="6096000" cy="2308324"/>
          </a:xfrm>
          <a:prstGeom prst="rect">
            <a:avLst/>
          </a:prstGeom>
          <a:noFill/>
        </p:spPr>
        <p:txBody>
          <a:bodyPr wrap="square">
            <a:spAutoFit/>
          </a:bodyPr>
          <a:lstStyle/>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Given constant acceleration </a:t>
            </a:r>
            <a:r>
              <a:rPr lang="en-US" altLang="ja-JP" sz="2400" i="1" dirty="0">
                <a:latin typeface="Helvetica Neue" panose="02000503000000020004" pitchFamily="2" charset="0"/>
                <a:ea typeface="Helvetica Neue" panose="02000503000000020004" pitchFamily="2" charset="0"/>
                <a:cs typeface="Helvetica Neue" panose="02000503000000020004" pitchFamily="2" charset="0"/>
              </a:rPr>
              <a:t>a</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 = 4 m/s</a:t>
            </a:r>
            <a:r>
              <a:rPr lang="en-US" altLang="ja-JP" sz="2400" baseline="30000" dirty="0">
                <a:latin typeface="Helvetica Neue" panose="02000503000000020004" pitchFamily="2" charset="0"/>
                <a:ea typeface="Helvetica Neue" panose="02000503000000020004" pitchFamily="2" charset="0"/>
                <a:cs typeface="Helvetica Neue" panose="02000503000000020004" pitchFamily="2" charset="0"/>
              </a:rPr>
              <a:t>2</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a:t>
            </a:r>
          </a:p>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initial conditions: v(0)=v</a:t>
            </a:r>
            <a:r>
              <a:rPr lang="en-US" altLang="ja-JP" sz="2400" baseline="-25000" dirty="0">
                <a:latin typeface="Helvetica Neue" panose="02000503000000020004" pitchFamily="2" charset="0"/>
                <a:ea typeface="Helvetica Neue" panose="02000503000000020004" pitchFamily="2" charset="0"/>
                <a:cs typeface="Helvetica Neue" panose="02000503000000020004" pitchFamily="2" charset="0"/>
              </a:rPr>
              <a:t>0</a:t>
            </a:r>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 x(0)=x</a:t>
            </a:r>
            <a:r>
              <a:rPr lang="en-US" altLang="ja-JP" sz="2400" baseline="-25000" dirty="0">
                <a:latin typeface="Helvetica Neue" panose="02000503000000020004" pitchFamily="2" charset="0"/>
                <a:ea typeface="Helvetica Neue" panose="02000503000000020004" pitchFamily="2" charset="0"/>
                <a:cs typeface="Helvetica Neue" panose="02000503000000020004" pitchFamily="2" charset="0"/>
              </a:rPr>
              <a:t>0</a:t>
            </a:r>
          </a:p>
          <a:p>
            <a:endParaRPr lang="en-US" altLang="ja-JP" sz="2400" dirty="0">
              <a:latin typeface="Helvetica Neue" panose="02000503000000020004" pitchFamily="2" charset="0"/>
              <a:ea typeface="Helvetica Neue" panose="02000503000000020004" pitchFamily="2" charset="0"/>
              <a:cs typeface="Helvetica Neue" panose="02000503000000020004" pitchFamily="2" charset="0"/>
            </a:endParaRPr>
          </a:p>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Find:</a:t>
            </a:r>
          </a:p>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v(t), x(t)</a:t>
            </a:r>
          </a:p>
          <a:p>
            <a:r>
              <a:rPr lang="en-US" altLang="ja-JP" sz="2400" dirty="0">
                <a:latin typeface="Helvetica Neue" panose="02000503000000020004" pitchFamily="2" charset="0"/>
                <a:ea typeface="Helvetica Neue" panose="02000503000000020004" pitchFamily="2" charset="0"/>
                <a:cs typeface="Helvetica Neue" panose="02000503000000020004" pitchFamily="2" charset="0"/>
              </a:rPr>
              <a:t>using integration.</a:t>
            </a:r>
          </a:p>
        </p:txBody>
      </p:sp>
      <p:sp>
        <p:nvSpPr>
          <p:cNvPr id="5" name="テキスト ボックス 4">
            <a:extLst>
              <a:ext uri="{FF2B5EF4-FFF2-40B4-BE49-F238E27FC236}">
                <a16:creationId xmlns:a16="http://schemas.microsoft.com/office/drawing/2014/main" id="{C40D5713-09DB-D26A-E08A-9624E2408153}"/>
              </a:ext>
            </a:extLst>
          </p:cNvPr>
          <p:cNvSpPr txBox="1"/>
          <p:nvPr/>
        </p:nvSpPr>
        <p:spPr>
          <a:xfrm>
            <a:off x="7299807" y="1920240"/>
            <a:ext cx="6096000" cy="4154984"/>
          </a:xfrm>
          <a:prstGeom prst="rect">
            <a:avLst/>
          </a:prstGeom>
          <a:noFill/>
        </p:spPr>
        <p:txBody>
          <a:bodyPr wrap="square">
            <a:spAutoFit/>
          </a:bodyPr>
          <a:lstStyle/>
          <a:p>
            <a:pPr>
              <a:buNone/>
            </a:pPr>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STEP 1</a:t>
            </a: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dv = </a:t>
            </a:r>
            <a:r>
              <a:rPr lang="en-US" altLang="ja-JP" sz="24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4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dt</a:t>
            </a: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v = </a:t>
            </a:r>
            <a:r>
              <a:rPr lang="en-US" altLang="ja-JP" sz="24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4</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t + C</a:t>
            </a: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v = v</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0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r>
              <a:rPr lang="en-US" altLang="ja-JP" sz="24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4</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t</a:t>
            </a:r>
          </a:p>
          <a:p>
            <a:endPar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STEP2</a:t>
            </a: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dx = </a:t>
            </a:r>
            <a:r>
              <a:rPr lang="en-US" altLang="ja-JP" sz="24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v</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0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r>
              <a:rPr lang="en-US" altLang="ja-JP" sz="24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4</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t</a:t>
            </a:r>
            <a:r>
              <a:rPr lang="en-US" altLang="ja-JP" sz="24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dt</a:t>
            </a:r>
            <a:endPar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x  =  v</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0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t + </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r>
              <a:rPr lang="en-US" altLang="ja-JP" sz="24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½ 4</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t</a:t>
            </a:r>
            <a:r>
              <a:rPr lang="en-US" altLang="ja-JP" sz="2400" i="1" baseline="30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2</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 C</a:t>
            </a:r>
          </a:p>
          <a:p>
            <a:r>
              <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x  = x</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0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v</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0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t + </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r>
              <a:rPr lang="en-US" altLang="ja-JP" sz="24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2</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t</a:t>
            </a:r>
            <a:r>
              <a:rPr lang="en-US" altLang="ja-JP" sz="2400" i="1" baseline="30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2</a:t>
            </a:r>
            <a:r>
              <a:rPr lang="en-US" altLang="ja-JP" sz="2400" baseline="-25000"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r>
              <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rPr>
              <a:t> </a:t>
            </a:r>
          </a:p>
          <a:p>
            <a:endParaRPr lang="en-US" altLang="ja-JP" sz="2400" i="1" dirty="0">
              <a:solidFill>
                <a:srgbClr val="46789B"/>
              </a:solidFill>
              <a:latin typeface="Times New Roman" panose="02020603050405020304" pitchFamily="18" charset="0"/>
              <a:ea typeface="Helvetica Neue" panose="02000503000000020004" pitchFamily="2" charset="0"/>
              <a:cs typeface="Times New Roman" panose="02020603050405020304" pitchFamily="18" charset="0"/>
            </a:endParaRPr>
          </a:p>
          <a:p>
            <a:endParaRPr lang="en-US" altLang="ja-JP" sz="2400" dirty="0">
              <a:solidFill>
                <a:srgbClr val="46789B"/>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Text 3">
            <a:extLst>
              <a:ext uri="{FF2B5EF4-FFF2-40B4-BE49-F238E27FC236}">
                <a16:creationId xmlns:a16="http://schemas.microsoft.com/office/drawing/2014/main" id="{3C80B3C8-D5EA-7C7E-68DE-0924FC1CC806}"/>
              </a:ext>
            </a:extLst>
          </p:cNvPr>
          <p:cNvSpPr/>
          <p:nvPr/>
        </p:nvSpPr>
        <p:spPr>
          <a:xfrm>
            <a:off x="7666891" y="5160823"/>
            <a:ext cx="5852007" cy="1737361"/>
          </a:xfrm>
          <a:prstGeom prst="rect">
            <a:avLst/>
          </a:prstGeom>
          <a:noFill/>
          <a:ln/>
        </p:spPr>
        <p:txBody>
          <a:bodyPr wrap="square" rtlCol="0" anchor="ctr"/>
          <a:lstStyle/>
          <a:p>
            <a:pPr>
              <a:buSzPct val="100000"/>
            </a:pPr>
            <a:r>
              <a:rPr lang="en-US" sz="2400" dirty="0">
                <a:solidFill>
                  <a:srgbClr val="B9BA99"/>
                </a:solidFill>
                <a:latin typeface="Helvetica Neue" pitchFamily="34" charset="0"/>
                <a:ea typeface="Helvetica Neue" pitchFamily="34" charset="-122"/>
                <a:cs typeface="Helvetica Neue" pitchFamily="34" charset="-120"/>
              </a:rPr>
              <a:t>You just re-derived! </a:t>
            </a:r>
          </a:p>
          <a:p>
            <a:pPr>
              <a:buSzPct val="100000"/>
            </a:pPr>
            <a:r>
              <a:rPr lang="en-US" sz="2400" dirty="0">
                <a:solidFill>
                  <a:srgbClr val="B9BA99"/>
                </a:solidFill>
                <a:latin typeface="Helvetica Neue" pitchFamily="34" charset="0"/>
                <a:ea typeface="Helvetica Neue" pitchFamily="34" charset="-122"/>
                <a:cs typeface="Helvetica Neue" pitchFamily="34" charset="-120"/>
              </a:rPr>
              <a:t>— no memorization needed</a:t>
            </a:r>
            <a:endParaRPr lang="en-US" sz="2400" dirty="0">
              <a:solidFill>
                <a:srgbClr val="B9BA99"/>
              </a:solidFill>
            </a:endParaRPr>
          </a:p>
        </p:txBody>
      </p:sp>
      <p:pic>
        <p:nvPicPr>
          <p:cNvPr id="13" name="Class Voice (10)">
            <a:hlinkClick r:id="" action="ppaction://media"/>
            <a:extLst>
              <a:ext uri="{FF2B5EF4-FFF2-40B4-BE49-F238E27FC236}">
                <a16:creationId xmlns:a16="http://schemas.microsoft.com/office/drawing/2014/main" id="{F63B3FCC-F1A5-4902-C848-869AE4522B0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32840" y="105508"/>
            <a:ext cx="812800" cy="812800"/>
          </a:xfrm>
          <a:prstGeom prst="rect">
            <a:avLst/>
          </a:prstGeom>
        </p:spPr>
      </p:pic>
    </p:spTree>
    <p:extLst>
      <p:ext uri="{BB962C8B-B14F-4D97-AF65-F5344CB8AC3E}">
        <p14:creationId xmlns:p14="http://schemas.microsoft.com/office/powerpoint/2010/main" val="34282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78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457200"/>
          </a:xfrm>
          <a:prstGeom prst="rect">
            <a:avLst/>
          </a:prstGeom>
          <a:solidFill>
            <a:srgbClr val="DFDFB6"/>
          </a:solidFill>
          <a:ln/>
        </p:spPr>
        <p:txBody>
          <a:bodyPr/>
          <a:lstStyle/>
          <a:p>
            <a:endParaRPr lang="ja-JP" altLang="en-US"/>
          </a:p>
        </p:txBody>
      </p:sp>
      <p:sp>
        <p:nvSpPr>
          <p:cNvPr id="3" name="Text 1"/>
          <p:cNvSpPr/>
          <p:nvPr/>
        </p:nvSpPr>
        <p:spPr>
          <a:xfrm>
            <a:off x="640080" y="182880"/>
            <a:ext cx="3657600" cy="274320"/>
          </a:xfrm>
          <a:prstGeom prst="rect">
            <a:avLst/>
          </a:prstGeom>
          <a:noFill/>
          <a:ln/>
        </p:spPr>
        <p:txBody>
          <a:bodyPr wrap="square" rtlCol="0" anchor="ctr"/>
          <a:lstStyle/>
          <a:p>
            <a:pPr marL="0" indent="0">
              <a:buNone/>
            </a:pPr>
            <a:r>
              <a:rPr lang="en-US" sz="1400" dirty="0">
                <a:solidFill>
                  <a:srgbClr val="46789B"/>
                </a:solidFill>
                <a:latin typeface="Helvetica Neue" pitchFamily="34" charset="0"/>
                <a:ea typeface="Helvetica Neue" pitchFamily="34" charset="-122"/>
                <a:cs typeface="Helvetica Neue" pitchFamily="34" charset="-120"/>
              </a:rPr>
              <a:t>Lecture 1</a:t>
            </a:r>
            <a:endParaRPr lang="en-US" sz="1400" dirty="0"/>
          </a:p>
        </p:txBody>
      </p:sp>
      <p:sp>
        <p:nvSpPr>
          <p:cNvPr id="4" name="Text 2"/>
          <p:cNvSpPr/>
          <p:nvPr/>
        </p:nvSpPr>
        <p:spPr>
          <a:xfrm>
            <a:off x="640080" y="548640"/>
            <a:ext cx="8229600" cy="548640"/>
          </a:xfrm>
          <a:prstGeom prst="rect">
            <a:avLst/>
          </a:prstGeom>
          <a:noFill/>
          <a:ln/>
        </p:spPr>
        <p:txBody>
          <a:bodyPr wrap="square" rtlCol="0" anchor="ctr"/>
          <a:lstStyle/>
          <a:p>
            <a:pPr marL="0" indent="0">
              <a:buNone/>
            </a:pPr>
            <a:r>
              <a:rPr lang="en-US" sz="3600" b="1" dirty="0">
                <a:solidFill>
                  <a:srgbClr val="46789B"/>
                </a:solidFill>
                <a:latin typeface="Helvetica Neue" pitchFamily="34" charset="0"/>
                <a:ea typeface="Helvetica Neue" pitchFamily="34" charset="-122"/>
                <a:cs typeface="Helvetica Neue" pitchFamily="34" charset="-120"/>
              </a:rPr>
              <a:t>Key takeaway</a:t>
            </a:r>
            <a:endParaRPr lang="en-US" sz="3600" dirty="0"/>
          </a:p>
        </p:txBody>
      </p:sp>
      <p:sp>
        <p:nvSpPr>
          <p:cNvPr id="5" name="Text 3"/>
          <p:cNvSpPr/>
          <p:nvPr/>
        </p:nvSpPr>
        <p:spPr>
          <a:xfrm>
            <a:off x="1371600" y="2011680"/>
            <a:ext cx="9144000" cy="1371600"/>
          </a:xfrm>
          <a:prstGeom prst="rect">
            <a:avLst/>
          </a:prstGeom>
          <a:noFill/>
          <a:ln/>
        </p:spPr>
        <p:txBody>
          <a:bodyPr wrap="square" rtlCol="0" anchor="ctr"/>
          <a:lstStyle/>
          <a:p>
            <a:pPr marL="0" indent="0" algn="ctr">
              <a:buNone/>
            </a:pPr>
            <a:r>
              <a:rPr lang="en-US" sz="3600" b="1" dirty="0">
                <a:solidFill>
                  <a:srgbClr val="464646"/>
                </a:solidFill>
                <a:latin typeface="Helvetica Neue" pitchFamily="34" charset="0"/>
                <a:ea typeface="Helvetica Neue" pitchFamily="34" charset="-122"/>
                <a:cs typeface="Helvetica Neue" pitchFamily="34" charset="-120"/>
              </a:rPr>
              <a:t>Check “a” first.</a:t>
            </a:r>
            <a:endParaRPr lang="en-US" sz="3600" dirty="0"/>
          </a:p>
          <a:p>
            <a:pPr marL="0" indent="0" algn="ctr">
              <a:buNone/>
            </a:pPr>
            <a:r>
              <a:rPr lang="en-US" sz="3600" b="1" dirty="0">
                <a:solidFill>
                  <a:srgbClr val="464646"/>
                </a:solidFill>
                <a:latin typeface="Helvetica Neue" pitchFamily="34" charset="0"/>
                <a:ea typeface="Helvetica Neue" pitchFamily="34" charset="-122"/>
                <a:cs typeface="Helvetica Neue" pitchFamily="34" charset="-120"/>
              </a:rPr>
              <a:t>If it varies → differentiate.</a:t>
            </a:r>
            <a:endParaRPr lang="en-US" sz="3600" dirty="0"/>
          </a:p>
          <a:p>
            <a:pPr marL="0" indent="0" algn="ctr">
              <a:buNone/>
            </a:pPr>
            <a:r>
              <a:rPr lang="en-US" sz="3600" b="1" dirty="0">
                <a:solidFill>
                  <a:srgbClr val="464646"/>
                </a:solidFill>
                <a:latin typeface="Helvetica Neue" pitchFamily="34" charset="0"/>
                <a:ea typeface="Helvetica Neue" pitchFamily="34" charset="-122"/>
                <a:cs typeface="Helvetica Neue" pitchFamily="34" charset="-120"/>
              </a:rPr>
              <a:t>If constant → formulas OK.</a:t>
            </a:r>
            <a:endParaRPr lang="en-US" sz="3600" dirty="0"/>
          </a:p>
        </p:txBody>
      </p:sp>
      <p:pic>
        <p:nvPicPr>
          <p:cNvPr id="6" name="Class Voice (11)">
            <a:hlinkClick r:id="" action="ppaction://media"/>
            <a:extLst>
              <a:ext uri="{FF2B5EF4-FFF2-40B4-BE49-F238E27FC236}">
                <a16:creationId xmlns:a16="http://schemas.microsoft.com/office/drawing/2014/main" id="{1D8687C0-2FA5-47C6-C4F5-8A9EF883A7B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99160" y="5080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46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8785</TotalTime>
  <Words>1118</Words>
  <Application>Microsoft Macintosh PowerPoint</Application>
  <PresentationFormat>ワイド画面</PresentationFormat>
  <Paragraphs>134</Paragraphs>
  <Slides>9</Slides>
  <Notes>9</Notes>
  <HiddenSlides>0</HiddenSlides>
  <MMClips>9</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9</vt:i4>
      </vt:variant>
    </vt:vector>
  </HeadingPairs>
  <TitlesOfParts>
    <vt:vector size="16" baseType="lpstr">
      <vt:lpstr>Hiragino Sans W7</vt:lpstr>
      <vt:lpstr>Arial</vt:lpstr>
      <vt:lpstr>Cambria Math</vt:lpstr>
      <vt:lpstr>Helvetica</vt:lpstr>
      <vt:lpstr>Helvetica Neue</vt:lpstr>
      <vt:lpstr>Times New Roman</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鈴木　杏奈</cp:lastModifiedBy>
  <cp:revision>4</cp:revision>
  <dcterms:created xsi:type="dcterms:W3CDTF">2026-03-30T21:17:16Z</dcterms:created>
  <dcterms:modified xsi:type="dcterms:W3CDTF">2026-04-08T02:56:18Z</dcterms:modified>
</cp:coreProperties>
</file>